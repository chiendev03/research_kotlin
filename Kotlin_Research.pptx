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4" r:id="rId41"/>
    <p:sldId id="293" r:id="rId42"/>
    <p:sldId id="295" r:id="rId43"/>
    <p:sldId id="296" r:id="rId44"/>
    <p:sldId id="297" r:id="rId45"/>
    <p:sldId id="298" r:id="rId46"/>
    <p:sldId id="299" r:id="rId47"/>
    <p:sldId id="301" r:id="rId48"/>
    <p:sldId id="302" r:id="rId49"/>
    <p:sldId id="304" r:id="rId50"/>
    <p:sldId id="305" r:id="rId51"/>
    <p:sldId id="306" r:id="rId52"/>
    <p:sldId id="307" r:id="rId53"/>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15.png"/><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image" Target="../media/image12.png"/><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18.png"/><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1772920" y="4635500"/>
            <a:ext cx="4206240" cy="4206240"/>
          </a:xfrm>
          <a:prstGeom prst="ellipse">
            <a:avLst/>
          </a:prstGeom>
          <a:solidFill>
            <a:srgbClr val="F5890B">
              <a:alpha val="18000"/>
            </a:srgbClr>
          </a:solidFill>
        </p:spPr>
      </p:sp>
      <p:sp>
        <p:nvSpPr>
          <p:cNvPr id="4" name="Shape 2"/>
          <p:cNvSpPr/>
          <p:nvPr/>
        </p:nvSpPr>
        <p:spPr>
          <a:xfrm>
            <a:off x="548640" y="685800"/>
            <a:ext cx="566928" cy="566928"/>
          </a:xfrm>
          <a:prstGeom prst="ellipse">
            <a:avLst/>
          </a:prstGeom>
          <a:solidFill>
            <a:srgbClr val="F5890B"/>
          </a:solidFill>
        </p:spPr>
      </p:sp>
      <p:pic>
        <p:nvPicPr>
          <p:cNvPr id="5" name="Image 0" descr="/home/claude/kotlin_slides/icons/code.png"/>
          <p:cNvPicPr>
            <a:picLocks noChangeAspect="1"/>
          </p:cNvPicPr>
          <p:nvPr/>
        </p:nvPicPr>
        <p:blipFill>
          <a:blip r:embed="rId1"/>
          <a:stretch>
            <a:fillRect/>
          </a:stretch>
        </p:blipFill>
        <p:spPr>
          <a:xfrm>
            <a:off x="676199" y="813359"/>
            <a:ext cx="311810" cy="311810"/>
          </a:xfrm>
          <a:prstGeom prst="rect">
            <a:avLst/>
          </a:prstGeom>
        </p:spPr>
      </p:pic>
      <p:sp>
        <p:nvSpPr>
          <p:cNvPr id="6" name="Text 3"/>
          <p:cNvSpPr/>
          <p:nvPr/>
        </p:nvSpPr>
        <p:spPr>
          <a:xfrm>
            <a:off x="1280160" y="685800"/>
            <a:ext cx="7315200" cy="566928"/>
          </a:xfrm>
          <a:prstGeom prst="rect">
            <a:avLst/>
          </a:prstGeom>
          <a:noFill/>
        </p:spPr>
        <p:txBody>
          <a:bodyPr wrap="square" lIns="0" tIns="0" rIns="0" bIns="0" rtlCol="0" anchor="ctr"/>
          <a:lstStyle/>
          <a:p>
            <a:pPr marL="0" indent="0">
              <a:buNone/>
            </a:pPr>
            <a:r>
              <a:rPr lang="en-US" sz="1300" b="1" kern="0" spc="200" dirty="0">
                <a:solidFill>
                  <a:srgbClr val="CADCFC"/>
                </a:solidFill>
                <a:latin typeface="Calibri" panose="020F0502020204030204" pitchFamily="34" charset="0"/>
                <a:ea typeface="Calibri" panose="020F0502020204030204" pitchFamily="34" charset="-122"/>
                <a:cs typeface="Calibri" panose="020F0502020204030204" pitchFamily="34" charset="-120"/>
              </a:rPr>
              <a:t>RESEARCH &amp; CODE DEMO</a:t>
            </a:r>
            <a:endParaRPr lang="en-US" sz="1300" dirty="0"/>
          </a:p>
        </p:txBody>
      </p:sp>
      <p:sp>
        <p:nvSpPr>
          <p:cNvPr id="7" name="Text 4"/>
          <p:cNvSpPr/>
          <p:nvPr/>
        </p:nvSpPr>
        <p:spPr>
          <a:xfrm>
            <a:off x="548640" y="2194560"/>
            <a:ext cx="10515600" cy="1371600"/>
          </a:xfrm>
          <a:prstGeom prst="rect">
            <a:avLst/>
          </a:prstGeom>
          <a:noFill/>
        </p:spPr>
        <p:txBody>
          <a:bodyPr wrap="square" lIns="0" tIns="0" rIns="0" bIns="0" rtlCol="0" anchor="ctr"/>
          <a:lstStyle/>
          <a:p>
            <a:pPr marL="0" indent="0">
              <a:buNone/>
            </a:pPr>
            <a:r>
              <a:rPr lang="en-US" sz="4600" b="1" dirty="0">
                <a:solidFill>
                  <a:srgbClr val="FFFFFF"/>
                </a:solidFill>
                <a:latin typeface="Calibri" panose="020F0502020204030204" pitchFamily="34" charset="0"/>
                <a:ea typeface="Calibri" panose="020F0502020204030204" pitchFamily="34" charset="-122"/>
                <a:cs typeface="Calibri" panose="020F0502020204030204" pitchFamily="34" charset="-120"/>
              </a:rPr>
              <a:t>Kotlin Fundamentals</a:t>
            </a:r>
            <a:endParaRPr lang="en-US" sz="4600" dirty="0"/>
          </a:p>
        </p:txBody>
      </p:sp>
      <p:sp>
        <p:nvSpPr>
          <p:cNvPr id="8" name="Text 5"/>
          <p:cNvSpPr/>
          <p:nvPr/>
        </p:nvSpPr>
        <p:spPr>
          <a:xfrm>
            <a:off x="548640" y="3420110"/>
            <a:ext cx="10607040" cy="640080"/>
          </a:xfrm>
          <a:prstGeom prst="rect">
            <a:avLst/>
          </a:prstGeom>
          <a:noFill/>
        </p:spPr>
        <p:txBody>
          <a:bodyPr wrap="square" lIns="0" tIns="0" rIns="0" bIns="0" rtlCol="0" anchor="ctr"/>
          <a:lstStyle/>
          <a:p>
            <a:pPr marL="0" indent="0">
              <a:buNone/>
            </a:pPr>
            <a:r>
              <a:rPr lang="en-US" sz="1700" dirty="0">
                <a:solidFill>
                  <a:srgbClr val="CADCFC"/>
                </a:solidFill>
                <a:latin typeface="Calibri" panose="020F0502020204030204" pitchFamily="34" charset="0"/>
                <a:ea typeface="Calibri" panose="020F0502020204030204" pitchFamily="34" charset="-122"/>
                <a:cs typeface="Calibri" panose="020F0502020204030204" pitchFamily="34" charset="-120"/>
              </a:rPr>
              <a:t>Từ basic  ➡ nâng cao — 28 chủ đề, kèm code demo thực tế</a:t>
            </a:r>
            <a:endParaRPr lang="en-US" sz="1700" dirty="0"/>
          </a:p>
        </p:txBody>
      </p:sp>
      <p:sp>
        <p:nvSpPr>
          <p:cNvPr id="9" name="Text 6"/>
          <p:cNvSpPr/>
          <p:nvPr/>
        </p:nvSpPr>
        <p:spPr>
          <a:xfrm>
            <a:off x="548640" y="5989320"/>
            <a:ext cx="10789920"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Kotlin 2.4.10</a:t>
            </a: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   ·   Nguồn demo: github.com/ChienDev03/research_kotlin (nhánh dev)</a:t>
            </a:r>
            <a:endParaRPr lang="en-US" sz="1250" dirty="0"/>
          </a:p>
        </p:txBody>
      </p:sp>
      <p:sp>
        <p:nvSpPr>
          <p:cNvPr id="10" name="Text 7"/>
          <p:cNvSpPr/>
          <p:nvPr/>
        </p:nvSpPr>
        <p:spPr>
          <a:xfrm>
            <a:off x="548640" y="6355080"/>
            <a:ext cx="10789920" cy="320040"/>
          </a:xfrm>
          <a:prstGeom prst="rect">
            <a:avLst/>
          </a:prstGeom>
          <a:noFill/>
        </p:spPr>
        <p:txBody>
          <a:bodyPr wrap="square" lIns="0" tIns="0" rIns="0" bIns="0" rtlCol="0" anchor="ctr"/>
          <a:lstStyle/>
          <a:p>
            <a:pPr marL="0" indent="0">
              <a:buNone/>
            </a:pPr>
            <a:r>
              <a:rPr lang="en-US" sz="1100" dirty="0">
                <a:solidFill>
                  <a:srgbClr val="9C93C2"/>
                </a:solidFill>
                <a:latin typeface="Calibri" panose="020F0502020204030204" pitchFamily="34" charset="0"/>
                <a:ea typeface="Calibri" panose="020F0502020204030204" pitchFamily="34" charset="-122"/>
                <a:cs typeface="Calibri" panose="020F0502020204030204" pitchFamily="34" charset="-120"/>
              </a:rPr>
              <a:t>CÔNG TY CÔNG NGHỆ PHẦN MỀM LUTECH  ·  Tháng 8, 2026</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PHẦN 1 · NỘI DUNG</a:t>
            </a:r>
            <a:endParaRPr lang="en-US" sz="1250" dirty="0"/>
          </a:p>
        </p:txBody>
      </p:sp>
      <p:sp>
        <p:nvSpPr>
          <p:cNvPr id="3" name="Text 1"/>
          <p:cNvSpPr/>
          <p:nvPr/>
        </p:nvSpPr>
        <p:spPr>
          <a:xfrm>
            <a:off x="548640" y="868680"/>
            <a:ext cx="10515600" cy="640080"/>
          </a:xfrm>
          <a:prstGeom prst="rect">
            <a:avLst/>
          </a:prstGeom>
          <a:noFill/>
        </p:spPr>
        <p:txBody>
          <a:bodyPr wrap="square" lIns="0" tIns="0" rIns="0" bIns="0" rtlCol="0" anchor="ctr"/>
          <a:lstStyle/>
          <a:p>
            <a:pPr marL="0" indent="0">
              <a:buNone/>
            </a:pPr>
            <a:r>
              <a:rPr lang="en-US" sz="3000" b="1" dirty="0">
                <a:solidFill>
                  <a:srgbClr val="241B3D"/>
                </a:solidFill>
                <a:latin typeface="Calibri" panose="020F0502020204030204" pitchFamily="34" charset="0"/>
                <a:ea typeface="Calibri" panose="020F0502020204030204" pitchFamily="34" charset="-122"/>
                <a:cs typeface="Calibri" panose="020F0502020204030204" pitchFamily="34" charset="-120"/>
              </a:rPr>
              <a:t>Kiến thức nền tảng — 6 chủ đề</a:t>
            </a:r>
            <a:endParaRPr lang="en-US" sz="3000" dirty="0"/>
          </a:p>
        </p:txBody>
      </p:sp>
      <p:sp>
        <p:nvSpPr>
          <p:cNvPr id="4" name="Shape 2"/>
          <p:cNvSpPr/>
          <p:nvPr/>
        </p:nvSpPr>
        <p:spPr>
          <a:xfrm>
            <a:off x="548640" y="1828800"/>
            <a:ext cx="5074920" cy="1280160"/>
          </a:xfrm>
          <a:prstGeom prst="roundRect">
            <a:avLst>
              <a:gd name="adj" fmla="val 7143"/>
            </a:avLst>
          </a:prstGeom>
          <a:solidFill>
            <a:srgbClr val="F4F1FC"/>
          </a:solidFill>
        </p:spPr>
      </p:sp>
      <p:sp>
        <p:nvSpPr>
          <p:cNvPr id="5" name="Shape 3"/>
          <p:cNvSpPr/>
          <p:nvPr/>
        </p:nvSpPr>
        <p:spPr>
          <a:xfrm>
            <a:off x="804672" y="2176272"/>
            <a:ext cx="585216" cy="585216"/>
          </a:xfrm>
          <a:prstGeom prst="ellipse">
            <a:avLst/>
          </a:prstGeom>
          <a:solidFill>
            <a:srgbClr val="2D1B69"/>
          </a:solidFill>
        </p:spPr>
      </p:sp>
      <p:pic>
        <p:nvPicPr>
          <p:cNvPr id="6" name="Image 0" descr="/home/claude/kotlin_slides/icons/key.png"/>
          <p:cNvPicPr>
            <a:picLocks noChangeAspect="1"/>
          </p:cNvPicPr>
          <p:nvPr/>
        </p:nvPicPr>
        <p:blipFill>
          <a:blip r:embed="rId1"/>
          <a:stretch>
            <a:fillRect/>
          </a:stretch>
        </p:blipFill>
        <p:spPr>
          <a:xfrm>
            <a:off x="950976" y="2322576"/>
            <a:ext cx="292608" cy="292608"/>
          </a:xfrm>
          <a:prstGeom prst="rect">
            <a:avLst/>
          </a:prstGeom>
        </p:spPr>
      </p:pic>
      <p:sp>
        <p:nvSpPr>
          <p:cNvPr id="7" name="Text 4"/>
          <p:cNvSpPr/>
          <p:nvPr/>
        </p:nvSpPr>
        <p:spPr>
          <a:xfrm>
            <a:off x="4754880" y="192024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01</a:t>
            </a:r>
            <a:endParaRPr lang="en-US" sz="2200" dirty="0"/>
          </a:p>
        </p:txBody>
      </p:sp>
      <p:sp>
        <p:nvSpPr>
          <p:cNvPr id="8" name="Text 5"/>
          <p:cNvSpPr/>
          <p:nvPr/>
        </p:nvSpPr>
        <p:spPr>
          <a:xfrm>
            <a:off x="1554480" y="19568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1600" dirty="0"/>
          </a:p>
        </p:txBody>
      </p:sp>
      <p:sp>
        <p:nvSpPr>
          <p:cNvPr id="9" name="Text 6"/>
          <p:cNvSpPr/>
          <p:nvPr/>
        </p:nvSpPr>
        <p:spPr>
          <a:xfrm>
            <a:off x="1554480" y="237744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val, var, const val, type inference</a:t>
            </a:r>
            <a:endParaRPr lang="en-US" sz="1200" dirty="0"/>
          </a:p>
        </p:txBody>
      </p:sp>
      <p:sp>
        <p:nvSpPr>
          <p:cNvPr id="10" name="Shape 7"/>
          <p:cNvSpPr/>
          <p:nvPr/>
        </p:nvSpPr>
        <p:spPr>
          <a:xfrm>
            <a:off x="6080760" y="1828800"/>
            <a:ext cx="5074920" cy="1280160"/>
          </a:xfrm>
          <a:prstGeom prst="roundRect">
            <a:avLst>
              <a:gd name="adj" fmla="val 7143"/>
            </a:avLst>
          </a:prstGeom>
          <a:solidFill>
            <a:srgbClr val="F4F1FC"/>
          </a:solidFill>
        </p:spPr>
      </p:sp>
      <p:sp>
        <p:nvSpPr>
          <p:cNvPr id="11" name="Shape 8"/>
          <p:cNvSpPr/>
          <p:nvPr/>
        </p:nvSpPr>
        <p:spPr>
          <a:xfrm>
            <a:off x="6336792" y="2176272"/>
            <a:ext cx="585216" cy="585216"/>
          </a:xfrm>
          <a:prstGeom prst="ellipse">
            <a:avLst/>
          </a:prstGeom>
          <a:solidFill>
            <a:srgbClr val="2D1B69"/>
          </a:solidFill>
        </p:spPr>
      </p:sp>
      <p:pic>
        <p:nvPicPr>
          <p:cNvPr id="12" name="Image 1" descr="/home/claude/kotlin_slides/icons/shuffle.png"/>
          <p:cNvPicPr>
            <a:picLocks noChangeAspect="1"/>
          </p:cNvPicPr>
          <p:nvPr/>
        </p:nvPicPr>
        <p:blipFill>
          <a:blip r:embed="rId2"/>
          <a:stretch>
            <a:fillRect/>
          </a:stretch>
        </p:blipFill>
        <p:spPr>
          <a:xfrm>
            <a:off x="6483096" y="2322576"/>
            <a:ext cx="292608" cy="292608"/>
          </a:xfrm>
          <a:prstGeom prst="rect">
            <a:avLst/>
          </a:prstGeom>
        </p:spPr>
      </p:pic>
      <p:sp>
        <p:nvSpPr>
          <p:cNvPr id="13" name="Text 9"/>
          <p:cNvSpPr/>
          <p:nvPr/>
        </p:nvSpPr>
        <p:spPr>
          <a:xfrm>
            <a:off x="10287000" y="192024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02</a:t>
            </a:r>
            <a:endParaRPr lang="en-US" sz="2200" dirty="0"/>
          </a:p>
        </p:txBody>
      </p:sp>
      <p:sp>
        <p:nvSpPr>
          <p:cNvPr id="14" name="Text 10"/>
          <p:cNvSpPr/>
          <p:nvPr/>
        </p:nvSpPr>
        <p:spPr>
          <a:xfrm>
            <a:off x="7086600" y="19568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Conditionals</a:t>
            </a:r>
            <a:endParaRPr lang="en-US" sz="1600" dirty="0"/>
          </a:p>
        </p:txBody>
      </p:sp>
      <p:sp>
        <p:nvSpPr>
          <p:cNvPr id="15" name="Text 11"/>
          <p:cNvSpPr/>
          <p:nvPr/>
        </p:nvSpPr>
        <p:spPr>
          <a:xfrm>
            <a:off x="7086600" y="237744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if-else và when (switch-case)</a:t>
            </a:r>
            <a:endParaRPr lang="en-US" sz="1200" dirty="0"/>
          </a:p>
        </p:txBody>
      </p:sp>
      <p:sp>
        <p:nvSpPr>
          <p:cNvPr id="16" name="Shape 12"/>
          <p:cNvSpPr/>
          <p:nvPr/>
        </p:nvSpPr>
        <p:spPr>
          <a:xfrm>
            <a:off x="548640" y="3383280"/>
            <a:ext cx="5074920" cy="1280160"/>
          </a:xfrm>
          <a:prstGeom prst="roundRect">
            <a:avLst>
              <a:gd name="adj" fmla="val 7143"/>
            </a:avLst>
          </a:prstGeom>
          <a:solidFill>
            <a:srgbClr val="F4F1FC"/>
          </a:solidFill>
        </p:spPr>
      </p:sp>
      <p:sp>
        <p:nvSpPr>
          <p:cNvPr id="17" name="Shape 13"/>
          <p:cNvSpPr/>
          <p:nvPr/>
        </p:nvSpPr>
        <p:spPr>
          <a:xfrm>
            <a:off x="804672" y="3730752"/>
            <a:ext cx="585216" cy="585216"/>
          </a:xfrm>
          <a:prstGeom prst="ellipse">
            <a:avLst/>
          </a:prstGeom>
          <a:solidFill>
            <a:srgbClr val="2D1B69"/>
          </a:solidFill>
        </p:spPr>
      </p:sp>
      <p:pic>
        <p:nvPicPr>
          <p:cNvPr id="18" name="Image 2" descr="/home/claude/kotlin_slides/icons/layers.png"/>
          <p:cNvPicPr>
            <a:picLocks noChangeAspect="1"/>
          </p:cNvPicPr>
          <p:nvPr/>
        </p:nvPicPr>
        <p:blipFill>
          <a:blip r:embed="rId3"/>
          <a:stretch>
            <a:fillRect/>
          </a:stretch>
        </p:blipFill>
        <p:spPr>
          <a:xfrm>
            <a:off x="950976" y="3877056"/>
            <a:ext cx="292608" cy="292608"/>
          </a:xfrm>
          <a:prstGeom prst="rect">
            <a:avLst/>
          </a:prstGeom>
        </p:spPr>
      </p:pic>
      <p:sp>
        <p:nvSpPr>
          <p:cNvPr id="19" name="Text 14"/>
          <p:cNvSpPr/>
          <p:nvPr/>
        </p:nvSpPr>
        <p:spPr>
          <a:xfrm>
            <a:off x="4754880" y="347472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03</a:t>
            </a:r>
            <a:endParaRPr lang="en-US" sz="2200" dirty="0"/>
          </a:p>
        </p:txBody>
      </p:sp>
      <p:sp>
        <p:nvSpPr>
          <p:cNvPr id="20" name="Text 15"/>
          <p:cNvSpPr/>
          <p:nvPr/>
        </p:nvSpPr>
        <p:spPr>
          <a:xfrm>
            <a:off x="1554480" y="35112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Collections</a:t>
            </a:r>
            <a:endParaRPr lang="en-US" sz="1600" dirty="0"/>
          </a:p>
        </p:txBody>
      </p:sp>
      <p:sp>
        <p:nvSpPr>
          <p:cNvPr id="21" name="Text 16"/>
          <p:cNvSpPr/>
          <p:nvPr/>
        </p:nvSpPr>
        <p:spPr>
          <a:xfrm>
            <a:off x="1554480" y="393192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List, Set, Map — mutable &amp; immutable</a:t>
            </a:r>
            <a:endParaRPr lang="en-US" sz="1200" dirty="0"/>
          </a:p>
        </p:txBody>
      </p:sp>
      <p:sp>
        <p:nvSpPr>
          <p:cNvPr id="22" name="Shape 17"/>
          <p:cNvSpPr/>
          <p:nvPr/>
        </p:nvSpPr>
        <p:spPr>
          <a:xfrm>
            <a:off x="6080760" y="3383280"/>
            <a:ext cx="5074920" cy="1280160"/>
          </a:xfrm>
          <a:prstGeom prst="roundRect">
            <a:avLst>
              <a:gd name="adj" fmla="val 7143"/>
            </a:avLst>
          </a:prstGeom>
          <a:solidFill>
            <a:srgbClr val="F4F1FC"/>
          </a:solidFill>
        </p:spPr>
      </p:sp>
      <p:sp>
        <p:nvSpPr>
          <p:cNvPr id="23" name="Shape 18"/>
          <p:cNvSpPr/>
          <p:nvPr/>
        </p:nvSpPr>
        <p:spPr>
          <a:xfrm>
            <a:off x="6336792" y="3730752"/>
            <a:ext cx="585216" cy="585216"/>
          </a:xfrm>
          <a:prstGeom prst="ellipse">
            <a:avLst/>
          </a:prstGeom>
          <a:solidFill>
            <a:srgbClr val="2D1B69"/>
          </a:solidFill>
        </p:spPr>
      </p:sp>
      <p:pic>
        <p:nvPicPr>
          <p:cNvPr id="24" name="Image 3" descr="/home/claude/kotlin_slides/icons/box.png"/>
          <p:cNvPicPr>
            <a:picLocks noChangeAspect="1"/>
          </p:cNvPicPr>
          <p:nvPr/>
        </p:nvPicPr>
        <p:blipFill>
          <a:blip r:embed="rId4"/>
          <a:stretch>
            <a:fillRect/>
          </a:stretch>
        </p:blipFill>
        <p:spPr>
          <a:xfrm>
            <a:off x="6483096" y="3877056"/>
            <a:ext cx="292608" cy="292608"/>
          </a:xfrm>
          <a:prstGeom prst="rect">
            <a:avLst/>
          </a:prstGeom>
        </p:spPr>
      </p:pic>
      <p:sp>
        <p:nvSpPr>
          <p:cNvPr id="25" name="Text 19"/>
          <p:cNvSpPr/>
          <p:nvPr/>
        </p:nvSpPr>
        <p:spPr>
          <a:xfrm>
            <a:off x="10287000" y="347472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04</a:t>
            </a:r>
            <a:endParaRPr lang="en-US" sz="2200" dirty="0"/>
          </a:p>
        </p:txBody>
      </p:sp>
      <p:sp>
        <p:nvSpPr>
          <p:cNvPr id="26" name="Text 20"/>
          <p:cNvSpPr/>
          <p:nvPr/>
        </p:nvSpPr>
        <p:spPr>
          <a:xfrm>
            <a:off x="7086600" y="35112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Class</a:t>
            </a:r>
            <a:endParaRPr lang="en-US" sz="1600" dirty="0"/>
          </a:p>
        </p:txBody>
      </p:sp>
      <p:sp>
        <p:nvSpPr>
          <p:cNvPr id="27" name="Text 21"/>
          <p:cNvSpPr/>
          <p:nvPr/>
        </p:nvSpPr>
        <p:spPr>
          <a:xfrm>
            <a:off x="7086600" y="393192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Constructor, init, kế thừa (open/override)</a:t>
            </a:r>
            <a:endParaRPr lang="en-US" sz="1200" dirty="0"/>
          </a:p>
        </p:txBody>
      </p:sp>
      <p:sp>
        <p:nvSpPr>
          <p:cNvPr id="28" name="Shape 22"/>
          <p:cNvSpPr/>
          <p:nvPr/>
        </p:nvSpPr>
        <p:spPr>
          <a:xfrm>
            <a:off x="548640" y="4937760"/>
            <a:ext cx="5074920" cy="1280160"/>
          </a:xfrm>
          <a:prstGeom prst="roundRect">
            <a:avLst>
              <a:gd name="adj" fmla="val 7143"/>
            </a:avLst>
          </a:prstGeom>
          <a:solidFill>
            <a:srgbClr val="F4F1FC"/>
          </a:solidFill>
        </p:spPr>
      </p:sp>
      <p:sp>
        <p:nvSpPr>
          <p:cNvPr id="29" name="Shape 23"/>
          <p:cNvSpPr/>
          <p:nvPr/>
        </p:nvSpPr>
        <p:spPr>
          <a:xfrm>
            <a:off x="804672" y="5285232"/>
            <a:ext cx="585216" cy="585216"/>
          </a:xfrm>
          <a:prstGeom prst="ellipse">
            <a:avLst/>
          </a:prstGeom>
          <a:solidFill>
            <a:srgbClr val="2D1B69"/>
          </a:solidFill>
        </p:spPr>
      </p:sp>
      <p:pic>
        <p:nvPicPr>
          <p:cNvPr id="30" name="Image 4" descr="/home/claude/kotlin_slides/icons/copy.png"/>
          <p:cNvPicPr>
            <a:picLocks noChangeAspect="1"/>
          </p:cNvPicPr>
          <p:nvPr/>
        </p:nvPicPr>
        <p:blipFill>
          <a:blip r:embed="rId5"/>
          <a:stretch>
            <a:fillRect/>
          </a:stretch>
        </p:blipFill>
        <p:spPr>
          <a:xfrm>
            <a:off x="950976" y="5431536"/>
            <a:ext cx="292608" cy="292608"/>
          </a:xfrm>
          <a:prstGeom prst="rect">
            <a:avLst/>
          </a:prstGeom>
        </p:spPr>
      </p:pic>
      <p:sp>
        <p:nvSpPr>
          <p:cNvPr id="31" name="Text 24"/>
          <p:cNvSpPr/>
          <p:nvPr/>
        </p:nvSpPr>
        <p:spPr>
          <a:xfrm>
            <a:off x="4754880" y="502920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05</a:t>
            </a:r>
            <a:endParaRPr lang="en-US" sz="2200" dirty="0"/>
          </a:p>
        </p:txBody>
      </p:sp>
      <p:sp>
        <p:nvSpPr>
          <p:cNvPr id="32" name="Text 25"/>
          <p:cNvSpPr/>
          <p:nvPr/>
        </p:nvSpPr>
        <p:spPr>
          <a:xfrm>
            <a:off x="1554480" y="506577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a:t>
            </a:r>
            <a:endParaRPr lang="en-US" sz="1600" dirty="0"/>
          </a:p>
        </p:txBody>
      </p:sp>
      <p:sp>
        <p:nvSpPr>
          <p:cNvPr id="33" name="Text 26"/>
          <p:cNvSpPr/>
          <p:nvPr/>
        </p:nvSpPr>
        <p:spPr>
          <a:xfrm>
            <a:off x="1554480" y="548640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equals/hashCode/toString/copy tự sinh</a:t>
            </a:r>
            <a:endParaRPr lang="en-US" sz="1200" dirty="0"/>
          </a:p>
        </p:txBody>
      </p:sp>
      <p:sp>
        <p:nvSpPr>
          <p:cNvPr id="34" name="Shape 27"/>
          <p:cNvSpPr/>
          <p:nvPr/>
        </p:nvSpPr>
        <p:spPr>
          <a:xfrm>
            <a:off x="6080760" y="4937760"/>
            <a:ext cx="5074920" cy="1280160"/>
          </a:xfrm>
          <a:prstGeom prst="roundRect">
            <a:avLst>
              <a:gd name="adj" fmla="val 7143"/>
            </a:avLst>
          </a:prstGeom>
          <a:solidFill>
            <a:srgbClr val="F4F1FC"/>
          </a:solidFill>
        </p:spPr>
      </p:sp>
      <p:sp>
        <p:nvSpPr>
          <p:cNvPr id="35" name="Shape 28"/>
          <p:cNvSpPr/>
          <p:nvPr/>
        </p:nvSpPr>
        <p:spPr>
          <a:xfrm>
            <a:off x="6336792" y="5285232"/>
            <a:ext cx="585216" cy="585216"/>
          </a:xfrm>
          <a:prstGeom prst="ellipse">
            <a:avLst/>
          </a:prstGeom>
          <a:solidFill>
            <a:srgbClr val="2D1B69"/>
          </a:solidFill>
        </p:spPr>
      </p:sp>
      <p:pic>
        <p:nvPicPr>
          <p:cNvPr id="36" name="Image 5" descr="/home/claude/kotlin_slides/icons/tag.png"/>
          <p:cNvPicPr>
            <a:picLocks noChangeAspect="1"/>
          </p:cNvPicPr>
          <p:nvPr/>
        </p:nvPicPr>
        <p:blipFill>
          <a:blip r:embed="rId6"/>
          <a:stretch>
            <a:fillRect/>
          </a:stretch>
        </p:blipFill>
        <p:spPr>
          <a:xfrm>
            <a:off x="6483096" y="5431536"/>
            <a:ext cx="292608" cy="292608"/>
          </a:xfrm>
          <a:prstGeom prst="rect">
            <a:avLst/>
          </a:prstGeom>
        </p:spPr>
      </p:pic>
      <p:sp>
        <p:nvSpPr>
          <p:cNvPr id="37" name="Text 29"/>
          <p:cNvSpPr/>
          <p:nvPr/>
        </p:nvSpPr>
        <p:spPr>
          <a:xfrm>
            <a:off x="10287000" y="502920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06</a:t>
            </a:r>
            <a:endParaRPr lang="en-US" sz="2200" dirty="0"/>
          </a:p>
        </p:txBody>
      </p:sp>
      <p:sp>
        <p:nvSpPr>
          <p:cNvPr id="38" name="Text 30"/>
          <p:cNvSpPr/>
          <p:nvPr/>
        </p:nvSpPr>
        <p:spPr>
          <a:xfrm>
            <a:off x="7086600" y="506577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a:t>
            </a:r>
            <a:endParaRPr lang="en-US" sz="1600" dirty="0"/>
          </a:p>
        </p:txBody>
      </p:sp>
      <p:sp>
        <p:nvSpPr>
          <p:cNvPr id="39" name="Text 31"/>
          <p:cNvSpPr/>
          <p:nvPr/>
        </p:nvSpPr>
        <p:spPr>
          <a:xfrm>
            <a:off x="7086600" y="548640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Tập giá trị hữu hạn, an toàn kiểu</a:t>
            </a:r>
            <a:endParaRPr lang="en-US" sz="1200" dirty="0"/>
          </a:p>
        </p:txBody>
      </p:sp>
      <p:sp>
        <p:nvSpPr>
          <p:cNvPr id="40" name="Text 3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41" name="Text 3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01</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key.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Cách khai báo và quản lý dữ liệu trong Kotlin: val, var, const val.</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01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Khai báo dữ liệu với val / var — ưu tiên bất biến khi có thể.</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lock.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val — bất biến (immutable)</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Gán giá trị một lần duy nhất, không thể gán lại. Nên ưu tiên val để code an toàn và dễ suy luận hơn.</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edit.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var — khả biến (mutable)</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Cho phép gán lại giá trị khi dữ liệu thực sự cần thay đổi theo thời gian, ví dụ bộ đếm hay trạng thái tiến độ.</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star.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const val — hằng số biên dịch</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Giá trị cố định tại compile-time, chỉ dùng cho kiểu nguyên thủy/String; khai báo ở top-level hoặc trong companion object.</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zap.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Type inference — suy luận kiểu</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tự suy ra kiểu dữ liệu từ giá trị khởi tạo (val name = "Kotlin" ⇒ String), vẫn có thể khai báo tường minh khi cần.</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01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App.kt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45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const</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MAX_TITLE_LENGTH</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50</a:t>
            </a:r>
            <a:endParaRPr lang="en-US" sz="1450" dirty="0"/>
          </a:p>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const</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COMPLETED_STATUS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"Completed"</a:t>
            </a:r>
            <a:endParaRPr lang="en-US" sz="1450" dirty="0"/>
          </a:p>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val: chỉ gán một lần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projectName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 Research"</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var: có thể gán lại khi giá trị thực sự thay đổi</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completedTasks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totalTasks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5</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completedTasks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"Project: $projectName"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"Completed tasks: $completedTasks/$totalTasks"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Trích từ App.kt trong repo — rút gọn phần Variables &amp; Constants (bỏ phần when/loop thuộc chủ đề khác).</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02</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shuffle.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Conditionals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Rẽ nhánh logic với if-else và thay thế switch-case bằng when.</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02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Conditionals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if-else và when — cả hai đều có thể dùng như expression trong Kotlin.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shuffle.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if-else là expression</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Không chỉ là câu lệnh rẽ nhánh — if-else có thể trả về giá trị và gán thẳng vào một biến.</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grid.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when thay thế switch-case</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Cú pháp gọn hơn switch-case của Java/C, không cần break cho từng nhánh, dễ đọc hơn khi có nhiều điều kiện.</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target.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khớp linh hoạt</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when hỗ trợ so khớp theo range (in 1..17), danh sách giá trị, hoặc kiểu dữ liệu (is Type) mà không cần toán tử so sánh tường minh.</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zap.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when cũng là expression</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Giống if, when có thể trả về giá trị; khi dùng như expression cần bao phủ hết trường hợp (else, hoặc đủ case của enum/sealed class).</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02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Conditionals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Conditionals.kt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45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if - else: có thể làm phương thức trả về giá trị</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(1..100).</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 == 0)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"number = $randomNumber =&gt; số này chẵn"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"number = $randomNumber =&gt; số này lẻ"</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when &lt;=&gt; switch case</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when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1..17 -&gt;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"người chưa đủ tuổi"</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18..65 -&gt;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"người trưởng thành"</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"người cao tuổi"</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Conditionals.kt — github.com/ChienDev03/research_kotlin</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03</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layers.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Collections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Ba cấu trúc dữ liệu nền tảng: List, Set và Map — mutable &amp; immutable.</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03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Collections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List, Set, Map — chọn đúng cấu trúc cho đúng bài toán.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list.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List — danh sách có thứ tự</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Cho phép trùng lặp, truy cập theo index. listOf() tạo list bất biến, mutableListOf() cho phép thêm/sửa/xoá phần tử.</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layers.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Set — tập hợp không trùng lặp</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Tự động loại bỏ phần tử trùng, không đảm bảo thứ tự lưu trữ ban đầu. Tạo bằng setOf() hoặc mutableSetOf().</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grid.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Map — cấu trúc khoá-giá trị</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Lưu dữ liệu theo cặp key-value, khoá là duy nhất. mapOf() bất biến, mutableMapOf() cho phép cập nhật giá trị.</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hash.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Immutable vs Mutable</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Interface đọc (List/Set/Map) tách biệt với interface có thể thay đổi (Mutable...) — kiểm soát rõ nơi dữ liệu có thể bị sửa.</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03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Collections — List, Set, Map cơ bản</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Collections.kt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29</a:t>
            </a:r>
            <a:endParaRPr lang="en-US" sz="8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list: mutable và immutable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list.add(0, 6)</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mutableListOf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(1, 2, 3, 4)</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add</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(0, 6)</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[3] = 10</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sorted</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set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set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setOf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(1, 9, 7, 8, 8, 2, 2, 3, 4, 4, 5, 1, 6)</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set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sorted</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map</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mutableMapOf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"address"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3,</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"city"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4,</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"country"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5,</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20</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"address"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iterate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"key = $key, value = ${map[key]}"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Collections.kt — khai báo List/Set/Map, thao tác và duyệt map bằng for.</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03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Collections — thao tác nâng cao</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DemoCollection.kt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7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mutableListOf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(1, 2, 3, 4)</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addAll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(6, 7))</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"id3"</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3,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"id4"</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4)</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entries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value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"id5"</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5,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"id6"</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6)</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"map $map"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DemoCollection.kt — addAll, map { } biến đổi dữ liệu, gộp map bằng "+".</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04</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box.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Class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Đóng gói dữ liệu và hành vi; kế thừa với open / override.</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04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Class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Constructor, init block và kế thừa trong Kotlin.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box.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Constructor &amp; thuộc tính</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Khai báo tham số ngay trên class header, ví dụ open class Film(var name: String) — tự sinh property và constructor.</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zap.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init block</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Chạy ngay sau constructor chính, thường dùng để xử lý hoặc validate dữ liệu khởi tạo, ví dụ name = name.trim().</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lock.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open / override</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Class và hàm mặc định là final trong Kotlin; phải khai báo open mới cho phép lớp con kế thừa hoặc ghi đè bằng override.</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gitmerge.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Kế thừa với super</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Class con dùng cú pháp : Parent(...) để kế thừa, và gọi super.method() để tái sử dụng logic từ lớp cha.</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04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Class &amp; Inheritance</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Inheritance.kt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105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"Film 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trim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"Marvel 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super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"This film is from 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 Avengers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Inheritance.kt — open class, init, override và super.</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05</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copy.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class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Model dữ liệu gọn nhẹ với equals, hashCode, toString và copy tự sinh.</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05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Dành riêng cho việc lưu trữ dữ liệu — Kotlin lo phần boilerplate.</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copy.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Tự sinh boilerplate</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Compiler tự tạo equals()/hashCode(), toString() dễ đọc, và copy() cho data class — không cần viết tay như class thường.</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target.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theo giá trị</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 so sánh nội dung thuộc tính (structural equality), khác với class thường vốn chỉ so sánh tham chiếu (reference).</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zap.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copy() tiện lợi</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Tạo bản sao với một vài thuộc tính thay đổi mà không ảnh hưởng object gốc, ví dụ student.copy(age = 21).</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star.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Yêu cầu cú pháp</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Constructor chính cần ít nhất 1 tham số, và các tham số nên khai báo là val/var để trở thành property.</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17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05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class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DataClasses.kt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student3</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"Jane"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21)</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student3</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DataClasses.kt — so sánh hai student cùng dữ liệu bằng "==".</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06</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tag.png"/>
          <p:cNvPicPr>
            <a:picLocks noChangeAspect="1"/>
          </p:cNvPicPr>
          <p:nvPr/>
        </p:nvPicPr>
        <p:blipFill>
          <a:blip r:embed="rId1"/>
          <a:stretch>
            <a:fillRect/>
          </a:stretch>
        </p:blipFill>
        <p:spPr>
          <a:xfrm>
            <a:off x="752369" y="4332499"/>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Enum class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Tập giá trị hữu hạn, an toàn kiểu, có thể mang theo dữ liệu riêng.</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06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Thay thế các hằng số String/Int rời rạc bằng một kiểu an toàn.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tag.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Tập giá trị hữu hạn</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Định nghĩa một nhóm hằng số có tên, an toàn kiểu (type-safe) hơn nhiều so với dùng String hoặc Int rời rạc.</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box.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Có thuộc tính &amp; constructor</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Mỗi hằng số có thể mang theo dữ liệu riêng, ví dụ SUCCESS("thành công") trong enum class Status(var status: String).</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hash.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entries, name, ordinal</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entries trả về danh sách tất cả giá trị (thay cho values() cũ); name là tên khai báo, ordinal là vị trí bắt đầu từ 0.</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grid.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Kết hợp tốt với when</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Khi khớp when trên toàn bộ enum, trình biên dịch tự kiểm tra đã bao phủ hết case, không bắt buộc nhánh else.</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06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Enum class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Enum.kt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7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enum</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"thành công"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"thất bại"</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PENDING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"đang chờ"</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PENDING</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ordinal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entries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"status: ${s.name} -&gt; ${s.status}"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Enum.kt — enum có thuộc tính riêng, duyệt bằng Status.entries.</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TỔNG KẾT</a:t>
            </a:r>
            <a:endParaRPr lang="en-US" sz="1250" dirty="0"/>
          </a:p>
        </p:txBody>
      </p:sp>
      <p:sp>
        <p:nvSpPr>
          <p:cNvPr id="3" name="Text 1"/>
          <p:cNvSpPr/>
          <p:nvPr/>
        </p:nvSpPr>
        <p:spPr>
          <a:xfrm>
            <a:off x="548640" y="868680"/>
            <a:ext cx="100584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nhanh — Phần 1</a:t>
            </a:r>
            <a:endParaRPr lang="en-US" sz="2800" dirty="0"/>
          </a:p>
        </p:txBody>
      </p:sp>
      <p:graphicFrame>
        <p:nvGraphicFramePr>
          <p:cNvPr id="23" name="Table 0"/>
          <p:cNvGraphicFramePr>
            <a:graphicFrameLocks noGrp="1"/>
          </p:cNvGraphicFramePr>
          <p:nvPr/>
        </p:nvGraphicFramePr>
        <p:xfrm>
          <a:off x="548640" y="1691640"/>
          <a:ext cx="11094415" cy="3968496"/>
        </p:xfrm>
        <a:graphic>
          <a:graphicData uri="http://schemas.openxmlformats.org/drawingml/2006/table">
            <a:tbl>
              <a:tblPr/>
              <a:tblGrid>
                <a:gridCol w="3108960"/>
                <a:gridCol w="3291840"/>
                <a:gridCol w="4693615"/>
              </a:tblGrid>
              <a:tr h="566928">
                <a:tc>
                  <a:txBody>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Khái niệm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Từ khoá / cú pháp chính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Khi nào dùng</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val · var · const val</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Khai báo dữ liệu — ưu tiên val</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Conditionals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if-else · when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Rẽ nhánh; khi nhiều điều kiện dùng when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Collections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List · Set · Map</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Lưu danh sách, tập hợp, cặp khoá-giá trị</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Class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class · open · override · init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Đóng gói dữ liệu + hành vi, có kế thừa</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 · copy()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Model dữ liệu thuần, so sánh theo giá trị</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 · entries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Tập giá trị cố định, an toàn kiểu</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bl>
          </a:graphicData>
        </a:graphic>
      </p:graphicFrame>
      <p:sp>
        <p:nvSpPr>
          <p:cNvPr id="5" name="Text 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6" name="Text 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PHẦN 2 · NỘI DUNG</a:t>
            </a:r>
            <a:endParaRPr lang="en-US" sz="1250" dirty="0"/>
          </a:p>
        </p:txBody>
      </p:sp>
      <p:sp>
        <p:nvSpPr>
          <p:cNvPr id="3" name="Text 1"/>
          <p:cNvSpPr/>
          <p:nvPr/>
        </p:nvSpPr>
        <p:spPr>
          <a:xfrm>
            <a:off x="548640" y="804672"/>
            <a:ext cx="10515600" cy="594360"/>
          </a:xfrm>
          <a:prstGeom prst="rect">
            <a:avLst/>
          </a:prstGeom>
          <a:noFill/>
        </p:spPr>
        <p:txBody>
          <a:bodyPr wrap="square" lIns="0" tIns="0" rIns="0" bIns="0" rtlCol="0" anchor="ctr"/>
          <a:lstStyle/>
          <a:p>
            <a:pPr marL="0" indent="0">
              <a:buNone/>
            </a:pPr>
            <a:r>
              <a:rPr lang="en-US" sz="2700" b="1" dirty="0">
                <a:solidFill>
                  <a:srgbClr val="241B3D"/>
                </a:solidFill>
                <a:latin typeface="Calibri" panose="020F0502020204030204" pitchFamily="34" charset="0"/>
                <a:ea typeface="Calibri" panose="020F0502020204030204" pitchFamily="34" charset="-122"/>
                <a:cs typeface="Calibri" panose="020F0502020204030204" pitchFamily="34" charset="-120"/>
              </a:rPr>
              <a:t>Kotlin nâng cao — 22 chủ đề</a:t>
            </a:r>
            <a:endParaRPr lang="en-US" sz="2700" dirty="0"/>
          </a:p>
        </p:txBody>
      </p:sp>
      <p:sp>
        <p:nvSpPr>
          <p:cNvPr id="4" name="Shape 2"/>
          <p:cNvSpPr/>
          <p:nvPr/>
        </p:nvSpPr>
        <p:spPr>
          <a:xfrm>
            <a:off x="548640" y="1691640"/>
            <a:ext cx="5074920" cy="2331720"/>
          </a:xfrm>
          <a:prstGeom prst="roundRect">
            <a:avLst>
              <a:gd name="adj" fmla="val 3922"/>
            </a:avLst>
          </a:prstGeom>
          <a:solidFill>
            <a:srgbClr val="F4F1FC"/>
          </a:solidFill>
        </p:spPr>
      </p:sp>
      <p:sp>
        <p:nvSpPr>
          <p:cNvPr id="5" name="Shape 3"/>
          <p:cNvSpPr/>
          <p:nvPr/>
        </p:nvSpPr>
        <p:spPr>
          <a:xfrm>
            <a:off x="804672" y="1929384"/>
            <a:ext cx="530352" cy="530352"/>
          </a:xfrm>
          <a:prstGeom prst="ellipse">
            <a:avLst/>
          </a:prstGeom>
          <a:solidFill>
            <a:srgbClr val="2D1B69"/>
          </a:solidFill>
        </p:spPr>
      </p:sp>
      <p:pic>
        <p:nvPicPr>
          <p:cNvPr id="6" name="Image 0" descr="/home/claude/kotlin_slides/icons/box.png"/>
          <p:cNvPicPr>
            <a:picLocks noChangeAspect="1"/>
          </p:cNvPicPr>
          <p:nvPr/>
        </p:nvPicPr>
        <p:blipFill>
          <a:blip r:embed="rId1"/>
          <a:stretch>
            <a:fillRect/>
          </a:stretch>
        </p:blipFill>
        <p:spPr>
          <a:xfrm>
            <a:off x="937260" y="2061972"/>
            <a:ext cx="265176" cy="265176"/>
          </a:xfrm>
          <a:prstGeom prst="rect">
            <a:avLst/>
          </a:prstGeom>
        </p:spPr>
      </p:pic>
      <p:sp>
        <p:nvSpPr>
          <p:cNvPr id="7" name="Text 4"/>
          <p:cNvSpPr/>
          <p:nvPr/>
        </p:nvSpPr>
        <p:spPr>
          <a:xfrm>
            <a:off x="4846320" y="183794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A</a:t>
            </a:r>
            <a:endParaRPr lang="en-US" sz="2200" dirty="0"/>
          </a:p>
        </p:txBody>
      </p:sp>
      <p:sp>
        <p:nvSpPr>
          <p:cNvPr id="8" name="Text 5"/>
          <p:cNvSpPr/>
          <p:nvPr/>
        </p:nvSpPr>
        <p:spPr>
          <a:xfrm>
            <a:off x="1508760" y="19110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OOP nâng cao</a:t>
            </a:r>
            <a:endParaRPr lang="en-US" sz="1600" dirty="0"/>
          </a:p>
        </p:txBody>
      </p:sp>
      <p:sp>
        <p:nvSpPr>
          <p:cNvPr id="9" name="Text 6"/>
          <p:cNvSpPr/>
          <p:nvPr/>
        </p:nvSpPr>
        <p:spPr>
          <a:xfrm>
            <a:off x="1508760" y="229514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6 chủ đề</a:t>
            </a:r>
            <a:endParaRPr lang="en-US" sz="1100" dirty="0"/>
          </a:p>
        </p:txBody>
      </p:sp>
      <p:sp>
        <p:nvSpPr>
          <p:cNvPr id="10" name="Text 7"/>
          <p:cNvSpPr/>
          <p:nvPr/>
        </p:nvSpPr>
        <p:spPr>
          <a:xfrm>
            <a:off x="804672" y="265176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Object &amp; Companion  ·  Abstract class  ·  Interface  ·  Inheritance  ·  Hiding constructor  ·  Sealed classes</a:t>
            </a:r>
            <a:endParaRPr lang="en-US" sz="1150" dirty="0"/>
          </a:p>
        </p:txBody>
      </p:sp>
      <p:sp>
        <p:nvSpPr>
          <p:cNvPr id="11" name="Shape 8"/>
          <p:cNvSpPr/>
          <p:nvPr/>
        </p:nvSpPr>
        <p:spPr>
          <a:xfrm>
            <a:off x="6080760" y="1691640"/>
            <a:ext cx="5074920" cy="2331720"/>
          </a:xfrm>
          <a:prstGeom prst="roundRect">
            <a:avLst>
              <a:gd name="adj" fmla="val 3922"/>
            </a:avLst>
          </a:prstGeom>
          <a:solidFill>
            <a:srgbClr val="F4F1FC"/>
          </a:solidFill>
        </p:spPr>
      </p:sp>
      <p:sp>
        <p:nvSpPr>
          <p:cNvPr id="12" name="Shape 9"/>
          <p:cNvSpPr/>
          <p:nvPr/>
        </p:nvSpPr>
        <p:spPr>
          <a:xfrm>
            <a:off x="6336792" y="1929384"/>
            <a:ext cx="530352" cy="530352"/>
          </a:xfrm>
          <a:prstGeom prst="ellipse">
            <a:avLst/>
          </a:prstGeom>
          <a:solidFill>
            <a:srgbClr val="2D1B69"/>
          </a:solidFill>
        </p:spPr>
      </p:sp>
      <p:pic>
        <p:nvPicPr>
          <p:cNvPr id="13" name="Image 1" descr="/home/claude/kotlin_slides/icons/shield.png"/>
          <p:cNvPicPr>
            <a:picLocks noChangeAspect="1"/>
          </p:cNvPicPr>
          <p:nvPr/>
        </p:nvPicPr>
        <p:blipFill>
          <a:blip r:embed="rId2"/>
          <a:stretch>
            <a:fillRect/>
          </a:stretch>
        </p:blipFill>
        <p:spPr>
          <a:xfrm>
            <a:off x="6469380" y="2061972"/>
            <a:ext cx="265176" cy="265176"/>
          </a:xfrm>
          <a:prstGeom prst="rect">
            <a:avLst/>
          </a:prstGeom>
        </p:spPr>
      </p:pic>
      <p:sp>
        <p:nvSpPr>
          <p:cNvPr id="14" name="Text 10"/>
          <p:cNvSpPr/>
          <p:nvPr/>
        </p:nvSpPr>
        <p:spPr>
          <a:xfrm>
            <a:off x="10378440" y="183794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B</a:t>
            </a:r>
            <a:endParaRPr lang="en-US" sz="2200" dirty="0"/>
          </a:p>
        </p:txBody>
      </p:sp>
      <p:sp>
        <p:nvSpPr>
          <p:cNvPr id="15" name="Text 11"/>
          <p:cNvSpPr/>
          <p:nvPr/>
        </p:nvSpPr>
        <p:spPr>
          <a:xfrm>
            <a:off x="7040880" y="19110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An toàn dữ liệu &amp; Casting</a:t>
            </a:r>
            <a:endParaRPr lang="en-US" sz="1600" dirty="0"/>
          </a:p>
        </p:txBody>
      </p:sp>
      <p:sp>
        <p:nvSpPr>
          <p:cNvPr id="16" name="Text 12"/>
          <p:cNvSpPr/>
          <p:nvPr/>
        </p:nvSpPr>
        <p:spPr>
          <a:xfrm>
            <a:off x="7040880" y="229514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5 chủ đề</a:t>
            </a:r>
            <a:endParaRPr lang="en-US" sz="1100" dirty="0"/>
          </a:p>
        </p:txBody>
      </p:sp>
      <p:sp>
        <p:nvSpPr>
          <p:cNvPr id="17" name="Text 13"/>
          <p:cNvSpPr/>
          <p:nvPr/>
        </p:nvSpPr>
        <p:spPr>
          <a:xfrm>
            <a:off x="6336792" y="265176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Null safety  ·  Type casting  ·  Deconstructing  ·  Late initialization  ·  Type aliases</a:t>
            </a:r>
            <a:endParaRPr lang="en-US" sz="1150" dirty="0"/>
          </a:p>
        </p:txBody>
      </p:sp>
      <p:sp>
        <p:nvSpPr>
          <p:cNvPr id="18" name="Shape 14"/>
          <p:cNvSpPr/>
          <p:nvPr/>
        </p:nvSpPr>
        <p:spPr>
          <a:xfrm>
            <a:off x="548640" y="4251960"/>
            <a:ext cx="5074920" cy="2331720"/>
          </a:xfrm>
          <a:prstGeom prst="roundRect">
            <a:avLst>
              <a:gd name="adj" fmla="val 3922"/>
            </a:avLst>
          </a:prstGeom>
          <a:solidFill>
            <a:srgbClr val="F4F1FC"/>
          </a:solidFill>
        </p:spPr>
      </p:sp>
      <p:sp>
        <p:nvSpPr>
          <p:cNvPr id="19" name="Shape 15"/>
          <p:cNvSpPr/>
          <p:nvPr/>
        </p:nvSpPr>
        <p:spPr>
          <a:xfrm>
            <a:off x="804672" y="4489704"/>
            <a:ext cx="530352" cy="530352"/>
          </a:xfrm>
          <a:prstGeom prst="ellipse">
            <a:avLst/>
          </a:prstGeom>
          <a:solidFill>
            <a:srgbClr val="2D1B69"/>
          </a:solidFill>
        </p:spPr>
      </p:sp>
      <p:pic>
        <p:nvPicPr>
          <p:cNvPr id="20" name="Image 2" descr="/home/claude/kotlin_slides/icons/code.png"/>
          <p:cNvPicPr>
            <a:picLocks noChangeAspect="1"/>
          </p:cNvPicPr>
          <p:nvPr/>
        </p:nvPicPr>
        <p:blipFill>
          <a:blip r:embed="rId3"/>
          <a:stretch>
            <a:fillRect/>
          </a:stretch>
        </p:blipFill>
        <p:spPr>
          <a:xfrm>
            <a:off x="937260" y="4622292"/>
            <a:ext cx="265176" cy="265176"/>
          </a:xfrm>
          <a:prstGeom prst="rect">
            <a:avLst/>
          </a:prstGeom>
        </p:spPr>
      </p:pic>
      <p:sp>
        <p:nvSpPr>
          <p:cNvPr id="21" name="Text 16"/>
          <p:cNvSpPr/>
          <p:nvPr/>
        </p:nvSpPr>
        <p:spPr>
          <a:xfrm>
            <a:off x="4846320" y="439826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C</a:t>
            </a:r>
            <a:endParaRPr lang="en-US" sz="2200" dirty="0"/>
          </a:p>
        </p:txBody>
      </p:sp>
      <p:sp>
        <p:nvSpPr>
          <p:cNvPr id="22" name="Text 17"/>
          <p:cNvSpPr/>
          <p:nvPr/>
        </p:nvSpPr>
        <p:spPr>
          <a:xfrm>
            <a:off x="1508760" y="44714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Lập trình hàm</a:t>
            </a:r>
            <a:endParaRPr lang="en-US" sz="1600" dirty="0"/>
          </a:p>
        </p:txBody>
      </p:sp>
      <p:sp>
        <p:nvSpPr>
          <p:cNvPr id="23" name="Text 18"/>
          <p:cNvSpPr/>
          <p:nvPr/>
        </p:nvSpPr>
        <p:spPr>
          <a:xfrm>
            <a:off x="1508760" y="485546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8 chủ đề</a:t>
            </a:r>
            <a:endParaRPr lang="en-US" sz="1100" dirty="0"/>
          </a:p>
        </p:txBody>
      </p:sp>
      <p:sp>
        <p:nvSpPr>
          <p:cNvPr id="24" name="Text 19"/>
          <p:cNvSpPr/>
          <p:nvPr/>
        </p:nvSpPr>
        <p:spPr>
          <a:xfrm>
            <a:off x="804672" y="521208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Higher-order function  ·  Lambda expression  ·  Extension function  ·  Infix function  ·  Inline function  ·  Return &amp; local return  ·  Tail recursion  ·  Lambda extension</a:t>
            </a:r>
            <a:endParaRPr lang="en-US" sz="1150" dirty="0"/>
          </a:p>
        </p:txBody>
      </p:sp>
      <p:sp>
        <p:nvSpPr>
          <p:cNvPr id="25" name="Shape 20"/>
          <p:cNvSpPr/>
          <p:nvPr/>
        </p:nvSpPr>
        <p:spPr>
          <a:xfrm>
            <a:off x="6080760" y="4251960"/>
            <a:ext cx="5074920" cy="2331720"/>
          </a:xfrm>
          <a:prstGeom prst="roundRect">
            <a:avLst>
              <a:gd name="adj" fmla="val 3922"/>
            </a:avLst>
          </a:prstGeom>
          <a:solidFill>
            <a:srgbClr val="F4F1FC"/>
          </a:solidFill>
        </p:spPr>
      </p:sp>
      <p:sp>
        <p:nvSpPr>
          <p:cNvPr id="26" name="Shape 21"/>
          <p:cNvSpPr/>
          <p:nvPr/>
        </p:nvSpPr>
        <p:spPr>
          <a:xfrm>
            <a:off x="6336792" y="4489704"/>
            <a:ext cx="530352" cy="530352"/>
          </a:xfrm>
          <a:prstGeom prst="ellipse">
            <a:avLst/>
          </a:prstGeom>
          <a:solidFill>
            <a:srgbClr val="2D1B69"/>
          </a:solidFill>
        </p:spPr>
      </p:sp>
      <p:pic>
        <p:nvPicPr>
          <p:cNvPr id="27" name="Image 3" descr="/home/claude/kotlin_slides/icons/sliders.png"/>
          <p:cNvPicPr>
            <a:picLocks noChangeAspect="1"/>
          </p:cNvPicPr>
          <p:nvPr/>
        </p:nvPicPr>
        <p:blipFill>
          <a:blip r:embed="rId4"/>
          <a:stretch>
            <a:fillRect/>
          </a:stretch>
        </p:blipFill>
        <p:spPr>
          <a:xfrm>
            <a:off x="6469380" y="4622292"/>
            <a:ext cx="265176" cy="265176"/>
          </a:xfrm>
          <a:prstGeom prst="rect">
            <a:avLst/>
          </a:prstGeom>
        </p:spPr>
      </p:pic>
      <p:sp>
        <p:nvSpPr>
          <p:cNvPr id="28" name="Text 22"/>
          <p:cNvSpPr/>
          <p:nvPr/>
        </p:nvSpPr>
        <p:spPr>
          <a:xfrm>
            <a:off x="10378440" y="439826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D</a:t>
            </a:r>
            <a:endParaRPr lang="en-US" sz="2200" dirty="0"/>
          </a:p>
        </p:txBody>
      </p:sp>
      <p:sp>
        <p:nvSpPr>
          <p:cNvPr id="29" name="Text 23"/>
          <p:cNvSpPr/>
          <p:nvPr/>
        </p:nvSpPr>
        <p:spPr>
          <a:xfrm>
            <a:off x="7040880" y="44714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Nâng cao khác</a:t>
            </a:r>
            <a:endParaRPr lang="en-US" sz="1600" dirty="0"/>
          </a:p>
        </p:txBody>
      </p:sp>
      <p:sp>
        <p:nvSpPr>
          <p:cNvPr id="30" name="Text 24"/>
          <p:cNvSpPr/>
          <p:nvPr/>
        </p:nvSpPr>
        <p:spPr>
          <a:xfrm>
            <a:off x="7040880" y="485546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3 chủ đề</a:t>
            </a:r>
            <a:endParaRPr lang="en-US" sz="1100" dirty="0"/>
          </a:p>
        </p:txBody>
      </p:sp>
      <p:sp>
        <p:nvSpPr>
          <p:cNvPr id="31" name="Text 25"/>
          <p:cNvSpPr/>
          <p:nvPr/>
        </p:nvSpPr>
        <p:spPr>
          <a:xfrm>
            <a:off x="6336792" y="521208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Operator overloading  ·  Delegation (func &amp; property)  ·  Generic</a:t>
            </a:r>
            <a:endParaRPr lang="en-US" sz="1150" dirty="0"/>
          </a:p>
        </p:txBody>
      </p:sp>
      <p:sp>
        <p:nvSpPr>
          <p:cNvPr id="32" name="Text 2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33" name="Text 2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A</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box.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OOP nâng cao</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Object &amp; Companion · Abstract class · Interface · Inheritance · Hiding constructor · Sealed classes</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box.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Object &amp; Companion object</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object khai báo một singleton — chỉ tồn tại đúng một instance trong toàn ứng dụng. companion object gắn các thành viên "tĩnh" vào bên trong một class, thay cho từ khoá static mà Kotlin không có.</a:t>
            </a:r>
            <a:endParaRPr lang="en-US" sz="1200" dirty="0"/>
          </a:p>
        </p:txBody>
      </p:sp>
      <p:sp>
        <p:nvSpPr>
          <p:cNvPr id="9" name="Shape 6"/>
          <p:cNvSpPr/>
          <p:nvPr/>
        </p:nvSpPr>
        <p:spPr>
          <a:xfrm>
            <a:off x="548640" y="1737360"/>
            <a:ext cx="912571" cy="292608"/>
          </a:xfrm>
          <a:prstGeom prst="roundRect">
            <a:avLst>
              <a:gd name="adj" fmla="val 50000"/>
            </a:avLst>
          </a:prstGeom>
          <a:solidFill>
            <a:srgbClr val="3A2A78"/>
          </a:solidFill>
        </p:spPr>
      </p:sp>
      <p:sp>
        <p:nvSpPr>
          <p:cNvPr id="10" name="Text 7"/>
          <p:cNvSpPr/>
          <p:nvPr/>
        </p:nvSpPr>
        <p:spPr>
          <a:xfrm>
            <a:off x="548640" y="1737360"/>
            <a:ext cx="91257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singleton</a:t>
            </a:r>
            <a:endParaRPr lang="en-US" sz="1050" dirty="0"/>
          </a:p>
        </p:txBody>
      </p:sp>
      <p:sp>
        <p:nvSpPr>
          <p:cNvPr id="11" name="Shape 8"/>
          <p:cNvSpPr/>
          <p:nvPr/>
        </p:nvSpPr>
        <p:spPr>
          <a:xfrm>
            <a:off x="1589227" y="1737360"/>
            <a:ext cx="1062533" cy="292608"/>
          </a:xfrm>
          <a:prstGeom prst="roundRect">
            <a:avLst>
              <a:gd name="adj" fmla="val 50000"/>
            </a:avLst>
          </a:prstGeom>
          <a:solidFill>
            <a:srgbClr val="3A2A78"/>
          </a:solidFill>
        </p:spPr>
      </p:sp>
      <p:sp>
        <p:nvSpPr>
          <p:cNvPr id="12" name="Text 9"/>
          <p:cNvSpPr/>
          <p:nvPr/>
        </p:nvSpPr>
        <p:spPr>
          <a:xfrm>
            <a:off x="1589227" y="1737360"/>
            <a:ext cx="106253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static-like</a:t>
            </a:r>
            <a:endParaRPr lang="en-US" sz="1050" dirty="0"/>
          </a:p>
        </p:txBody>
      </p:sp>
      <p:sp>
        <p:nvSpPr>
          <p:cNvPr id="13" name="Shape 10"/>
          <p:cNvSpPr/>
          <p:nvPr/>
        </p:nvSpPr>
        <p:spPr>
          <a:xfrm>
            <a:off x="2779776" y="1737360"/>
            <a:ext cx="1437437" cy="292608"/>
          </a:xfrm>
          <a:prstGeom prst="roundRect">
            <a:avLst>
              <a:gd name="adj" fmla="val 50000"/>
            </a:avLst>
          </a:prstGeom>
          <a:solidFill>
            <a:srgbClr val="3A2A78"/>
          </a:solidFill>
        </p:spPr>
      </p:sp>
      <p:sp>
        <p:nvSpPr>
          <p:cNvPr id="14" name="Text 11"/>
          <p:cNvSpPr/>
          <p:nvPr/>
        </p:nvSpPr>
        <p:spPr>
          <a:xfrm>
            <a:off x="2779776"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companion object</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Object.kt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6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object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AppConfig2</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companion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object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 2"</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AppConfig2</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Object.kt — object AppConfig (singleton) và AppConfig2 (companion object).</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ayout.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Abstract class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abstract class không thể khởi tạo trực tiếp, dùng làm khuôn chung cho các lớp con. Có thể chứa cả method đã cài đặt sẵn lẫn method trừu tượng (abstract fun) bắt buộc lớp con phải override.</a:t>
            </a:r>
            <a:endParaRPr lang="en-US" sz="1200" dirty="0"/>
          </a:p>
        </p:txBody>
      </p:sp>
      <p:sp>
        <p:nvSpPr>
          <p:cNvPr id="9" name="Shape 6"/>
          <p:cNvSpPr/>
          <p:nvPr/>
        </p:nvSpPr>
        <p:spPr>
          <a:xfrm>
            <a:off x="548640" y="1737360"/>
            <a:ext cx="1287475" cy="292608"/>
          </a:xfrm>
          <a:prstGeom prst="roundRect">
            <a:avLst>
              <a:gd name="adj" fmla="val 50000"/>
            </a:avLst>
          </a:prstGeom>
          <a:solidFill>
            <a:srgbClr val="3A2A78"/>
          </a:solidFill>
        </p:spPr>
      </p:sp>
      <p:sp>
        <p:nvSpPr>
          <p:cNvPr id="10" name="Text 7"/>
          <p:cNvSpPr/>
          <p:nvPr/>
        </p:nvSpPr>
        <p:spPr>
          <a:xfrm>
            <a:off x="548640"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không new được</a:t>
            </a:r>
            <a:endParaRPr lang="en-US" sz="1050" dirty="0"/>
          </a:p>
        </p:txBody>
      </p:sp>
      <p:sp>
        <p:nvSpPr>
          <p:cNvPr id="11" name="Shape 8"/>
          <p:cNvSpPr/>
          <p:nvPr/>
        </p:nvSpPr>
        <p:spPr>
          <a:xfrm>
            <a:off x="1964131" y="1737360"/>
            <a:ext cx="1437437" cy="292608"/>
          </a:xfrm>
          <a:prstGeom prst="roundRect">
            <a:avLst>
              <a:gd name="adj" fmla="val 50000"/>
            </a:avLst>
          </a:prstGeom>
          <a:solidFill>
            <a:srgbClr val="3A2A78"/>
          </a:solidFill>
        </p:spPr>
      </p:sp>
      <p:sp>
        <p:nvSpPr>
          <p:cNvPr id="12" name="Text 9"/>
          <p:cNvSpPr/>
          <p:nvPr/>
        </p:nvSpPr>
        <p:spPr>
          <a:xfrm>
            <a:off x="1964131"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có method cụ thể</a:t>
            </a:r>
            <a:endParaRPr lang="en-US" sz="1050" dirty="0"/>
          </a:p>
        </p:txBody>
      </p:sp>
      <p:sp>
        <p:nvSpPr>
          <p:cNvPr id="13" name="Shape 10"/>
          <p:cNvSpPr/>
          <p:nvPr/>
        </p:nvSpPr>
        <p:spPr>
          <a:xfrm>
            <a:off x="3529584" y="1737360"/>
            <a:ext cx="1512418" cy="292608"/>
          </a:xfrm>
          <a:prstGeom prst="roundRect">
            <a:avLst>
              <a:gd name="adj" fmla="val 50000"/>
            </a:avLst>
          </a:prstGeom>
          <a:solidFill>
            <a:srgbClr val="3A2A78"/>
          </a:solidFill>
        </p:spPr>
      </p:sp>
      <p:sp>
        <p:nvSpPr>
          <p:cNvPr id="14" name="Text 11"/>
          <p:cNvSpPr/>
          <p:nvPr/>
        </p:nvSpPr>
        <p:spPr>
          <a:xfrm>
            <a:off x="3529584" y="1737360"/>
            <a:ext cx="151241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bắt buộc override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Abstract.kt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3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abstract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Shape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abstract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describe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có diện tích ${area()}"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Circle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radius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Shape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"Circle"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PI</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radius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radius</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Shape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side</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shapes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Circle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(3.0))</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shapes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forEach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describe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ink.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Interface</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interface định nghĩa một hợp đồng (contract) mà class phải tuân theo; có thể chứa method đã có sẵn thân (default method), và một class có thể implement nhiều interface cùng lúc.</a:t>
            </a:r>
            <a:endParaRPr lang="en-US" sz="1200" dirty="0"/>
          </a:p>
        </p:txBody>
      </p:sp>
      <p:sp>
        <p:nvSpPr>
          <p:cNvPr id="9" name="Shape 6"/>
          <p:cNvSpPr/>
          <p:nvPr/>
        </p:nvSpPr>
        <p:spPr>
          <a:xfrm>
            <a:off x="548640" y="1737360"/>
            <a:ext cx="1587398" cy="292608"/>
          </a:xfrm>
          <a:prstGeom prst="roundRect">
            <a:avLst>
              <a:gd name="adj" fmla="val 50000"/>
            </a:avLst>
          </a:prstGeom>
          <a:solidFill>
            <a:srgbClr val="3A2A78"/>
          </a:solidFill>
        </p:spPr>
      </p:sp>
      <p:sp>
        <p:nvSpPr>
          <p:cNvPr id="10" name="Text 7"/>
          <p:cNvSpPr/>
          <p:nvPr/>
        </p:nvSpPr>
        <p:spPr>
          <a:xfrm>
            <a:off x="548640"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đa kế thừa hành vi</a:t>
            </a:r>
            <a:endParaRPr lang="en-US" sz="1050" dirty="0"/>
          </a:p>
        </p:txBody>
      </p:sp>
      <p:sp>
        <p:nvSpPr>
          <p:cNvPr id="11" name="Shape 8"/>
          <p:cNvSpPr/>
          <p:nvPr/>
        </p:nvSpPr>
        <p:spPr>
          <a:xfrm>
            <a:off x="2264054" y="1737360"/>
            <a:ext cx="1287475" cy="292608"/>
          </a:xfrm>
          <a:prstGeom prst="roundRect">
            <a:avLst>
              <a:gd name="adj" fmla="val 50000"/>
            </a:avLst>
          </a:prstGeom>
          <a:solidFill>
            <a:srgbClr val="3A2A78"/>
          </a:solidFill>
        </p:spPr>
      </p:sp>
      <p:sp>
        <p:nvSpPr>
          <p:cNvPr id="12" name="Text 9"/>
          <p:cNvSpPr/>
          <p:nvPr/>
        </p:nvSpPr>
        <p:spPr>
          <a:xfrm>
            <a:off x="2264054"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default method</a:t>
            </a:r>
            <a:endParaRPr lang="en-US" sz="1050" dirty="0"/>
          </a:p>
        </p:txBody>
      </p:sp>
      <p:sp>
        <p:nvSpPr>
          <p:cNvPr id="13" name="Shape 10"/>
          <p:cNvSpPr/>
          <p:nvPr/>
        </p:nvSpPr>
        <p:spPr>
          <a:xfrm>
            <a:off x="3679546" y="1737360"/>
            <a:ext cx="1587398" cy="292608"/>
          </a:xfrm>
          <a:prstGeom prst="roundRect">
            <a:avLst>
              <a:gd name="adj" fmla="val 50000"/>
            </a:avLst>
          </a:prstGeom>
          <a:solidFill>
            <a:srgbClr val="3A2A78"/>
          </a:solidFill>
        </p:spPr>
      </p:sp>
      <p:sp>
        <p:nvSpPr>
          <p:cNvPr id="14" name="Text 11"/>
          <p:cNvSpPr/>
          <p:nvPr/>
        </p:nvSpPr>
        <p:spPr>
          <a:xfrm>
            <a:off x="3679546"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implement bằng ':'</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Interface.kt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6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interface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Flyable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fly</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"Đang bay bằng cánh"</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interface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Swimmable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swim</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"Đang bơi"</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Flyable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Swimmable</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fly</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swim</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gitmerg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Inheritance (kế thừa class)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Class và hàm mặc định là final trong Kotlin; phải khai báo open mới cho phép kế thừa. Dùng ':' để kế thừa lớp cha, override để ghi đè, và super để gọi lại logic của lớp cha.</a:t>
            </a:r>
            <a:endParaRPr lang="en-US" sz="1200" dirty="0"/>
          </a:p>
        </p:txBody>
      </p:sp>
      <p:sp>
        <p:nvSpPr>
          <p:cNvPr id="9" name="Shape 6"/>
          <p:cNvSpPr/>
          <p:nvPr/>
        </p:nvSpPr>
        <p:spPr>
          <a:xfrm>
            <a:off x="548640" y="1737360"/>
            <a:ext cx="1212494" cy="292608"/>
          </a:xfrm>
          <a:prstGeom prst="roundRect">
            <a:avLst>
              <a:gd name="adj" fmla="val 50000"/>
            </a:avLst>
          </a:prstGeom>
          <a:solidFill>
            <a:srgbClr val="3A2A78"/>
          </a:solidFill>
        </p:spPr>
      </p:sp>
      <p:sp>
        <p:nvSpPr>
          <p:cNvPr id="10" name="Text 7"/>
          <p:cNvSpPr/>
          <p:nvPr/>
        </p:nvSpPr>
        <p:spPr>
          <a:xfrm>
            <a:off x="548640" y="1737360"/>
            <a:ext cx="121249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open bắt buộc</a:t>
            </a:r>
            <a:endParaRPr lang="en-US" sz="1050" dirty="0"/>
          </a:p>
        </p:txBody>
      </p:sp>
      <p:sp>
        <p:nvSpPr>
          <p:cNvPr id="11" name="Shape 8"/>
          <p:cNvSpPr/>
          <p:nvPr/>
        </p:nvSpPr>
        <p:spPr>
          <a:xfrm>
            <a:off x="1889150" y="1737360"/>
            <a:ext cx="1287475" cy="292608"/>
          </a:xfrm>
          <a:prstGeom prst="roundRect">
            <a:avLst>
              <a:gd name="adj" fmla="val 50000"/>
            </a:avLst>
          </a:prstGeom>
          <a:solidFill>
            <a:srgbClr val="3A2A78"/>
          </a:solidFill>
        </p:spPr>
      </p:sp>
      <p:sp>
        <p:nvSpPr>
          <p:cNvPr id="12" name="Text 9"/>
          <p:cNvSpPr/>
          <p:nvPr/>
        </p:nvSpPr>
        <p:spPr>
          <a:xfrm>
            <a:off x="1889150"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 để kế thừa</a:t>
            </a:r>
            <a:endParaRPr lang="en-US" sz="1050" dirty="0"/>
          </a:p>
        </p:txBody>
      </p:sp>
      <p:sp>
        <p:nvSpPr>
          <p:cNvPr id="13" name="Shape 10"/>
          <p:cNvSpPr/>
          <p:nvPr/>
        </p:nvSpPr>
        <p:spPr>
          <a:xfrm>
            <a:off x="3304642" y="1737360"/>
            <a:ext cx="1287475" cy="292608"/>
          </a:xfrm>
          <a:prstGeom prst="roundRect">
            <a:avLst>
              <a:gd name="adj" fmla="val 50000"/>
            </a:avLst>
          </a:prstGeom>
          <a:solidFill>
            <a:srgbClr val="3A2A78"/>
          </a:solidFill>
        </p:spPr>
      </p:sp>
      <p:sp>
        <p:nvSpPr>
          <p:cNvPr id="14" name="Text 11"/>
          <p:cNvSpPr/>
          <p:nvPr/>
        </p:nvSpPr>
        <p:spPr>
          <a:xfrm>
            <a:off x="3304642"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super.method()</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Inheritance.kt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9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"Film 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trim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"Marvel 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super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"This film is from 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 Avengers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Inheritance.kt — Film (lớp cha) và Marvel (lớp con) override showNameFilm().</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eyeoff.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Hiding constructor (private constructor)</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Ẩn constructor chính bằng private constructor để bắt buộc bên ngoài phải tạo object qua một hàm factory (thường đặt trong companion object) — kiểm soát chặt việc khởi tạo, ví dụ validate dữ liệu.</a:t>
            </a:r>
            <a:endParaRPr lang="en-US" sz="1200" dirty="0"/>
          </a:p>
        </p:txBody>
      </p:sp>
      <p:sp>
        <p:nvSpPr>
          <p:cNvPr id="9" name="Shape 6"/>
          <p:cNvSpPr/>
          <p:nvPr/>
        </p:nvSpPr>
        <p:spPr>
          <a:xfrm>
            <a:off x="548640" y="1737360"/>
            <a:ext cx="1662379" cy="292608"/>
          </a:xfrm>
          <a:prstGeom prst="roundRect">
            <a:avLst>
              <a:gd name="adj" fmla="val 50000"/>
            </a:avLst>
          </a:prstGeom>
          <a:solidFill>
            <a:srgbClr val="3A2A78"/>
          </a:solidFill>
        </p:spPr>
      </p:sp>
      <p:sp>
        <p:nvSpPr>
          <p:cNvPr id="10" name="Text 7"/>
          <p:cNvSpPr/>
          <p:nvPr/>
        </p:nvSpPr>
        <p:spPr>
          <a:xfrm>
            <a:off x="548640" y="1737360"/>
            <a:ext cx="166237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private constructor</a:t>
            </a:r>
            <a:endParaRPr lang="en-US" sz="1050" dirty="0"/>
          </a:p>
        </p:txBody>
      </p:sp>
      <p:sp>
        <p:nvSpPr>
          <p:cNvPr id="11" name="Shape 8"/>
          <p:cNvSpPr/>
          <p:nvPr/>
        </p:nvSpPr>
        <p:spPr>
          <a:xfrm>
            <a:off x="2339035" y="1737360"/>
            <a:ext cx="1287475" cy="292608"/>
          </a:xfrm>
          <a:prstGeom prst="roundRect">
            <a:avLst>
              <a:gd name="adj" fmla="val 50000"/>
            </a:avLst>
          </a:prstGeom>
          <a:solidFill>
            <a:srgbClr val="3A2A78"/>
          </a:solidFill>
        </p:spPr>
      </p:sp>
      <p:sp>
        <p:nvSpPr>
          <p:cNvPr id="12" name="Text 9"/>
          <p:cNvSpPr/>
          <p:nvPr/>
        </p:nvSpPr>
        <p:spPr>
          <a:xfrm>
            <a:off x="2339035"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factory method</a:t>
            </a:r>
            <a:endParaRPr lang="en-US" sz="1050" dirty="0"/>
          </a:p>
        </p:txBody>
      </p:sp>
      <p:sp>
        <p:nvSpPr>
          <p:cNvPr id="13" name="Shape 10"/>
          <p:cNvSpPr/>
          <p:nvPr/>
        </p:nvSpPr>
        <p:spPr>
          <a:xfrm>
            <a:off x="3754526" y="1737360"/>
            <a:ext cx="1587398" cy="292608"/>
          </a:xfrm>
          <a:prstGeom prst="roundRect">
            <a:avLst>
              <a:gd name="adj" fmla="val 50000"/>
            </a:avLst>
          </a:prstGeom>
          <a:solidFill>
            <a:srgbClr val="3A2A78"/>
          </a:solidFill>
        </p:spPr>
      </p:sp>
      <p:sp>
        <p:nvSpPr>
          <p:cNvPr id="14" name="Text 11"/>
          <p:cNvSpPr/>
          <p:nvPr/>
        </p:nvSpPr>
        <p:spPr>
          <a:xfrm>
            <a:off x="3754526"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kiểm soát khởi tạo</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HidingConstructor.kt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1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private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constructor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companion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object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create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contains</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"Email không hợp lệ: $email"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null</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user1</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create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"dev@lutech.ltd"</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user2</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create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"khong-hop-le"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user1</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user2</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ock.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Sealed classes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sealed class giới hạn tập hợp các lớp con được phép kế thừa (khai báo cùng file/module). Khi dùng when trên sealed class, compiler tự kiểm tra đã bao phủ hết trường hợp, không bắt buộc nhánh else.</a:t>
            </a:r>
            <a:endParaRPr lang="en-US" sz="1200" dirty="0"/>
          </a:p>
        </p:txBody>
      </p:sp>
      <p:sp>
        <p:nvSpPr>
          <p:cNvPr id="9" name="Shape 6"/>
          <p:cNvSpPr/>
          <p:nvPr/>
        </p:nvSpPr>
        <p:spPr>
          <a:xfrm>
            <a:off x="548640" y="1737360"/>
            <a:ext cx="1437437" cy="292608"/>
          </a:xfrm>
          <a:prstGeom prst="roundRect">
            <a:avLst>
              <a:gd name="adj" fmla="val 50000"/>
            </a:avLst>
          </a:prstGeom>
          <a:solidFill>
            <a:srgbClr val="3A2A78"/>
          </a:solidFill>
        </p:spPr>
      </p:sp>
      <p:sp>
        <p:nvSpPr>
          <p:cNvPr id="10" name="Text 7"/>
          <p:cNvSpPr/>
          <p:nvPr/>
        </p:nvSpPr>
        <p:spPr>
          <a:xfrm>
            <a:off x="548640"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tập con giới hạn</a:t>
            </a:r>
            <a:endParaRPr lang="en-US" sz="1050" dirty="0"/>
          </a:p>
        </p:txBody>
      </p:sp>
      <p:sp>
        <p:nvSpPr>
          <p:cNvPr id="11" name="Shape 8"/>
          <p:cNvSpPr/>
          <p:nvPr/>
        </p:nvSpPr>
        <p:spPr>
          <a:xfrm>
            <a:off x="2114093" y="1737360"/>
            <a:ext cx="1662379" cy="292608"/>
          </a:xfrm>
          <a:prstGeom prst="roundRect">
            <a:avLst>
              <a:gd name="adj" fmla="val 50000"/>
            </a:avLst>
          </a:prstGeom>
          <a:solidFill>
            <a:srgbClr val="3A2A78"/>
          </a:solidFill>
        </p:spPr>
      </p:sp>
      <p:sp>
        <p:nvSpPr>
          <p:cNvPr id="12" name="Text 9"/>
          <p:cNvSpPr/>
          <p:nvPr/>
        </p:nvSpPr>
        <p:spPr>
          <a:xfrm>
            <a:off x="2114093" y="1737360"/>
            <a:ext cx="166237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when không cần else</a:t>
            </a:r>
            <a:endParaRPr lang="en-US" sz="1050" dirty="0"/>
          </a:p>
        </p:txBody>
      </p:sp>
      <p:sp>
        <p:nvSpPr>
          <p:cNvPr id="13" name="Shape 10"/>
          <p:cNvSpPr/>
          <p:nvPr/>
        </p:nvSpPr>
        <p:spPr>
          <a:xfrm>
            <a:off x="3904488" y="1737360"/>
            <a:ext cx="2112264" cy="292608"/>
          </a:xfrm>
          <a:prstGeom prst="roundRect">
            <a:avLst>
              <a:gd name="adj" fmla="val 50000"/>
            </a:avLst>
          </a:prstGeom>
          <a:solidFill>
            <a:srgbClr val="3A2A78"/>
          </a:solidFill>
        </p:spPr>
      </p:sp>
      <p:sp>
        <p:nvSpPr>
          <p:cNvPr id="14" name="Text 11"/>
          <p:cNvSpPr/>
          <p:nvPr/>
        </p:nvSpPr>
        <p:spPr>
          <a:xfrm>
            <a:off x="3904488" y="1737360"/>
            <a:ext cx="211226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đi kèm data class con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SealedClass.kt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when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callApi</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message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sealed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message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callApi</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resp</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(0..1).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resp</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0)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"404"</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"200"</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B</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shield.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An toàn dữ liệu &amp; Casting</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Null safety · Type casting · Deconstructing · Late initialization · Type aliases</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hield.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Null safety</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Kotlin phân biệt kiểu nullable (String?) và non-null (String) ngay từ compile-time. Dùng ?. để gọi an toàn, ?: (elvis) để cho giá trị mặc định, và !! khi chắc chắn khác null (nên hạn chế dùng).</a:t>
            </a:r>
            <a:endParaRPr lang="en-US" sz="1200" dirty="0"/>
          </a:p>
        </p:txBody>
      </p:sp>
      <p:sp>
        <p:nvSpPr>
          <p:cNvPr id="9" name="Shape 6"/>
          <p:cNvSpPr/>
          <p:nvPr/>
        </p:nvSpPr>
        <p:spPr>
          <a:xfrm>
            <a:off x="548640" y="1737360"/>
            <a:ext cx="762610" cy="292608"/>
          </a:xfrm>
          <a:prstGeom prst="roundRect">
            <a:avLst>
              <a:gd name="adj" fmla="val 50000"/>
            </a:avLst>
          </a:prstGeom>
          <a:solidFill>
            <a:srgbClr val="3A2A78"/>
          </a:solidFill>
        </p:spPr>
      </p:sp>
      <p:sp>
        <p:nvSpPr>
          <p:cNvPr id="10" name="Text 7"/>
          <p:cNvSpPr/>
          <p:nvPr/>
        </p:nvSpPr>
        <p:spPr>
          <a:xfrm>
            <a:off x="548640" y="1737360"/>
            <a:ext cx="76261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String?</a:t>
            </a:r>
            <a:endParaRPr lang="en-US" sz="1050" dirty="0"/>
          </a:p>
        </p:txBody>
      </p:sp>
      <p:sp>
        <p:nvSpPr>
          <p:cNvPr id="11" name="Shape 8"/>
          <p:cNvSpPr/>
          <p:nvPr/>
        </p:nvSpPr>
        <p:spPr>
          <a:xfrm>
            <a:off x="1439266" y="1737360"/>
            <a:ext cx="1137514" cy="292608"/>
          </a:xfrm>
          <a:prstGeom prst="roundRect">
            <a:avLst>
              <a:gd name="adj" fmla="val 50000"/>
            </a:avLst>
          </a:prstGeom>
          <a:solidFill>
            <a:srgbClr val="3A2A78"/>
          </a:solidFill>
        </p:spPr>
      </p:sp>
      <p:sp>
        <p:nvSpPr>
          <p:cNvPr id="12" name="Text 9"/>
          <p:cNvSpPr/>
          <p:nvPr/>
        </p:nvSpPr>
        <p:spPr>
          <a:xfrm>
            <a:off x="1439266" y="1737360"/>
            <a:ext cx="113751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 safe call</a:t>
            </a:r>
            <a:endParaRPr lang="en-US" sz="1050" dirty="0"/>
          </a:p>
        </p:txBody>
      </p:sp>
      <p:sp>
        <p:nvSpPr>
          <p:cNvPr id="13" name="Shape 10"/>
          <p:cNvSpPr/>
          <p:nvPr/>
        </p:nvSpPr>
        <p:spPr>
          <a:xfrm>
            <a:off x="2704795" y="1737360"/>
            <a:ext cx="837590" cy="292608"/>
          </a:xfrm>
          <a:prstGeom prst="roundRect">
            <a:avLst>
              <a:gd name="adj" fmla="val 50000"/>
            </a:avLst>
          </a:prstGeom>
          <a:solidFill>
            <a:srgbClr val="3A2A78"/>
          </a:solidFill>
        </p:spPr>
      </p:sp>
      <p:sp>
        <p:nvSpPr>
          <p:cNvPr id="14" name="Text 11"/>
          <p:cNvSpPr/>
          <p:nvPr/>
        </p:nvSpPr>
        <p:spPr>
          <a:xfrm>
            <a:off x="2704795" y="1737360"/>
            <a:ext cx="83759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 elvis</a:t>
            </a:r>
            <a:endParaRPr lang="en-US" sz="1050" dirty="0"/>
          </a:p>
        </p:txBody>
      </p:sp>
      <p:sp>
        <p:nvSpPr>
          <p:cNvPr id="15" name="Shape 12"/>
          <p:cNvSpPr/>
          <p:nvPr/>
        </p:nvSpPr>
        <p:spPr>
          <a:xfrm>
            <a:off x="3670402" y="1737360"/>
            <a:ext cx="387706" cy="292608"/>
          </a:xfrm>
          <a:prstGeom prst="roundRect">
            <a:avLst>
              <a:gd name="adj" fmla="val 50000"/>
            </a:avLst>
          </a:prstGeom>
          <a:solidFill>
            <a:srgbClr val="3A2A78"/>
          </a:solidFill>
        </p:spPr>
      </p:sp>
      <p:sp>
        <p:nvSpPr>
          <p:cNvPr id="16" name="Text 13"/>
          <p:cNvSpPr/>
          <p:nvPr/>
        </p:nvSpPr>
        <p:spPr>
          <a:xfrm>
            <a:off x="3670402" y="1737360"/>
            <a:ext cx="38770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t>
            </a:r>
            <a:endParaRPr lang="en-US" sz="1050" dirty="0"/>
          </a:p>
        </p:txBody>
      </p:sp>
      <p:sp>
        <p:nvSpPr>
          <p:cNvPr id="17" name="Shape 14"/>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8" name="Shape 15"/>
          <p:cNvSpPr/>
          <p:nvPr/>
        </p:nvSpPr>
        <p:spPr>
          <a:xfrm>
            <a:off x="731520" y="2290572"/>
            <a:ext cx="82296" cy="82296"/>
          </a:xfrm>
          <a:prstGeom prst="ellipse">
            <a:avLst/>
          </a:prstGeom>
          <a:solidFill>
            <a:srgbClr val="FF6159"/>
          </a:solidFill>
        </p:spPr>
      </p:sp>
      <p:sp>
        <p:nvSpPr>
          <p:cNvPr id="19" name="Shape 16"/>
          <p:cNvSpPr/>
          <p:nvPr/>
        </p:nvSpPr>
        <p:spPr>
          <a:xfrm>
            <a:off x="914400" y="2290572"/>
            <a:ext cx="82296" cy="82296"/>
          </a:xfrm>
          <a:prstGeom prst="ellipse">
            <a:avLst/>
          </a:prstGeom>
          <a:solidFill>
            <a:srgbClr val="FFBD2E"/>
          </a:solidFill>
        </p:spPr>
      </p:sp>
      <p:sp>
        <p:nvSpPr>
          <p:cNvPr id="20" name="Shape 17"/>
          <p:cNvSpPr/>
          <p:nvPr/>
        </p:nvSpPr>
        <p:spPr>
          <a:xfrm>
            <a:off x="1097280" y="2290572"/>
            <a:ext cx="82296" cy="82296"/>
          </a:xfrm>
          <a:prstGeom prst="ellipse">
            <a:avLst/>
          </a:prstGeom>
          <a:solidFill>
            <a:srgbClr val="28C840"/>
          </a:solidFill>
        </p:spPr>
      </p:sp>
      <p:sp>
        <p:nvSpPr>
          <p:cNvPr id="21" name="Text 18"/>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NullSafety.kt</a:t>
            </a:r>
            <a:endParaRPr lang="en-US" sz="1050" dirty="0"/>
          </a:p>
        </p:txBody>
      </p:sp>
      <p:sp>
        <p:nvSpPr>
          <p:cNvPr id="22" name="Text 19"/>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300" dirty="0"/>
          </a:p>
        </p:txBody>
      </p:sp>
      <p:sp>
        <p:nvSpPr>
          <p:cNvPr id="23" name="Text 20"/>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 safe call: trả về null thay vì crash nếu name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 elvis: cho giá trị mặc định khi vế trái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0</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"length = $length"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 non-null assertion: ném NullPointerException nếu thực sự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safeName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safeName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uppercase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let: chỉ chạy khối lệnh khi giá trị khác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"Tên là $it"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"Không có tên"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p:txBody>
      </p:sp>
      <p:sp>
        <p:nvSpPr>
          <p:cNvPr id="25" name="Text 2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6" name="Text 2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huffl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Type casting</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is kiểm tra kiểu và tự động smart-cast trong nhánh if/when; as ép kiểu tường minh (ném lỗi nếu sai kiểu); as? ép kiểu an toàn, trả về null thay vì crash khi không đúng kiểu.</a:t>
            </a:r>
            <a:endParaRPr lang="en-US" sz="1200" dirty="0"/>
          </a:p>
        </p:txBody>
      </p:sp>
      <p:sp>
        <p:nvSpPr>
          <p:cNvPr id="9" name="Shape 6"/>
          <p:cNvSpPr/>
          <p:nvPr/>
        </p:nvSpPr>
        <p:spPr>
          <a:xfrm>
            <a:off x="548640" y="1737360"/>
            <a:ext cx="1362456" cy="292608"/>
          </a:xfrm>
          <a:prstGeom prst="roundRect">
            <a:avLst>
              <a:gd name="adj" fmla="val 50000"/>
            </a:avLst>
          </a:prstGeom>
          <a:solidFill>
            <a:srgbClr val="3A2A78"/>
          </a:solidFill>
        </p:spPr>
      </p:sp>
      <p:sp>
        <p:nvSpPr>
          <p:cNvPr id="10" name="Text 7"/>
          <p:cNvSpPr/>
          <p:nvPr/>
        </p:nvSpPr>
        <p:spPr>
          <a:xfrm>
            <a:off x="548640"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is + smart cast</a:t>
            </a:r>
            <a:endParaRPr lang="en-US" sz="1050" dirty="0"/>
          </a:p>
        </p:txBody>
      </p:sp>
      <p:sp>
        <p:nvSpPr>
          <p:cNvPr id="11" name="Shape 8"/>
          <p:cNvSpPr/>
          <p:nvPr/>
        </p:nvSpPr>
        <p:spPr>
          <a:xfrm>
            <a:off x="2039112" y="1737360"/>
            <a:ext cx="987552" cy="292608"/>
          </a:xfrm>
          <a:prstGeom prst="roundRect">
            <a:avLst>
              <a:gd name="adj" fmla="val 50000"/>
            </a:avLst>
          </a:prstGeom>
          <a:solidFill>
            <a:srgbClr val="3A2A78"/>
          </a:solidFill>
        </p:spPr>
      </p:sp>
      <p:sp>
        <p:nvSpPr>
          <p:cNvPr id="12" name="Text 9"/>
          <p:cNvSpPr/>
          <p:nvPr/>
        </p:nvSpPr>
        <p:spPr>
          <a:xfrm>
            <a:off x="2039112" y="1737360"/>
            <a:ext cx="98755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as ép kiểu</a:t>
            </a:r>
            <a:endParaRPr lang="en-US" sz="1050" dirty="0"/>
          </a:p>
        </p:txBody>
      </p:sp>
      <p:sp>
        <p:nvSpPr>
          <p:cNvPr id="13" name="Shape 10"/>
          <p:cNvSpPr/>
          <p:nvPr/>
        </p:nvSpPr>
        <p:spPr>
          <a:xfrm>
            <a:off x="3154680" y="1737360"/>
            <a:ext cx="1062533" cy="292608"/>
          </a:xfrm>
          <a:prstGeom prst="roundRect">
            <a:avLst>
              <a:gd name="adj" fmla="val 50000"/>
            </a:avLst>
          </a:prstGeom>
          <a:solidFill>
            <a:srgbClr val="3A2A78"/>
          </a:solidFill>
        </p:spPr>
      </p:sp>
      <p:sp>
        <p:nvSpPr>
          <p:cNvPr id="14" name="Text 11"/>
          <p:cNvSpPr/>
          <p:nvPr/>
        </p:nvSpPr>
        <p:spPr>
          <a:xfrm>
            <a:off x="3154680" y="1737360"/>
            <a:ext cx="106253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as? an toàn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Casting.kt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9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9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Casting type &lt;=&gt; ép kiểu</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float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3.141545</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int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float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toInt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"int =&gt; $int"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showOsPc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pc2</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as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pc2</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showOsPc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"show Windown"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"show 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Casting.kt — kiểm tra is Window/Mac rồi ép kiểu as Mac.</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ayers.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Deconstructing (Destructuring)</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Destructuring tách nhiều giá trị từ Pair/Triple, data class, hoặc Map.Entry thành các biến riêng chỉ trong một dòng, dựa trên các hàm component1()/component2()... mà data class tự sinh sẵn.</a:t>
            </a:r>
            <a:endParaRPr lang="en-US" sz="1200" dirty="0"/>
          </a:p>
        </p:txBody>
      </p:sp>
      <p:sp>
        <p:nvSpPr>
          <p:cNvPr id="9" name="Shape 6"/>
          <p:cNvSpPr/>
          <p:nvPr/>
        </p:nvSpPr>
        <p:spPr>
          <a:xfrm>
            <a:off x="548640" y="1737360"/>
            <a:ext cx="1137514" cy="292608"/>
          </a:xfrm>
          <a:prstGeom prst="roundRect">
            <a:avLst>
              <a:gd name="adj" fmla="val 50000"/>
            </a:avLst>
          </a:prstGeom>
          <a:solidFill>
            <a:srgbClr val="3A2A78"/>
          </a:solidFill>
        </p:spPr>
      </p:sp>
      <p:sp>
        <p:nvSpPr>
          <p:cNvPr id="10" name="Text 7"/>
          <p:cNvSpPr/>
          <p:nvPr/>
        </p:nvSpPr>
        <p:spPr>
          <a:xfrm>
            <a:off x="548640" y="1737360"/>
            <a:ext cx="113751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componentN()</a:t>
            </a:r>
            <a:endParaRPr lang="en-US" sz="1050" dirty="0"/>
          </a:p>
        </p:txBody>
      </p:sp>
      <p:sp>
        <p:nvSpPr>
          <p:cNvPr id="11" name="Shape 8"/>
          <p:cNvSpPr/>
          <p:nvPr/>
        </p:nvSpPr>
        <p:spPr>
          <a:xfrm>
            <a:off x="1814170" y="1737360"/>
            <a:ext cx="987552" cy="292608"/>
          </a:xfrm>
          <a:prstGeom prst="roundRect">
            <a:avLst>
              <a:gd name="adj" fmla="val 50000"/>
            </a:avLst>
          </a:prstGeom>
          <a:solidFill>
            <a:srgbClr val="3A2A78"/>
          </a:solidFill>
        </p:spPr>
      </p:sp>
      <p:sp>
        <p:nvSpPr>
          <p:cNvPr id="12" name="Text 9"/>
          <p:cNvSpPr/>
          <p:nvPr/>
        </p:nvSpPr>
        <p:spPr>
          <a:xfrm>
            <a:off x="1814170" y="1737360"/>
            <a:ext cx="98755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data class</a:t>
            </a:r>
            <a:endParaRPr lang="en-US" sz="1050" dirty="0"/>
          </a:p>
        </p:txBody>
      </p:sp>
      <p:sp>
        <p:nvSpPr>
          <p:cNvPr id="13" name="Shape 10"/>
          <p:cNvSpPr/>
          <p:nvPr/>
        </p:nvSpPr>
        <p:spPr>
          <a:xfrm>
            <a:off x="2929738" y="1737360"/>
            <a:ext cx="1812341" cy="292608"/>
          </a:xfrm>
          <a:prstGeom prst="roundRect">
            <a:avLst>
              <a:gd name="adj" fmla="val 50000"/>
            </a:avLst>
          </a:prstGeom>
          <a:solidFill>
            <a:srgbClr val="3A2A78"/>
          </a:solidFill>
        </p:spPr>
      </p:sp>
      <p:sp>
        <p:nvSpPr>
          <p:cNvPr id="14" name="Text 11"/>
          <p:cNvSpPr/>
          <p:nvPr/>
        </p:nvSpPr>
        <p:spPr>
          <a:xfrm>
            <a:off x="2929738" y="1737360"/>
            <a:ext cx="181234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Pair/Triple/Map.Entry</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DeconstructingValue.kt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24</a:t>
            </a:r>
            <a:endParaRPr lang="en-US" sz="8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getUser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25)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Pair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Animal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type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operator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component1</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operator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component2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type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Developer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nameDev</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lang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1. Class thường: cần tự khai báo operator componentN()</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Animal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"Dog"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"Mammal"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3)</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dog</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 $name, age = $age"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2. Nhận nhiều giá trị trả về từ function qua Pair</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getUser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"Chien"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23)</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"name2 = $name2, age2 = $age2"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3. data class tự sinh sẵn componentN() cho mọi thuộc tính</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Developer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"Gauuuu"</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23,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langPerson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person</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"namePerson = $namePerson, age = $agePerson, lang = $langPerson"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4. Duyệt Map bằng destructuring Map.Entry</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25)</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value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"key = $key, value = $value"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DeconstructingValue.kt (đã rút gọn, bỏ đoạn try/catch không liên quan).</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zap.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Late initialization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lateinit var trì hoãn việc gán giá trị cho property non-null (thường dùng cho View, DI, hoặc property chỉ có giá trị sau khi khởi tạo xong) — chỉ dùng được với var và kiểu tham chiếu, không phải kiểu nguyên thuỷ.</a:t>
            </a:r>
            <a:endParaRPr lang="en-US" sz="1200" dirty="0"/>
          </a:p>
        </p:txBody>
      </p:sp>
      <p:sp>
        <p:nvSpPr>
          <p:cNvPr id="9" name="Shape 6"/>
          <p:cNvSpPr/>
          <p:nvPr/>
        </p:nvSpPr>
        <p:spPr>
          <a:xfrm>
            <a:off x="548640" y="1737360"/>
            <a:ext cx="1437437" cy="292608"/>
          </a:xfrm>
          <a:prstGeom prst="roundRect">
            <a:avLst>
              <a:gd name="adj" fmla="val 50000"/>
            </a:avLst>
          </a:prstGeom>
          <a:solidFill>
            <a:srgbClr val="3A2A78"/>
          </a:solidFill>
        </p:spPr>
      </p:sp>
      <p:sp>
        <p:nvSpPr>
          <p:cNvPr id="10" name="Text 7"/>
          <p:cNvSpPr/>
          <p:nvPr/>
        </p:nvSpPr>
        <p:spPr>
          <a:xfrm>
            <a:off x="548640"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chỉ dùng với var</a:t>
            </a:r>
            <a:endParaRPr lang="en-US" sz="1050" dirty="0"/>
          </a:p>
        </p:txBody>
      </p:sp>
      <p:sp>
        <p:nvSpPr>
          <p:cNvPr id="11" name="Shape 8"/>
          <p:cNvSpPr/>
          <p:nvPr/>
        </p:nvSpPr>
        <p:spPr>
          <a:xfrm>
            <a:off x="2114093" y="1737360"/>
            <a:ext cx="2262226" cy="292608"/>
          </a:xfrm>
          <a:prstGeom prst="roundRect">
            <a:avLst>
              <a:gd name="adj" fmla="val 50000"/>
            </a:avLst>
          </a:prstGeom>
          <a:solidFill>
            <a:srgbClr val="3A2A78"/>
          </a:solidFill>
        </p:spPr>
      </p:sp>
      <p:sp>
        <p:nvSpPr>
          <p:cNvPr id="12" name="Text 9"/>
          <p:cNvSpPr/>
          <p:nvPr/>
        </p:nvSpPr>
        <p:spPr>
          <a:xfrm>
            <a:off x="2114093" y="1737360"/>
            <a:ext cx="226222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không phải kiểu nguyên thuỷ</a:t>
            </a:r>
            <a:endParaRPr lang="en-US" sz="1050" dirty="0"/>
          </a:p>
        </p:txBody>
      </p:sp>
      <p:sp>
        <p:nvSpPr>
          <p:cNvPr id="13" name="Shape 10"/>
          <p:cNvSpPr/>
          <p:nvPr/>
        </p:nvSpPr>
        <p:spPr>
          <a:xfrm>
            <a:off x="4504334" y="1737360"/>
            <a:ext cx="2037283" cy="292608"/>
          </a:xfrm>
          <a:prstGeom prst="roundRect">
            <a:avLst>
              <a:gd name="adj" fmla="val 50000"/>
            </a:avLst>
          </a:prstGeom>
          <a:solidFill>
            <a:srgbClr val="3A2A78"/>
          </a:solidFill>
        </p:spPr>
      </p:sp>
      <p:sp>
        <p:nvSpPr>
          <p:cNvPr id="14" name="Text 11"/>
          <p:cNvSpPr/>
          <p:nvPr/>
        </p:nvSpPr>
        <p:spPr>
          <a:xfrm>
            <a:off x="4504334"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tránh phải dùng nullable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LateInit.kt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late init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"Bears"</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lateinit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"tôi tên là $name"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LateInit.kt — lateinit var name gán sau khi object đã được tạo.</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typ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Type aliases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typealias đặt tên gọn hơn cho một kiểu dữ liệu phức tạp (generic dài, function type) giúp code dễ đọc hơn — chỉ là một 'bí danh', không tạo ra kiểu dữ liệu mới thực sự.</a:t>
            </a:r>
            <a:endParaRPr lang="en-US" sz="1200" dirty="0"/>
          </a:p>
        </p:txBody>
      </p:sp>
      <p:sp>
        <p:nvSpPr>
          <p:cNvPr id="9" name="Shape 6"/>
          <p:cNvSpPr/>
          <p:nvPr/>
        </p:nvSpPr>
        <p:spPr>
          <a:xfrm>
            <a:off x="548640" y="1737360"/>
            <a:ext cx="2262226" cy="292608"/>
          </a:xfrm>
          <a:prstGeom prst="roundRect">
            <a:avLst>
              <a:gd name="adj" fmla="val 50000"/>
            </a:avLst>
          </a:prstGeom>
          <a:solidFill>
            <a:srgbClr val="3A2A78"/>
          </a:solidFill>
        </p:spPr>
      </p:sp>
      <p:sp>
        <p:nvSpPr>
          <p:cNvPr id="10" name="Text 7"/>
          <p:cNvSpPr/>
          <p:nvPr/>
        </p:nvSpPr>
        <p:spPr>
          <a:xfrm>
            <a:off x="548640" y="1737360"/>
            <a:ext cx="226222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bí danh, không tạo kiểu mới</a:t>
            </a:r>
            <a:endParaRPr lang="en-US" sz="1050" dirty="0"/>
          </a:p>
        </p:txBody>
      </p:sp>
      <p:sp>
        <p:nvSpPr>
          <p:cNvPr id="11" name="Shape 8"/>
          <p:cNvSpPr/>
          <p:nvPr/>
        </p:nvSpPr>
        <p:spPr>
          <a:xfrm>
            <a:off x="2938882" y="1737360"/>
            <a:ext cx="2187245" cy="292608"/>
          </a:xfrm>
          <a:prstGeom prst="roundRect">
            <a:avLst>
              <a:gd name="adj" fmla="val 50000"/>
            </a:avLst>
          </a:prstGeom>
          <a:solidFill>
            <a:srgbClr val="3A2A78"/>
          </a:solidFill>
        </p:spPr>
      </p:sp>
      <p:sp>
        <p:nvSpPr>
          <p:cNvPr id="12" name="Text 9"/>
          <p:cNvSpPr/>
          <p:nvPr/>
        </p:nvSpPr>
        <p:spPr>
          <a:xfrm>
            <a:off x="2938882"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dùng cho function type</a:t>
            </a:r>
            <a:endParaRPr lang="en-US" sz="1050" dirty="0"/>
          </a:p>
        </p:txBody>
      </p:sp>
      <p:sp>
        <p:nvSpPr>
          <p:cNvPr id="13" name="Shape 10"/>
          <p:cNvSpPr/>
          <p:nvPr/>
        </p:nvSpPr>
        <p:spPr>
          <a:xfrm>
            <a:off x="5254142" y="1737360"/>
            <a:ext cx="1362456" cy="292608"/>
          </a:xfrm>
          <a:prstGeom prst="roundRect">
            <a:avLst>
              <a:gd name="adj" fmla="val 50000"/>
            </a:avLst>
          </a:prstGeom>
          <a:solidFill>
            <a:srgbClr val="3A2A78"/>
          </a:solidFill>
        </p:spPr>
      </p:sp>
      <p:sp>
        <p:nvSpPr>
          <p:cNvPr id="14" name="Text 11"/>
          <p:cNvSpPr/>
          <p:nvPr/>
        </p:nvSpPr>
        <p:spPr>
          <a:xfrm>
            <a:off x="5254142"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code dễ đọc hơn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TypeAlias.kt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6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typealias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Map</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List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&gt;&gt;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typealias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Boolean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Unit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loadScores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(8, 9, 10))</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request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true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"Thành công"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loadScores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request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message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"success=$success, message=$message"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C</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code.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Lập trình hàm</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Higher-order function · Lambda expression · Extension function · Infix function · Inline function · Return &amp; local return · Tail recursion · Lambda extension</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zap.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Lambda expression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Lambda là một hàm không tên, có thể gán cho biến hoặc truyền trực tiếp. Nếu là tham số cuối cùng, có thể viết ra ngoài dấu ngoặc () — trailing lambda; tham số duy nhất có thể dùng ngầm định it.</a:t>
            </a:r>
            <a:endParaRPr lang="en-US" sz="1200" dirty="0"/>
          </a:p>
        </p:txBody>
      </p:sp>
      <p:sp>
        <p:nvSpPr>
          <p:cNvPr id="9" name="Shape 6"/>
          <p:cNvSpPr/>
          <p:nvPr/>
        </p:nvSpPr>
        <p:spPr>
          <a:xfrm>
            <a:off x="548640" y="1737360"/>
            <a:ext cx="1362456" cy="292608"/>
          </a:xfrm>
          <a:prstGeom prst="roundRect">
            <a:avLst>
              <a:gd name="adj" fmla="val 50000"/>
            </a:avLst>
          </a:prstGeom>
          <a:solidFill>
            <a:srgbClr val="3A2A78"/>
          </a:solidFill>
        </p:spPr>
      </p:sp>
      <p:sp>
        <p:nvSpPr>
          <p:cNvPr id="10" name="Text 7"/>
          <p:cNvSpPr/>
          <p:nvPr/>
        </p:nvSpPr>
        <p:spPr>
          <a:xfrm>
            <a:off x="548640"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trailing lambda</a:t>
            </a:r>
            <a:endParaRPr lang="en-US" sz="1050" dirty="0"/>
          </a:p>
        </p:txBody>
      </p:sp>
      <p:sp>
        <p:nvSpPr>
          <p:cNvPr id="11" name="Shape 8"/>
          <p:cNvSpPr/>
          <p:nvPr/>
        </p:nvSpPr>
        <p:spPr>
          <a:xfrm>
            <a:off x="2039112" y="1737360"/>
            <a:ext cx="1137514" cy="292608"/>
          </a:xfrm>
          <a:prstGeom prst="roundRect">
            <a:avLst>
              <a:gd name="adj" fmla="val 50000"/>
            </a:avLst>
          </a:prstGeom>
          <a:solidFill>
            <a:srgbClr val="3A2A78"/>
          </a:solidFill>
        </p:spPr>
      </p:sp>
      <p:sp>
        <p:nvSpPr>
          <p:cNvPr id="12" name="Text 9"/>
          <p:cNvSpPr/>
          <p:nvPr/>
        </p:nvSpPr>
        <p:spPr>
          <a:xfrm>
            <a:off x="2039112" y="1737360"/>
            <a:ext cx="113751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it ngầm định</a:t>
            </a:r>
            <a:endParaRPr lang="en-US" sz="1050" dirty="0"/>
          </a:p>
        </p:txBody>
      </p:sp>
      <p:sp>
        <p:nvSpPr>
          <p:cNvPr id="13" name="Shape 10"/>
          <p:cNvSpPr/>
          <p:nvPr/>
        </p:nvSpPr>
        <p:spPr>
          <a:xfrm>
            <a:off x="3304642" y="1737360"/>
            <a:ext cx="1512418" cy="292608"/>
          </a:xfrm>
          <a:prstGeom prst="roundRect">
            <a:avLst>
              <a:gd name="adj" fmla="val 50000"/>
            </a:avLst>
          </a:prstGeom>
          <a:solidFill>
            <a:srgbClr val="3A2A78"/>
          </a:solidFill>
        </p:spPr>
      </p:sp>
      <p:sp>
        <p:nvSpPr>
          <p:cNvPr id="14" name="Text 11"/>
          <p:cNvSpPr/>
          <p:nvPr/>
        </p:nvSpPr>
        <p:spPr>
          <a:xfrm>
            <a:off x="3304642" y="1737360"/>
            <a:ext cx="151241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gán cho biến được</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LambdaSyntax.kt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3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Lambda gán cho biến, kiểu (Int) -&gt; Int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Trailing lambda: lambda là tham số cuối -&gt; viết ngoài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(1, 2, 3, 4)</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doubled</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doubled</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Nhiều dòng lệnh trong lambda — dòng cuối là giá trị trả về</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sumSquares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sumSquares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endParaRPr>
          </a:p>
          <a:p>
            <a:pPr marL="0" indent="0">
              <a:lnSpc>
                <a:spcPct val="115000"/>
              </a:lnSpc>
              <a:buNone/>
            </a:pPr>
            <a:endParaRPr lang="en-US" sz="13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cod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Higher-order function (HOF)</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Higher-order function: tạo ra 1 function và function này chấp nhận các tham số, và tham số này có thể là 1 function   </a:t>
            </a:r>
            <a:endParaRPr lang="en-US" sz="1200" dirty="0"/>
          </a:p>
        </p:txBody>
      </p:sp>
      <p:sp>
        <p:nvSpPr>
          <p:cNvPr id="9" name="Shape 6"/>
          <p:cNvSpPr/>
          <p:nvPr/>
        </p:nvSpPr>
        <p:spPr>
          <a:xfrm>
            <a:off x="548640" y="1737360"/>
            <a:ext cx="1737360" cy="292608"/>
          </a:xfrm>
          <a:prstGeom prst="roundRect">
            <a:avLst>
              <a:gd name="adj" fmla="val 50000"/>
            </a:avLst>
          </a:prstGeom>
          <a:solidFill>
            <a:srgbClr val="3A2A78"/>
          </a:solidFill>
        </p:spPr>
      </p:sp>
      <p:sp>
        <p:nvSpPr>
          <p:cNvPr id="10" name="Text 7"/>
          <p:cNvSpPr/>
          <p:nvPr/>
        </p:nvSpPr>
        <p:spPr>
          <a:xfrm>
            <a:off x="548640" y="1737360"/>
            <a:ext cx="173736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nhận hàm làm tham số</a:t>
            </a:r>
            <a:endParaRPr lang="en-US" sz="1050" dirty="0"/>
          </a:p>
        </p:txBody>
      </p:sp>
      <p:sp>
        <p:nvSpPr>
          <p:cNvPr id="11" name="Shape 8"/>
          <p:cNvSpPr/>
          <p:nvPr/>
        </p:nvSpPr>
        <p:spPr>
          <a:xfrm>
            <a:off x="2414016" y="1737360"/>
            <a:ext cx="1287475" cy="292608"/>
          </a:xfrm>
          <a:prstGeom prst="roundRect">
            <a:avLst>
              <a:gd name="adj" fmla="val 50000"/>
            </a:avLst>
          </a:prstGeom>
          <a:solidFill>
            <a:srgbClr val="3A2A78"/>
          </a:solidFill>
        </p:spPr>
      </p:sp>
      <p:sp>
        <p:nvSpPr>
          <p:cNvPr id="12" name="Text 9"/>
          <p:cNvSpPr/>
          <p:nvPr/>
        </p:nvSpPr>
        <p:spPr>
          <a:xfrm>
            <a:off x="2414016"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trả về một hàm</a:t>
            </a:r>
            <a:endParaRPr lang="en-US" sz="1050" dirty="0"/>
          </a:p>
        </p:txBody>
      </p:sp>
      <p:sp>
        <p:nvSpPr>
          <p:cNvPr id="13" name="Shape 10"/>
          <p:cNvSpPr/>
          <p:nvPr/>
        </p:nvSpPr>
        <p:spPr>
          <a:xfrm>
            <a:off x="3829507" y="1737360"/>
            <a:ext cx="2187245" cy="292608"/>
          </a:xfrm>
          <a:prstGeom prst="roundRect">
            <a:avLst>
              <a:gd name="adj" fmla="val 50000"/>
            </a:avLst>
          </a:prstGeom>
          <a:solidFill>
            <a:srgbClr val="3A2A78"/>
          </a:solidFill>
        </p:spPr>
      </p:sp>
      <p:sp>
        <p:nvSpPr>
          <p:cNvPr id="14" name="Text 11"/>
          <p:cNvSpPr/>
          <p:nvPr/>
        </p:nvSpPr>
        <p:spPr>
          <a:xfrm>
            <a:off x="3829507"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(Double, Double) -&gt; Double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HOF.kt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100" dirty="0"/>
          </a:p>
          <a:p>
            <a:pPr marL="0" indent="0" algn="r">
              <a:lnSpc>
                <a:spcPct val="115000"/>
              </a:lnSpc>
              <a:buNone/>
            </a:pPr>
            <a:r>
              <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1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1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main() {</a:t>
            </a:r>
            <a:endParaRPr lang="en-US" sz="1100" dirty="0"/>
          </a:p>
          <a:p>
            <a:pPr marL="0" indent="0">
              <a:lnSpc>
                <a:spcPct val="115000"/>
              </a:lnSpc>
              <a:buNone/>
            </a:pP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result = calculate(2.0, 3.0, ::number)</a:t>
            </a:r>
            <a:endParaRPr lang="en-US" sz="1100" dirty="0"/>
          </a:p>
          <a:p>
            <a:pPr marL="0" indent="0">
              <a:lnSpc>
                <a:spcPct val="115000"/>
              </a:lnSpc>
              <a:buNone/>
            </a:pP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println(</a:t>
            </a:r>
            <a:r>
              <a:rPr lang="en-US" sz="11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"result = $result"</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a:p>
            <a:pPr marL="0" indent="0">
              <a:lnSpc>
                <a:spcPct val="115000"/>
              </a:lnSpc>
              <a:buNone/>
            </a:pP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println(</a:t>
            </a:r>
            <a:r>
              <a:rPr lang="en-US" sz="11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a:p>
            <a:pPr marL="0" indent="0">
              <a:lnSpc>
                <a:spcPct val="115000"/>
              </a:lnSpc>
              <a:buNone/>
            </a:pP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result2 = calculate(3.0, 7.0, </a:t>
            </a:r>
            <a:r>
              <a:rPr lang="en-US" sz="11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 y: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x + y)</a:t>
            </a:r>
            <a:endParaRPr lang="en-US" sz="1100" dirty="0"/>
          </a:p>
          <a:p>
            <a:pPr marL="0" indent="0">
              <a:lnSpc>
                <a:spcPct val="115000"/>
              </a:lnSpc>
              <a:buNone/>
            </a:pP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println(result2)</a:t>
            </a:r>
            <a:endParaRPr lang="en-US" sz="1100" dirty="0"/>
          </a:p>
          <a:p>
            <a:pPr marL="0" indent="0">
              <a:lnSpc>
                <a:spcPct val="115000"/>
              </a:lnSpc>
              <a:buNone/>
            </a:pP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result3 = calculate(4.0, 6.5) { x, y -&gt; x * y }</a:t>
            </a:r>
            <a:endParaRPr lang="en-US" sz="1100" dirty="0"/>
          </a:p>
          <a:p>
            <a:pPr marL="0" indent="0">
              <a:lnSpc>
                <a:spcPct val="115000"/>
              </a:lnSpc>
              <a:buNone/>
            </a:pP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println(result3)</a:t>
            </a:r>
            <a:endParaRPr lang="en-US" sz="1100" dirty="0"/>
          </a:p>
          <a:p>
            <a:pPr marL="0" indent="0">
              <a:lnSpc>
                <a:spcPct val="115000"/>
              </a:lnSpc>
              <a:buNone/>
            </a:pP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a:p>
            <a:pPr marL="0" indent="0">
              <a:lnSpc>
                <a:spcPct val="115000"/>
              </a:lnSpc>
              <a:buNone/>
            </a:pPr>
            <a:r>
              <a:rPr lang="en-US" sz="11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calculate(x: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y: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func: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func(x, y)</a:t>
            </a:r>
            <a:endParaRPr lang="en-US" sz="1100" dirty="0"/>
          </a:p>
          <a:p>
            <a:pPr marL="0" indent="0">
              <a:lnSpc>
                <a:spcPct val="115000"/>
              </a:lnSpc>
              <a:buNone/>
            </a:pPr>
            <a:r>
              <a:rPr lang="en-US" sz="11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number(x: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y: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(x + y)</a:t>
            </a:r>
            <a:endParaRPr lang="en-US" sz="1100" dirty="0"/>
          </a:p>
          <a:p>
            <a:pPr marL="0" indent="0">
              <a:lnSpc>
                <a:spcPct val="115000"/>
              </a:lnSpc>
              <a:buNone/>
            </a:pPr>
            <a:r>
              <a:rPr lang="en-US" sz="11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firstName: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lastName: </a:t>
            </a:r>
            <a:r>
              <a:rPr lang="en-US" sz="11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1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a:p>
            <a:pPr marL="0" indent="0">
              <a:lnSpc>
                <a:spcPct val="115000"/>
              </a:lnSpc>
              <a:buNone/>
            </a:pPr>
            <a:endParaRPr lang="en-US" sz="11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HOF.kt — calculate().</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tar.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Extension function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Extension function cho phép 'gắn thêm' hàm mới vào một class có sẵn — kể cả class trong thư viện chuẩn — mà không cần sửa hay kế thừa class đó.</a:t>
            </a:r>
            <a:endParaRPr lang="en-US" sz="1200" dirty="0"/>
          </a:p>
        </p:txBody>
      </p:sp>
      <p:sp>
        <p:nvSpPr>
          <p:cNvPr id="9" name="Shape 6"/>
          <p:cNvSpPr/>
          <p:nvPr/>
        </p:nvSpPr>
        <p:spPr>
          <a:xfrm>
            <a:off x="548640" y="1737360"/>
            <a:ext cx="1737360" cy="292608"/>
          </a:xfrm>
          <a:prstGeom prst="roundRect">
            <a:avLst>
              <a:gd name="adj" fmla="val 50000"/>
            </a:avLst>
          </a:prstGeom>
          <a:solidFill>
            <a:srgbClr val="3A2A78"/>
          </a:solidFill>
        </p:spPr>
      </p:sp>
      <p:sp>
        <p:nvSpPr>
          <p:cNvPr id="10" name="Text 7"/>
          <p:cNvSpPr/>
          <p:nvPr/>
        </p:nvSpPr>
        <p:spPr>
          <a:xfrm>
            <a:off x="548640" y="1737360"/>
            <a:ext cx="173736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mở rộng class có sẵn</a:t>
            </a:r>
            <a:endParaRPr lang="en-US" sz="1050" dirty="0"/>
          </a:p>
        </p:txBody>
      </p:sp>
      <p:sp>
        <p:nvSpPr>
          <p:cNvPr id="11" name="Shape 8"/>
          <p:cNvSpPr/>
          <p:nvPr/>
        </p:nvSpPr>
        <p:spPr>
          <a:xfrm>
            <a:off x="2414016" y="1737360"/>
            <a:ext cx="1512418" cy="292608"/>
          </a:xfrm>
          <a:prstGeom prst="roundRect">
            <a:avLst>
              <a:gd name="adj" fmla="val 50000"/>
            </a:avLst>
          </a:prstGeom>
          <a:solidFill>
            <a:srgbClr val="3A2A78"/>
          </a:solidFill>
        </p:spPr>
      </p:sp>
      <p:sp>
        <p:nvSpPr>
          <p:cNvPr id="12" name="Text 9"/>
          <p:cNvSpPr/>
          <p:nvPr/>
        </p:nvSpPr>
        <p:spPr>
          <a:xfrm>
            <a:off x="2414016" y="1737360"/>
            <a:ext cx="151241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không cần kế thừa</a:t>
            </a:r>
            <a:endParaRPr lang="en-US" sz="1050" dirty="0"/>
          </a:p>
        </p:txBody>
      </p:sp>
      <p:sp>
        <p:nvSpPr>
          <p:cNvPr id="13" name="Shape 10"/>
          <p:cNvSpPr/>
          <p:nvPr/>
        </p:nvSpPr>
        <p:spPr>
          <a:xfrm>
            <a:off x="4054450" y="1737360"/>
            <a:ext cx="1962302" cy="292608"/>
          </a:xfrm>
          <a:prstGeom prst="roundRect">
            <a:avLst>
              <a:gd name="adj" fmla="val 50000"/>
            </a:avLst>
          </a:prstGeom>
          <a:solidFill>
            <a:srgbClr val="3A2A78"/>
          </a:solidFill>
        </p:spPr>
      </p:sp>
      <p:sp>
        <p:nvSpPr>
          <p:cNvPr id="14" name="Text 11"/>
          <p:cNvSpPr/>
          <p:nvPr/>
        </p:nvSpPr>
        <p:spPr>
          <a:xfrm>
            <a:off x="4054450" y="1737360"/>
            <a:ext cx="196230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cú pháp fun Type.name()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Extension.kt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"13@pass"</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validatePassword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"password is valid = $result"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lib</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Library</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lib</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exFunc</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Extension function</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validatePassword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Boolean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8</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Library</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 Extension Demo"</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Library</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exFunc</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"exFunc called on $name"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Infix function</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infix</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this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plus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Extension.kt — String.validatePassword() và Library.exFunc().</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gitmerg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Infix function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infix cho phép gọi một hàm đúng-1-tham-số theo kiểu toán tử trung tố: a cong b thay vì a.cong(b) — áp dụng cho hàm hoặc extension function.</a:t>
            </a:r>
            <a:endParaRPr lang="en-US" sz="1200" dirty="0"/>
          </a:p>
        </p:txBody>
      </p:sp>
      <p:sp>
        <p:nvSpPr>
          <p:cNvPr id="9" name="Shape 6"/>
          <p:cNvSpPr/>
          <p:nvPr/>
        </p:nvSpPr>
        <p:spPr>
          <a:xfrm>
            <a:off x="548640" y="1737360"/>
            <a:ext cx="1362456" cy="292608"/>
          </a:xfrm>
          <a:prstGeom prst="roundRect">
            <a:avLst>
              <a:gd name="adj" fmla="val 50000"/>
            </a:avLst>
          </a:prstGeom>
          <a:solidFill>
            <a:srgbClr val="3A2A78"/>
          </a:solidFill>
        </p:spPr>
      </p:sp>
      <p:sp>
        <p:nvSpPr>
          <p:cNvPr id="10" name="Text 7"/>
          <p:cNvSpPr/>
          <p:nvPr/>
        </p:nvSpPr>
        <p:spPr>
          <a:xfrm>
            <a:off x="548640"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gọi kiểu a op b</a:t>
            </a:r>
            <a:endParaRPr lang="en-US" sz="1050" dirty="0"/>
          </a:p>
        </p:txBody>
      </p:sp>
      <p:sp>
        <p:nvSpPr>
          <p:cNvPr id="11" name="Shape 8"/>
          <p:cNvSpPr/>
          <p:nvPr/>
        </p:nvSpPr>
        <p:spPr>
          <a:xfrm>
            <a:off x="2039112" y="1737360"/>
            <a:ext cx="1287475" cy="292608"/>
          </a:xfrm>
          <a:prstGeom prst="roundRect">
            <a:avLst>
              <a:gd name="adj" fmla="val 50000"/>
            </a:avLst>
          </a:prstGeom>
          <a:solidFill>
            <a:srgbClr val="3A2A78"/>
          </a:solidFill>
        </p:spPr>
      </p:sp>
      <p:sp>
        <p:nvSpPr>
          <p:cNvPr id="12" name="Text 9"/>
          <p:cNvSpPr/>
          <p:nvPr/>
        </p:nvSpPr>
        <p:spPr>
          <a:xfrm>
            <a:off x="2039112"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đúng 1 tham số</a:t>
            </a:r>
            <a:endParaRPr lang="en-US" sz="1050" dirty="0"/>
          </a:p>
        </p:txBody>
      </p:sp>
      <p:sp>
        <p:nvSpPr>
          <p:cNvPr id="13" name="Shape 10"/>
          <p:cNvSpPr/>
          <p:nvPr/>
        </p:nvSpPr>
        <p:spPr>
          <a:xfrm>
            <a:off x="3454603" y="1737360"/>
            <a:ext cx="2487168" cy="292608"/>
          </a:xfrm>
          <a:prstGeom prst="roundRect">
            <a:avLst>
              <a:gd name="adj" fmla="val 50000"/>
            </a:avLst>
          </a:prstGeom>
          <a:solidFill>
            <a:srgbClr val="3A2A78"/>
          </a:solidFill>
        </p:spPr>
      </p:sp>
      <p:sp>
        <p:nvSpPr>
          <p:cNvPr id="14" name="Text 11"/>
          <p:cNvSpPr/>
          <p:nvPr/>
        </p:nvSpPr>
        <p:spPr>
          <a:xfrm>
            <a:off x="3454603" y="1737360"/>
            <a:ext cx="248716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kết hợp extension function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Extension.kt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p:txBody>
      </p:sp>
      <p:sp>
        <p:nvSpPr>
          <p:cNvPr id="21" name="Text 18"/>
          <p:cNvSpPr/>
          <p:nvPr/>
        </p:nvSpPr>
        <p:spPr>
          <a:xfrm>
            <a:off x="1170305" y="2578735"/>
            <a:ext cx="10326370" cy="1930400"/>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Infix function</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infix</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this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plus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Extension.kt — infix fun Int.cong(number: Int), gọi bằng number cong 200.</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target.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Inline function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inline yêu cầu compiler chèn thẳng thân hàm (và lambda truyền vào) vào ngay nơi gọi thay vì tạo object lambda thật sự — giảm chi phí (overhead) khi dùng lambda nhiều lần.</a:t>
            </a:r>
            <a:endParaRPr lang="en-US" sz="1200" dirty="0"/>
          </a:p>
        </p:txBody>
      </p:sp>
      <p:sp>
        <p:nvSpPr>
          <p:cNvPr id="9" name="Shape 6"/>
          <p:cNvSpPr/>
          <p:nvPr/>
        </p:nvSpPr>
        <p:spPr>
          <a:xfrm>
            <a:off x="548640" y="1737360"/>
            <a:ext cx="1812341" cy="292608"/>
          </a:xfrm>
          <a:prstGeom prst="roundRect">
            <a:avLst>
              <a:gd name="adj" fmla="val 50000"/>
            </a:avLst>
          </a:prstGeom>
          <a:solidFill>
            <a:srgbClr val="3A2A78"/>
          </a:solidFill>
        </p:spPr>
      </p:sp>
      <p:sp>
        <p:nvSpPr>
          <p:cNvPr id="10" name="Text 7"/>
          <p:cNvSpPr/>
          <p:nvPr/>
        </p:nvSpPr>
        <p:spPr>
          <a:xfrm>
            <a:off x="548640" y="1737360"/>
            <a:ext cx="181234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chèn code tại nơi gọi</a:t>
            </a:r>
            <a:endParaRPr lang="en-US" sz="1050" dirty="0"/>
          </a:p>
        </p:txBody>
      </p:sp>
      <p:sp>
        <p:nvSpPr>
          <p:cNvPr id="11" name="Shape 8"/>
          <p:cNvSpPr/>
          <p:nvPr/>
        </p:nvSpPr>
        <p:spPr>
          <a:xfrm>
            <a:off x="2488997" y="1737360"/>
            <a:ext cx="2037283" cy="292608"/>
          </a:xfrm>
          <a:prstGeom prst="roundRect">
            <a:avLst>
              <a:gd name="adj" fmla="val 50000"/>
            </a:avLst>
          </a:prstGeom>
          <a:solidFill>
            <a:srgbClr val="3A2A78"/>
          </a:solidFill>
        </p:spPr>
      </p:sp>
      <p:sp>
        <p:nvSpPr>
          <p:cNvPr id="12" name="Text 9"/>
          <p:cNvSpPr/>
          <p:nvPr/>
        </p:nvSpPr>
        <p:spPr>
          <a:xfrm>
            <a:off x="2488997"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giảm overhead của lambda</a:t>
            </a:r>
            <a:endParaRPr lang="en-US" sz="1050" dirty="0"/>
          </a:p>
        </p:txBody>
      </p:sp>
      <p:sp>
        <p:nvSpPr>
          <p:cNvPr id="13" name="Shape 10"/>
          <p:cNvSpPr/>
          <p:nvPr/>
        </p:nvSpPr>
        <p:spPr>
          <a:xfrm>
            <a:off x="4654296" y="1737360"/>
            <a:ext cx="2337206" cy="292608"/>
          </a:xfrm>
          <a:prstGeom prst="roundRect">
            <a:avLst>
              <a:gd name="adj" fmla="val 50000"/>
            </a:avLst>
          </a:prstGeom>
          <a:solidFill>
            <a:srgbClr val="3A2A78"/>
          </a:solidFill>
        </p:spPr>
      </p:sp>
      <p:sp>
        <p:nvSpPr>
          <p:cNvPr id="14" name="Text 11"/>
          <p:cNvSpPr/>
          <p:nvPr/>
        </p:nvSpPr>
        <p:spPr>
          <a:xfrm>
            <a:off x="4654296" y="1737360"/>
            <a:ext cx="233720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dùng cho hàm nhận lambda</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145"/>
            <a:ext cx="2195830" cy="320675"/>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InlineFunc.kt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7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import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kotlin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math</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total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total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(4.0)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inline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InlineFunc.kt — inline fun sum(a, b, action).</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hash.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Return &amp; Local return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return thường thoát khỏi cả hàm chứa nó. Trong lambda truyền cho hàm khác, return@label (local return) chỉ thoát khỏi lambda đó — hàm bên ngoài vẫn tiếp tục chạy bình thường.</a:t>
            </a:r>
            <a:endParaRPr lang="en-US" sz="1200" dirty="0"/>
          </a:p>
        </p:txBody>
      </p:sp>
      <p:sp>
        <p:nvSpPr>
          <p:cNvPr id="9" name="Shape 6"/>
          <p:cNvSpPr/>
          <p:nvPr/>
        </p:nvSpPr>
        <p:spPr>
          <a:xfrm>
            <a:off x="548640" y="1737360"/>
            <a:ext cx="1662379" cy="292608"/>
          </a:xfrm>
          <a:prstGeom prst="roundRect">
            <a:avLst>
              <a:gd name="adj" fmla="val 50000"/>
            </a:avLst>
          </a:prstGeom>
          <a:solidFill>
            <a:srgbClr val="3A2A78"/>
          </a:solidFill>
        </p:spPr>
      </p:sp>
      <p:sp>
        <p:nvSpPr>
          <p:cNvPr id="10" name="Text 7"/>
          <p:cNvSpPr/>
          <p:nvPr/>
        </p:nvSpPr>
        <p:spPr>
          <a:xfrm>
            <a:off x="548640" y="1737360"/>
            <a:ext cx="166237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return thoát cả hàm</a:t>
            </a:r>
            <a:endParaRPr lang="en-US" sz="1050" dirty="0"/>
          </a:p>
        </p:txBody>
      </p:sp>
      <p:sp>
        <p:nvSpPr>
          <p:cNvPr id="11" name="Shape 8"/>
          <p:cNvSpPr/>
          <p:nvPr/>
        </p:nvSpPr>
        <p:spPr>
          <a:xfrm>
            <a:off x="2339035" y="1737360"/>
            <a:ext cx="2412187" cy="292608"/>
          </a:xfrm>
          <a:prstGeom prst="roundRect">
            <a:avLst>
              <a:gd name="adj" fmla="val 50000"/>
            </a:avLst>
          </a:prstGeom>
          <a:solidFill>
            <a:srgbClr val="3A2A78"/>
          </a:solidFill>
        </p:spPr>
      </p:sp>
      <p:sp>
        <p:nvSpPr>
          <p:cNvPr id="12" name="Text 9"/>
          <p:cNvSpPr/>
          <p:nvPr/>
        </p:nvSpPr>
        <p:spPr>
          <a:xfrm>
            <a:off x="2339035" y="1737360"/>
            <a:ext cx="241218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return@label chỉ thoát lambda</a:t>
            </a:r>
            <a:endParaRPr lang="en-US" sz="1050" dirty="0"/>
          </a:p>
        </p:txBody>
      </p:sp>
      <p:sp>
        <p:nvSpPr>
          <p:cNvPr id="13" name="Shape 10"/>
          <p:cNvSpPr/>
          <p:nvPr/>
        </p:nvSpPr>
        <p:spPr>
          <a:xfrm>
            <a:off x="4879238" y="1737360"/>
            <a:ext cx="1812341" cy="292608"/>
          </a:xfrm>
          <a:prstGeom prst="roundRect">
            <a:avLst>
              <a:gd name="adj" fmla="val 50000"/>
            </a:avLst>
          </a:prstGeom>
          <a:solidFill>
            <a:srgbClr val="3A2A78"/>
          </a:solidFill>
        </p:spPr>
      </p:sp>
      <p:sp>
        <p:nvSpPr>
          <p:cNvPr id="14" name="Text 11"/>
          <p:cNvSpPr/>
          <p:nvPr/>
        </p:nvSpPr>
        <p:spPr>
          <a:xfrm>
            <a:off x="4879238" y="1737360"/>
            <a:ext cx="181234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nhãn đặt theo tên hàm</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LocalReturn.kt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2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printNumber</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&lt;</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Iterable</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Unit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Unit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element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this</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element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printNumber</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range</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1..10</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range</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5)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LocalReturn.kt — return@customForEach bỏ qua phần tử số 5, vòng lặp vẫn tiếp tục.</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repeat.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Tail recursion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tailrec đánh dấu một hàm đệ quy mà lời gọi đệ quy là thao tác CUỐI CÙNG trong hàm — compiler tối ưu thành một vòng lặp thực sự, tránh StackOverflowError khi đệ quy sâu.</a:t>
            </a:r>
            <a:endParaRPr lang="en-US" sz="1200" dirty="0"/>
          </a:p>
        </p:txBody>
      </p:sp>
      <p:sp>
        <p:nvSpPr>
          <p:cNvPr id="9" name="Shape 6"/>
          <p:cNvSpPr/>
          <p:nvPr/>
        </p:nvSpPr>
        <p:spPr>
          <a:xfrm>
            <a:off x="548640" y="1737360"/>
            <a:ext cx="2187245" cy="292608"/>
          </a:xfrm>
          <a:prstGeom prst="roundRect">
            <a:avLst>
              <a:gd name="adj" fmla="val 50000"/>
            </a:avLst>
          </a:prstGeom>
          <a:solidFill>
            <a:srgbClr val="3A2A78"/>
          </a:solidFill>
        </p:spPr>
      </p:sp>
      <p:sp>
        <p:nvSpPr>
          <p:cNvPr id="10" name="Text 7"/>
          <p:cNvSpPr/>
          <p:nvPr/>
        </p:nvSpPr>
        <p:spPr>
          <a:xfrm>
            <a:off x="548640"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lời gọi đệ quy phải ở cuối</a:t>
            </a:r>
            <a:endParaRPr lang="en-US" sz="1050" dirty="0"/>
          </a:p>
        </p:txBody>
      </p:sp>
      <p:sp>
        <p:nvSpPr>
          <p:cNvPr id="11" name="Shape 8"/>
          <p:cNvSpPr/>
          <p:nvPr/>
        </p:nvSpPr>
        <p:spPr>
          <a:xfrm>
            <a:off x="2863901" y="1737360"/>
            <a:ext cx="2187245" cy="292608"/>
          </a:xfrm>
          <a:prstGeom prst="roundRect">
            <a:avLst>
              <a:gd name="adj" fmla="val 50000"/>
            </a:avLst>
          </a:prstGeom>
          <a:solidFill>
            <a:srgbClr val="3A2A78"/>
          </a:solidFill>
        </p:spPr>
      </p:sp>
      <p:sp>
        <p:nvSpPr>
          <p:cNvPr id="12" name="Text 9"/>
          <p:cNvSpPr/>
          <p:nvPr/>
        </p:nvSpPr>
        <p:spPr>
          <a:xfrm>
            <a:off x="2863901"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compiler tối ưu thành loop</a:t>
            </a:r>
            <a:endParaRPr lang="en-US" sz="1050" dirty="0"/>
          </a:p>
        </p:txBody>
      </p:sp>
      <p:sp>
        <p:nvSpPr>
          <p:cNvPr id="13" name="Shape 10"/>
          <p:cNvSpPr/>
          <p:nvPr/>
        </p:nvSpPr>
        <p:spPr>
          <a:xfrm>
            <a:off x="5179162" y="1737360"/>
            <a:ext cx="2037283" cy="292608"/>
          </a:xfrm>
          <a:prstGeom prst="roundRect">
            <a:avLst>
              <a:gd name="adj" fmla="val 50000"/>
            </a:avLst>
          </a:prstGeom>
          <a:solidFill>
            <a:srgbClr val="3A2A78"/>
          </a:solidFill>
        </p:spPr>
      </p:sp>
      <p:sp>
        <p:nvSpPr>
          <p:cNvPr id="14" name="Text 11"/>
          <p:cNvSpPr/>
          <p:nvPr/>
        </p:nvSpPr>
        <p:spPr>
          <a:xfrm>
            <a:off x="5179162"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tránh StackOverflowError</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TailRecursion.kt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p:txBody>
      </p:sp>
      <p:sp>
        <p:nvSpPr>
          <p:cNvPr id="21" name="Text 18"/>
          <p:cNvSpPr/>
          <p:nvPr/>
        </p:nvSpPr>
        <p:spPr>
          <a:xfrm>
            <a:off x="1170305" y="2578735"/>
            <a:ext cx="10326370" cy="2124710"/>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tailrec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Long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Long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Long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&lt;= 1)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D</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sliders.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Nâng cao khác</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Operator overloading · Delegation (func &amp; property) · Generic</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liders.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D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Operator overloading</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Kotlin cho phép định nghĩa lại ý nghĩa của các toán tử (+, -, ==, []...) cho kiểu dữ liệu tự tạo bằng từ khoá operator, giúp code viết tự nhiên hơn — a + b thay vì a.plus(b).</a:t>
            </a:r>
            <a:endParaRPr lang="en-US" sz="1200" dirty="0"/>
          </a:p>
        </p:txBody>
      </p:sp>
      <p:sp>
        <p:nvSpPr>
          <p:cNvPr id="9" name="Shape 6"/>
          <p:cNvSpPr/>
          <p:nvPr/>
        </p:nvSpPr>
        <p:spPr>
          <a:xfrm>
            <a:off x="548640" y="1737360"/>
            <a:ext cx="2262226" cy="292608"/>
          </a:xfrm>
          <a:prstGeom prst="roundRect">
            <a:avLst>
              <a:gd name="adj" fmla="val 50000"/>
            </a:avLst>
          </a:prstGeom>
          <a:solidFill>
            <a:srgbClr val="3A2A78"/>
          </a:solidFill>
        </p:spPr>
      </p:sp>
      <p:sp>
        <p:nvSpPr>
          <p:cNvPr id="10" name="Text 7"/>
          <p:cNvSpPr/>
          <p:nvPr/>
        </p:nvSpPr>
        <p:spPr>
          <a:xfrm>
            <a:off x="548640" y="1737360"/>
            <a:ext cx="226222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operator fun plus/minus/...</a:t>
            </a:r>
            <a:endParaRPr lang="en-US" sz="1050" dirty="0"/>
          </a:p>
        </p:txBody>
      </p:sp>
      <p:sp>
        <p:nvSpPr>
          <p:cNvPr id="11" name="Shape 8"/>
          <p:cNvSpPr/>
          <p:nvPr/>
        </p:nvSpPr>
        <p:spPr>
          <a:xfrm>
            <a:off x="2938882" y="1737360"/>
            <a:ext cx="2037283" cy="292608"/>
          </a:xfrm>
          <a:prstGeom prst="roundRect">
            <a:avLst>
              <a:gd name="adj" fmla="val 50000"/>
            </a:avLst>
          </a:prstGeom>
          <a:solidFill>
            <a:srgbClr val="3A2A78"/>
          </a:solidFill>
        </p:spPr>
      </p:sp>
      <p:sp>
        <p:nvSpPr>
          <p:cNvPr id="12" name="Text 9"/>
          <p:cNvSpPr/>
          <p:nvPr/>
        </p:nvSpPr>
        <p:spPr>
          <a:xfrm>
            <a:off x="2938882"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 + b thay cho a.plus(b)</a:t>
            </a:r>
            <a:endParaRPr lang="en-US" sz="1050" dirty="0"/>
          </a:p>
        </p:txBody>
      </p:sp>
      <p:sp>
        <p:nvSpPr>
          <p:cNvPr id="13" name="Shape 10"/>
          <p:cNvSpPr/>
          <p:nvPr/>
        </p:nvSpPr>
        <p:spPr>
          <a:xfrm>
            <a:off x="5104181" y="1737360"/>
            <a:ext cx="2562149" cy="292608"/>
          </a:xfrm>
          <a:prstGeom prst="roundRect">
            <a:avLst>
              <a:gd name="adj" fmla="val 50000"/>
            </a:avLst>
          </a:prstGeom>
          <a:solidFill>
            <a:srgbClr val="3A2A78"/>
          </a:solidFill>
        </p:spPr>
      </p:sp>
      <p:sp>
        <p:nvSpPr>
          <p:cNvPr id="14" name="Text 11"/>
          <p:cNvSpPr/>
          <p:nvPr/>
        </p:nvSpPr>
        <p:spPr>
          <a:xfrm>
            <a:off x="5104181" y="1737360"/>
            <a:ext cx="256214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tên hàm theo quy ước của Kotlin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OperatorOverloading.kt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"ABC"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"XYZ"</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o2</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operator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plus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"${this.name} and ${p.name}"</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OperatorOverloading.kt — operator fun plus(p: OperatorOverloading).</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packag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D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Generic</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Generic cho phép viết class/hàm dùng chung cho nhiều kiểu dữ liệu mà vẫn giữ an toàn kiểu tại compile-time, tránh phải ép kiểu thủ công. Có thể giới hạn kiểu bằng cú pháp &lt;T : Bound&gt;.</a:t>
            </a:r>
            <a:endParaRPr lang="en-US" sz="1200" dirty="0"/>
          </a:p>
        </p:txBody>
      </p:sp>
      <p:sp>
        <p:nvSpPr>
          <p:cNvPr id="9" name="Shape 6"/>
          <p:cNvSpPr/>
          <p:nvPr/>
        </p:nvSpPr>
        <p:spPr>
          <a:xfrm>
            <a:off x="548640" y="1737360"/>
            <a:ext cx="1587398" cy="292608"/>
          </a:xfrm>
          <a:prstGeom prst="roundRect">
            <a:avLst>
              <a:gd name="adj" fmla="val 50000"/>
            </a:avLst>
          </a:prstGeom>
          <a:solidFill>
            <a:srgbClr val="3A2A78"/>
          </a:solidFill>
        </p:spPr>
      </p:sp>
      <p:sp>
        <p:nvSpPr>
          <p:cNvPr id="10" name="Text 7"/>
          <p:cNvSpPr/>
          <p:nvPr/>
        </p:nvSpPr>
        <p:spPr>
          <a:xfrm>
            <a:off x="548640"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&lt;T&gt; kiểu tổng quát</a:t>
            </a:r>
            <a:endParaRPr lang="en-US" sz="1050" dirty="0"/>
          </a:p>
        </p:txBody>
      </p:sp>
      <p:sp>
        <p:nvSpPr>
          <p:cNvPr id="11" name="Shape 8"/>
          <p:cNvSpPr/>
          <p:nvPr/>
        </p:nvSpPr>
        <p:spPr>
          <a:xfrm>
            <a:off x="2264054" y="1737360"/>
            <a:ext cx="2112264" cy="292608"/>
          </a:xfrm>
          <a:prstGeom prst="roundRect">
            <a:avLst>
              <a:gd name="adj" fmla="val 50000"/>
            </a:avLst>
          </a:prstGeom>
          <a:solidFill>
            <a:srgbClr val="3A2A78"/>
          </a:solidFill>
        </p:spPr>
      </p:sp>
      <p:sp>
        <p:nvSpPr>
          <p:cNvPr id="12" name="Text 9"/>
          <p:cNvSpPr/>
          <p:nvPr/>
        </p:nvSpPr>
        <p:spPr>
          <a:xfrm>
            <a:off x="2264054" y="1737360"/>
            <a:ext cx="211226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an toàn kiểu compile-time</a:t>
            </a:r>
            <a:endParaRPr lang="en-US" sz="1050" dirty="0"/>
          </a:p>
        </p:txBody>
      </p:sp>
      <p:sp>
        <p:nvSpPr>
          <p:cNvPr id="13" name="Shape 10"/>
          <p:cNvSpPr/>
          <p:nvPr/>
        </p:nvSpPr>
        <p:spPr>
          <a:xfrm>
            <a:off x="4504334" y="1737360"/>
            <a:ext cx="1962302" cy="292608"/>
          </a:xfrm>
          <a:prstGeom prst="roundRect">
            <a:avLst>
              <a:gd name="adj" fmla="val 50000"/>
            </a:avLst>
          </a:prstGeom>
          <a:solidFill>
            <a:srgbClr val="3A2A78"/>
          </a:solidFill>
        </p:spPr>
      </p:sp>
      <p:sp>
        <p:nvSpPr>
          <p:cNvPr id="14" name="Text 11"/>
          <p:cNvSpPr/>
          <p:nvPr/>
        </p:nvSpPr>
        <p:spPr>
          <a:xfrm>
            <a:off x="4504334" y="1737360"/>
            <a:ext cx="196230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giới hạn bằng T : Bound</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Generic.kt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4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value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"Box chứa: $value"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Giới hạn kiểu: T phải so sánh được (Comparable)</a:t>
            </a:r>
            <a:endParaRPr lang="en-US" sz="1400" dirty="0"/>
          </a:p>
          <a:p>
            <a:pPr marL="0" indent="0">
              <a:lnSpc>
                <a:spcPct val="115000"/>
              </a:lnSpc>
              <a:buNone/>
            </a:pP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&lt;</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Comparable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&gt;&gt;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endParaRPr lang="en-US" sz="1400" dirty="0"/>
          </a:p>
          <a:p>
            <a:pPr marL="0" indent="0">
              <a:lnSpc>
                <a:spcPct val="115000"/>
              </a:lnSpc>
              <a:buNone/>
            </a:pP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intBox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intBox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(3, 7))</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"Java"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TỔNG KẾT</a:t>
            </a:r>
            <a:endParaRPr lang="en-US" sz="1250" dirty="0"/>
          </a:p>
        </p:txBody>
      </p:sp>
      <p:sp>
        <p:nvSpPr>
          <p:cNvPr id="3" name="Text 1"/>
          <p:cNvSpPr/>
          <p:nvPr/>
        </p:nvSpPr>
        <p:spPr>
          <a:xfrm>
            <a:off x="548640" y="786384"/>
            <a:ext cx="10515600" cy="548640"/>
          </a:xfrm>
          <a:prstGeom prst="rect">
            <a:avLst/>
          </a:prstGeom>
          <a:noFill/>
        </p:spPr>
        <p:txBody>
          <a:bodyPr wrap="square" lIns="0" tIns="0" rIns="0" bIns="0" rtlCol="0" anchor="ctr"/>
          <a:lstStyle/>
          <a:p>
            <a:pPr marL="0" indent="0">
              <a:buNone/>
            </a:pPr>
            <a:r>
              <a:rPr lang="en-US" sz="250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nhanh — Nhóm A &amp; B</a:t>
            </a:r>
            <a:endParaRPr lang="en-US" sz="2500" dirty="0"/>
          </a:p>
        </p:txBody>
      </p:sp>
      <p:graphicFrame>
        <p:nvGraphicFramePr>
          <p:cNvPr id="51" name="Table 0"/>
          <p:cNvGraphicFramePr>
            <a:graphicFrameLocks noGrp="1"/>
          </p:cNvGraphicFramePr>
          <p:nvPr/>
        </p:nvGraphicFramePr>
        <p:xfrm>
          <a:off x="548640" y="1371600"/>
          <a:ext cx="11094415" cy="4828032"/>
        </p:xfrm>
        <a:graphic>
          <a:graphicData uri="http://schemas.openxmlformats.org/drawingml/2006/table">
            <a:tbl>
              <a:tblPr/>
              <a:tblGrid>
                <a:gridCol w="2743200"/>
                <a:gridCol w="3291840"/>
                <a:gridCol w="5059375"/>
              </a:tblGrid>
              <a:tr h="402336">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Khái niệm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Từ khoá / cú pháp chính</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Khi nào dùng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Object &amp; Companion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object · companion object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Singleton, thành viên "tĩnh"</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Abstract class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abstract class/fun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Khuôn chung, ép lớp con override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Interface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interface, đa kế thừa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Định nghĩa hợp đồng dùng chung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Inheritance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open · ':' · override · super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Tái sử dụng &amp; mở rộng lớp cha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Hiding constructor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private constructor + factory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Kiểm soát chặt việc khởi tạo</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Sealed classes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sealed class, when đủ case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Tập kết quả/trạng thái giới hạn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Null safety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 · ?: ·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Tránh NullPointerException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 casting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is · as · as?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Kiểm tra &amp; ép kiểu an toàn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Deconstructing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componentN(), val (a, b)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Tách nhiều giá trị 1 dòng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Late initialization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lateinit var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Property gán trễ, không nullable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 aliases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typealias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Đặt tên gọn cho kiểu phức tạp</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6" name="Text 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50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TỔNG KẾT</a:t>
            </a:r>
            <a:endParaRPr lang="en-US" sz="1250" dirty="0"/>
          </a:p>
        </p:txBody>
      </p:sp>
      <p:sp>
        <p:nvSpPr>
          <p:cNvPr id="3" name="Text 1"/>
          <p:cNvSpPr/>
          <p:nvPr/>
        </p:nvSpPr>
        <p:spPr>
          <a:xfrm>
            <a:off x="548640" y="786384"/>
            <a:ext cx="10515600" cy="548640"/>
          </a:xfrm>
          <a:prstGeom prst="rect">
            <a:avLst/>
          </a:prstGeom>
          <a:noFill/>
        </p:spPr>
        <p:txBody>
          <a:bodyPr wrap="square" lIns="0" tIns="0" rIns="0" bIns="0" rtlCol="0" anchor="ctr"/>
          <a:lstStyle/>
          <a:p>
            <a:pPr marL="0" indent="0">
              <a:buNone/>
            </a:pPr>
            <a:r>
              <a:rPr lang="en-US" sz="250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nhanh — Nhóm C &amp; D</a:t>
            </a:r>
            <a:endParaRPr lang="en-US" sz="2500" dirty="0"/>
          </a:p>
        </p:txBody>
      </p:sp>
      <p:graphicFrame>
        <p:nvGraphicFramePr>
          <p:cNvPr id="52" name="Table 0"/>
          <p:cNvGraphicFramePr>
            <a:graphicFrameLocks noGrp="1"/>
          </p:cNvGraphicFramePr>
          <p:nvPr/>
        </p:nvGraphicFramePr>
        <p:xfrm>
          <a:off x="548640" y="1371600"/>
          <a:ext cx="11094415" cy="4828032"/>
        </p:xfrm>
        <a:graphic>
          <a:graphicData uri="http://schemas.openxmlformats.org/drawingml/2006/table">
            <a:tbl>
              <a:tblPr/>
              <a:tblGrid>
                <a:gridCol w="2743200"/>
                <a:gridCol w="3291840"/>
                <a:gridCol w="5059375"/>
              </a:tblGrid>
              <a:tr h="402336">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Khái niệm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Từ khoá / cú pháp chính</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Khi nào dùng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Higher-order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(A, B) -&gt; C làm tham số</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Truyền hành vi như dữ liệu</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Lambda expression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 x -&gt; ... }, trailing lambda, it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Viết hàm không tên gọn gàng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Extension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fun Type.name()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Thêm hàm cho class có sẵn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Infix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infix fun, gọi kiểu a op b</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Cú pháp tự nhiên, dễ đọc</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Inline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inline fun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Giảm overhead khi dùng lambda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Return &amp; local return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return · return@label</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Kiểm soát điểm thoát trong lambda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Tail recursion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tailrec fun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Đệ quy sâu, tránh StackOverflow</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Lambda extension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 -&gt; 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Xây dựng DSL, builder pattern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Operator overloading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operator fun plus/minus/...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Toán tử tự nhiên cho kiểu tự tạo</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Delegation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by · by lazy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Uỷ quyền hàm/property, hết boilerplate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Generic</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&lt;T&gt;, &lt;T : Bound&gt;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Code dùng chung nhiều kiểu, an toàn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6" name="Text 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51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822960"/>
            <a:ext cx="640080" cy="640080"/>
          </a:xfrm>
          <a:prstGeom prst="ellipse">
            <a:avLst/>
          </a:prstGeom>
          <a:solidFill>
            <a:srgbClr val="F5890B"/>
          </a:solidFill>
        </p:spPr>
      </p:sp>
      <p:pic>
        <p:nvPicPr>
          <p:cNvPr id="5" name="Image 0" descr="/home/claude/kotlin_slides/icons/checkcircle.png"/>
          <p:cNvPicPr>
            <a:picLocks noChangeAspect="1"/>
          </p:cNvPicPr>
          <p:nvPr/>
        </p:nvPicPr>
        <p:blipFill>
          <a:blip r:embed="rId1"/>
          <a:stretch>
            <a:fillRect/>
          </a:stretch>
        </p:blipFill>
        <p:spPr>
          <a:xfrm>
            <a:off x="692658" y="966978"/>
            <a:ext cx="352044" cy="352044"/>
          </a:xfrm>
          <a:prstGeom prst="rect">
            <a:avLst/>
          </a:prstGeom>
        </p:spPr>
      </p:pic>
      <p:sp>
        <p:nvSpPr>
          <p:cNvPr id="6" name="Text 3"/>
          <p:cNvSpPr/>
          <p:nvPr/>
        </p:nvSpPr>
        <p:spPr>
          <a:xfrm>
            <a:off x="548640" y="2011680"/>
            <a:ext cx="10058400" cy="10058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Cảm ơn! Hoàn thành 28 chủ đề Kotlin</a:t>
            </a:r>
            <a:endParaRPr lang="en-US" sz="3400" dirty="0"/>
          </a:p>
        </p:txBody>
      </p:sp>
      <p:sp>
        <p:nvSpPr>
          <p:cNvPr id="7" name="Text 4"/>
          <p:cNvSpPr/>
          <p:nvPr/>
        </p:nvSpPr>
        <p:spPr>
          <a:xfrm>
            <a:off x="548640" y="3017520"/>
            <a:ext cx="10058400" cy="594360"/>
          </a:xfrm>
          <a:prstGeom prst="rect">
            <a:avLst/>
          </a:prstGeom>
          <a:noFill/>
        </p:spPr>
        <p:txBody>
          <a:bodyPr wrap="square" lIns="0" tIns="0" rIns="0" bIns="0" rtlCol="0" anchor="ctr"/>
          <a:lstStyle/>
          <a:p>
            <a:pPr marL="0" indent="0">
              <a:lnSpc>
                <a:spcPct val="120000"/>
              </a:lnSpc>
              <a:buNone/>
            </a:pPr>
            <a:r>
              <a:rPr lang="en-US" sz="1400" dirty="0">
                <a:solidFill>
                  <a:srgbClr val="CADCFC"/>
                </a:solidFill>
                <a:latin typeface="Calibri" panose="020F0502020204030204" pitchFamily="34" charset="0"/>
                <a:ea typeface="Calibri" panose="020F0502020204030204" pitchFamily="34" charset="-122"/>
                <a:cs typeface="Calibri" panose="020F0502020204030204" pitchFamily="34" charset="-120"/>
              </a:rPr>
              <a:t>6 chủ đề nền tảng + 22 chủ đề nâng cao — đủ để tự tin đọc và viết phần lớn code Kotlin thực tế. </a:t>
            </a:r>
            <a:endParaRPr lang="en-US" sz="1400" dirty="0"/>
          </a:p>
        </p:txBody>
      </p:sp>
      <p:sp>
        <p:nvSpPr>
          <p:cNvPr id="8" name="Shape 5"/>
          <p:cNvSpPr/>
          <p:nvPr/>
        </p:nvSpPr>
        <p:spPr>
          <a:xfrm>
            <a:off x="548640" y="3977640"/>
            <a:ext cx="457200" cy="457200"/>
          </a:xfrm>
          <a:prstGeom prst="ellipse">
            <a:avLst/>
          </a:prstGeom>
          <a:solidFill>
            <a:srgbClr val="4A2F94"/>
          </a:solidFill>
        </p:spPr>
      </p:sp>
      <p:pic>
        <p:nvPicPr>
          <p:cNvPr id="9" name="Image 1" descr="/home/claude/kotlin_slides/icons/github.png"/>
          <p:cNvPicPr>
            <a:picLocks noChangeAspect="1"/>
          </p:cNvPicPr>
          <p:nvPr/>
        </p:nvPicPr>
        <p:blipFill>
          <a:blip r:embed="rId2"/>
          <a:stretch>
            <a:fillRect/>
          </a:stretch>
        </p:blipFill>
        <p:spPr>
          <a:xfrm>
            <a:off x="651510" y="4080510"/>
            <a:ext cx="251460" cy="251460"/>
          </a:xfrm>
          <a:prstGeom prst="rect">
            <a:avLst/>
          </a:prstGeom>
        </p:spPr>
      </p:pic>
      <p:sp>
        <p:nvSpPr>
          <p:cNvPr id="10" name="Text 6"/>
          <p:cNvSpPr/>
          <p:nvPr/>
        </p:nvSpPr>
        <p:spPr>
          <a:xfrm>
            <a:off x="1188720" y="3931920"/>
            <a:ext cx="8229600" cy="64008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github.com/ChienDev03/research_kotlin</a:t>
            </a:r>
            <a:endParaRPr lang="en-US" sz="1400" dirty="0"/>
          </a:p>
          <a:p>
            <a:pPr marL="0" indent="0">
              <a:buNone/>
            </a:pPr>
            <a:r>
              <a:rPr lang="en-US" sz="1150" dirty="0">
                <a:solidFill>
                  <a:srgbClr val="9C93C2"/>
                </a:solidFill>
                <a:latin typeface="Calibri" panose="020F0502020204030204" pitchFamily="34" charset="0"/>
                <a:ea typeface="Calibri" panose="020F0502020204030204" pitchFamily="34" charset="-122"/>
                <a:cs typeface="Calibri" panose="020F0502020204030204" pitchFamily="34" charset="-120"/>
              </a:rPr>
              <a:t>Nhánh dev · app/src/main/kotlin/com/example/hellokotlin</a:t>
            </a:r>
            <a:endParaRPr lang="en-US" sz="1400" dirty="0"/>
          </a:p>
        </p:txBody>
      </p:sp>
      <p:sp>
        <p:nvSpPr>
          <p:cNvPr id="14" name="Text 9"/>
          <p:cNvSpPr/>
          <p:nvPr/>
        </p:nvSpPr>
        <p:spPr>
          <a:xfrm>
            <a:off x="548640" y="6309360"/>
            <a:ext cx="7315200" cy="320040"/>
          </a:xfrm>
          <a:prstGeom prst="rect">
            <a:avLst/>
          </a:prstGeom>
          <a:noFill/>
        </p:spPr>
        <p:txBody>
          <a:bodyPr wrap="square" lIns="0" tIns="0" rIns="0" bIns="0" rtlCol="0" anchor="ctr"/>
          <a:lstStyle/>
          <a:p>
            <a:pPr marL="0" indent="0">
              <a:buNone/>
            </a:pPr>
            <a:r>
              <a:rPr lang="en-US" sz="1100" dirty="0">
                <a:solidFill>
                  <a:srgbClr val="9C93C2"/>
                </a:solidFill>
                <a:latin typeface="Calibri" panose="020F0502020204030204" pitchFamily="34" charset="0"/>
                <a:ea typeface="Calibri" panose="020F0502020204030204" pitchFamily="34" charset="-122"/>
                <a:cs typeface="Calibri" panose="020F0502020204030204" pitchFamily="34" charset="-120"/>
              </a:rPr>
              <a:t>CÔNG TY CÔNG NGHỆ PHẦN MỀM LUTECH</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28242</Words>
  <Application>WPS Presentation</Application>
  <PresentationFormat>On-screen Show (16:9)</PresentationFormat>
  <Paragraphs>1910</Paragraphs>
  <Slides>50</Slides>
  <Notes>52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50</vt:i4>
      </vt:variant>
    </vt:vector>
  </HeadingPairs>
  <TitlesOfParts>
    <vt:vector size="62" baseType="lpstr">
      <vt:lpstr>Arial</vt:lpstr>
      <vt:lpstr>SimSun</vt:lpstr>
      <vt:lpstr>Wingdings</vt:lpstr>
      <vt:lpstr>Calibri</vt:lpstr>
      <vt:lpstr>Calibri</vt:lpstr>
      <vt:lpstr>Calibri</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CONG TY TNHH CONG NGHE PHAN MEM LUTECH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Kotlin Fundamentals - Full</dc:title>
  <dc:creator>Lutech</dc:creator>
  <dc:subject>PptxGenJS Presentation</dc:subject>
  <cp:lastModifiedBy>Chien Ho Xuan</cp:lastModifiedBy>
  <cp:revision>9</cp:revision>
  <dcterms:created xsi:type="dcterms:W3CDTF">2026-08-24T04:31:00Z</dcterms:created>
  <dcterms:modified xsi:type="dcterms:W3CDTF">2026-09-04T09:04:49Z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AA4FD224EF6A41C5ADEA2B8279276F38_13</vt:lpwstr>
  </property>
</Properties>
</file>