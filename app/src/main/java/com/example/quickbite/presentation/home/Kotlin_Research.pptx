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4" r:id="rId41"/>
    <p:sldId id="293" r:id="rId42"/>
    <p:sldId id="295" r:id="rId43"/>
    <p:sldId id="296" r:id="rId44"/>
    <p:sldId id="297" r:id="rId45"/>
    <p:sldId id="298" r:id="rId46"/>
    <p:sldId id="299" r:id="rId47"/>
    <p:sldId id="301" r:id="rId48"/>
    <p:sldId id="302" r:id="rId49"/>
    <p:sldId id="304" r:id="rId50"/>
    <p:sldId id="305" r:id="rId51"/>
    <p:sldId id="306" r:id="rId52"/>
    <p:sldId id="307" r:id="rId53"/>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image" Target="../media/image15.png"/><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xml"/><Relationship Id="rId4" Type="http://schemas.openxmlformats.org/officeDocument/2006/relationships/image" Target="../media/image16.png"/><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xml"/><Relationship Id="rId4" Type="http://schemas.openxmlformats.org/officeDocument/2006/relationships/image" Target="../media/image10.png"/><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xml"/><Relationship Id="rId4" Type="http://schemas.openxmlformats.org/officeDocument/2006/relationships/image" Target="../media/image12.png"/><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1.xml"/><Relationship Id="rId4" Type="http://schemas.openxmlformats.org/officeDocument/2006/relationships/image" Target="../media/image18.png"/><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1.xml"/><Relationship Id="rId2" Type="http://schemas.openxmlformats.org/officeDocument/2006/relationships/image" Target="../media/image26.png"/><Relationship Id="rId1"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1772920" y="4635500"/>
            <a:ext cx="4206240" cy="4206240"/>
          </a:xfrm>
          <a:prstGeom prst="ellipse">
            <a:avLst/>
          </a:prstGeom>
          <a:solidFill>
            <a:srgbClr val="F5890B">
              <a:alpha val="18000"/>
            </a:srgbClr>
          </a:solidFill>
        </p:spPr>
      </p:sp>
      <p:sp>
        <p:nvSpPr>
          <p:cNvPr id="4" name="Shape 2"/>
          <p:cNvSpPr/>
          <p:nvPr/>
        </p:nvSpPr>
        <p:spPr>
          <a:xfrm>
            <a:off x="548640" y="685800"/>
            <a:ext cx="566928" cy="566928"/>
          </a:xfrm>
          <a:prstGeom prst="ellipse">
            <a:avLst/>
          </a:prstGeom>
          <a:solidFill>
            <a:srgbClr val="F5890B"/>
          </a:solidFill>
        </p:spPr>
      </p:sp>
      <p:pic>
        <p:nvPicPr>
          <p:cNvPr id="5" name="Image 0" descr="/home/claude/kotlin_slides/icons/code.png"/>
          <p:cNvPicPr>
            <a:picLocks noChangeAspect="1"/>
          </p:cNvPicPr>
          <p:nvPr/>
        </p:nvPicPr>
        <p:blipFill>
          <a:blip r:embed="rId1"/>
          <a:stretch>
            <a:fillRect/>
          </a:stretch>
        </p:blipFill>
        <p:spPr>
          <a:xfrm>
            <a:off x="676199" y="813359"/>
            <a:ext cx="311810" cy="311810"/>
          </a:xfrm>
          <a:prstGeom prst="rect">
            <a:avLst/>
          </a:prstGeom>
        </p:spPr>
      </p:pic>
      <p:sp>
        <p:nvSpPr>
          <p:cNvPr id="6" name="Text 3"/>
          <p:cNvSpPr/>
          <p:nvPr/>
        </p:nvSpPr>
        <p:spPr>
          <a:xfrm>
            <a:off x="1280160" y="685800"/>
            <a:ext cx="7315200" cy="566928"/>
          </a:xfrm>
          <a:prstGeom prst="rect">
            <a:avLst/>
          </a:prstGeom>
          <a:noFill/>
        </p:spPr>
        <p:txBody>
          <a:bodyPr wrap="square" lIns="0" tIns="0" rIns="0" bIns="0" rtlCol="0" anchor="ctr"/>
          <a:lstStyle/>
          <a:p>
            <a:pPr marL="0" indent="0">
              <a:buNone/>
            </a:pPr>
            <a:r>
              <a:rPr lang="en-US" sz="1300" b="1" kern="0" spc="200" dirty="0">
                <a:solidFill>
                  <a:srgbClr val="CADCFC"/>
                </a:solidFill>
                <a:latin typeface="Calibri" panose="020F0502020204030204" pitchFamily="34" charset="0"/>
                <a:ea typeface="Calibri" panose="020F0502020204030204" pitchFamily="34" charset="-122"/>
                <a:cs typeface="Calibri" panose="020F0502020204030204" pitchFamily="34" charset="-120"/>
              </a:rPr>
              <a:t>RESEARCH &amp; CODE DEMO</a:t>
            </a:r>
            <a:endParaRPr lang="en-US" sz="1300" dirty="0"/>
          </a:p>
        </p:txBody>
      </p:sp>
      <p:sp>
        <p:nvSpPr>
          <p:cNvPr id="7" name="Text 4"/>
          <p:cNvSpPr/>
          <p:nvPr/>
        </p:nvSpPr>
        <p:spPr>
          <a:xfrm>
            <a:off x="548640" y="2194560"/>
            <a:ext cx="10515600" cy="1371600"/>
          </a:xfrm>
          <a:prstGeom prst="rect">
            <a:avLst/>
          </a:prstGeom>
          <a:noFill/>
        </p:spPr>
        <p:txBody>
          <a:bodyPr wrap="square" lIns="0" tIns="0" rIns="0" bIns="0" rtlCol="0" anchor="ctr"/>
          <a:lstStyle/>
          <a:p>
            <a:pPr marL="0" indent="0">
              <a:buNone/>
            </a:pPr>
            <a:r>
              <a:rPr lang="en-US" sz="4600" b="1" dirty="0">
                <a:solidFill>
                  <a:srgbClr val="FFFFFF"/>
                </a:solidFill>
                <a:latin typeface="Calibri" panose="020F0502020204030204" pitchFamily="34" charset="0"/>
                <a:ea typeface="Calibri" panose="020F0502020204030204" pitchFamily="34" charset="-122"/>
                <a:cs typeface="Calibri" panose="020F0502020204030204" pitchFamily="34" charset="-120"/>
              </a:rPr>
              <a:t>Kotlin Fundamentals</a:t>
            </a:r>
            <a:endParaRPr lang="en-US" sz="4600" dirty="0"/>
          </a:p>
        </p:txBody>
      </p:sp>
      <p:sp>
        <p:nvSpPr>
          <p:cNvPr id="8" name="Text 5"/>
          <p:cNvSpPr/>
          <p:nvPr/>
        </p:nvSpPr>
        <p:spPr>
          <a:xfrm>
            <a:off x="548640" y="3420110"/>
            <a:ext cx="10607040" cy="640080"/>
          </a:xfrm>
          <a:prstGeom prst="rect">
            <a:avLst/>
          </a:prstGeom>
          <a:noFill/>
        </p:spPr>
        <p:txBody>
          <a:bodyPr wrap="square" lIns="0" tIns="0" rIns="0" bIns="0" rtlCol="0" anchor="ctr"/>
          <a:lstStyle/>
          <a:p>
            <a:pPr marL="0" indent="0">
              <a:buNone/>
            </a:pPr>
            <a:r>
              <a:rPr lang="en-US" sz="1700" dirty="0">
                <a:solidFill>
                  <a:srgbClr val="CADCFC"/>
                </a:solidFill>
                <a:latin typeface="Calibri" panose="020F0502020204030204" pitchFamily="34" charset="0"/>
                <a:ea typeface="Calibri" panose="020F0502020204030204" pitchFamily="34" charset="-122"/>
                <a:cs typeface="Calibri" panose="020F0502020204030204" pitchFamily="34" charset="-120"/>
              </a:rPr>
              <a:t>Từ basic  ➡ nâng cao — 28 chủ đề, kèm code demo thực tế</a:t>
            </a:r>
            <a:endParaRPr lang="en-US" sz="1700" dirty="0"/>
          </a:p>
        </p:txBody>
      </p:sp>
      <p:sp>
        <p:nvSpPr>
          <p:cNvPr id="9" name="Text 6"/>
          <p:cNvSpPr/>
          <p:nvPr/>
        </p:nvSpPr>
        <p:spPr>
          <a:xfrm>
            <a:off x="548640" y="5989320"/>
            <a:ext cx="10789920" cy="36576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Kotlin 2.4.10</a:t>
            </a:r>
            <a:r>
              <a:rPr lang="en-US" sz="1250" dirty="0">
                <a:solidFill>
                  <a:srgbClr val="CADCFC"/>
                </a:solidFill>
                <a:latin typeface="Calibri" panose="020F0502020204030204" pitchFamily="34" charset="0"/>
                <a:ea typeface="Calibri" panose="020F0502020204030204" pitchFamily="34" charset="-122"/>
                <a:cs typeface="Calibri" panose="020F0502020204030204" pitchFamily="34" charset="-120"/>
              </a:rPr>
              <a:t>   ·   Nguồn demo: github.com/ChienDev03/research_kotlin (nhánh dev)</a:t>
            </a:r>
            <a:endParaRPr lang="en-US" sz="1250" dirty="0"/>
          </a:p>
        </p:txBody>
      </p:sp>
      <p:sp>
        <p:nvSpPr>
          <p:cNvPr id="10" name="Text 7"/>
          <p:cNvSpPr/>
          <p:nvPr/>
        </p:nvSpPr>
        <p:spPr>
          <a:xfrm>
            <a:off x="548640" y="6355080"/>
            <a:ext cx="10789920" cy="320040"/>
          </a:xfrm>
          <a:prstGeom prst="rect">
            <a:avLst/>
          </a:prstGeom>
          <a:noFill/>
        </p:spPr>
        <p:txBody>
          <a:bodyPr wrap="square" lIns="0" tIns="0" rIns="0" bIns="0" rtlCol="0" anchor="ctr"/>
          <a:lstStyle/>
          <a:p>
            <a:pPr marL="0" indent="0">
              <a:buNone/>
            </a:pPr>
            <a:r>
              <a:rPr lang="en-US" sz="1100" dirty="0">
                <a:solidFill>
                  <a:srgbClr val="9C93C2"/>
                </a:solidFill>
                <a:latin typeface="Calibri" panose="020F0502020204030204" pitchFamily="34" charset="0"/>
                <a:ea typeface="Calibri" panose="020F0502020204030204" pitchFamily="34" charset="-122"/>
                <a:cs typeface="Calibri" panose="020F0502020204030204" pitchFamily="34" charset="-120"/>
              </a:rPr>
              <a:t>CÔNG TY CÔNG NGHỆ PHẦN MỀM LUTECH  ·  Tháng 8, 2026</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PHẦN 1 · NỘI DUNG</a:t>
            </a:r>
            <a:endParaRPr lang="en-US" sz="1250" dirty="0"/>
          </a:p>
        </p:txBody>
      </p:sp>
      <p:sp>
        <p:nvSpPr>
          <p:cNvPr id="3" name="Text 1"/>
          <p:cNvSpPr/>
          <p:nvPr/>
        </p:nvSpPr>
        <p:spPr>
          <a:xfrm>
            <a:off x="548640" y="868680"/>
            <a:ext cx="10515600" cy="640080"/>
          </a:xfrm>
          <a:prstGeom prst="rect">
            <a:avLst/>
          </a:prstGeom>
          <a:noFill/>
        </p:spPr>
        <p:txBody>
          <a:bodyPr wrap="square" lIns="0" tIns="0" rIns="0" bIns="0" rtlCol="0" anchor="ctr"/>
          <a:lstStyle/>
          <a:p>
            <a:pPr marL="0" indent="0">
              <a:buNone/>
            </a:pPr>
            <a:r>
              <a:rPr lang="en-US" sz="3000" b="1" dirty="0">
                <a:solidFill>
                  <a:srgbClr val="241B3D"/>
                </a:solidFill>
                <a:latin typeface="Calibri" panose="020F0502020204030204" pitchFamily="34" charset="0"/>
                <a:ea typeface="Calibri" panose="020F0502020204030204" pitchFamily="34" charset="-122"/>
                <a:cs typeface="Calibri" panose="020F0502020204030204" pitchFamily="34" charset="-120"/>
              </a:rPr>
              <a:t>Kiến thức nền tảng — 6 chủ đề</a:t>
            </a:r>
            <a:endParaRPr lang="en-US" sz="3000" dirty="0"/>
          </a:p>
        </p:txBody>
      </p:sp>
      <p:sp>
        <p:nvSpPr>
          <p:cNvPr id="4" name="Shape 2"/>
          <p:cNvSpPr/>
          <p:nvPr/>
        </p:nvSpPr>
        <p:spPr>
          <a:xfrm>
            <a:off x="548640" y="1828800"/>
            <a:ext cx="5074920" cy="1280160"/>
          </a:xfrm>
          <a:prstGeom prst="roundRect">
            <a:avLst>
              <a:gd name="adj" fmla="val 7143"/>
            </a:avLst>
          </a:prstGeom>
          <a:solidFill>
            <a:srgbClr val="F4F1FC"/>
          </a:solidFill>
        </p:spPr>
      </p:sp>
      <p:sp>
        <p:nvSpPr>
          <p:cNvPr id="5" name="Shape 3"/>
          <p:cNvSpPr/>
          <p:nvPr/>
        </p:nvSpPr>
        <p:spPr>
          <a:xfrm>
            <a:off x="804672" y="2176272"/>
            <a:ext cx="585216" cy="585216"/>
          </a:xfrm>
          <a:prstGeom prst="ellipse">
            <a:avLst/>
          </a:prstGeom>
          <a:solidFill>
            <a:srgbClr val="2D1B69"/>
          </a:solidFill>
        </p:spPr>
      </p:sp>
      <p:pic>
        <p:nvPicPr>
          <p:cNvPr id="6" name="Image 0" descr="/home/claude/kotlin_slides/icons/key.png"/>
          <p:cNvPicPr>
            <a:picLocks noChangeAspect="1"/>
          </p:cNvPicPr>
          <p:nvPr/>
        </p:nvPicPr>
        <p:blipFill>
          <a:blip r:embed="rId1"/>
          <a:stretch>
            <a:fillRect/>
          </a:stretch>
        </p:blipFill>
        <p:spPr>
          <a:xfrm>
            <a:off x="950976" y="2322576"/>
            <a:ext cx="292608" cy="292608"/>
          </a:xfrm>
          <a:prstGeom prst="rect">
            <a:avLst/>
          </a:prstGeom>
        </p:spPr>
      </p:pic>
      <p:sp>
        <p:nvSpPr>
          <p:cNvPr id="7" name="Text 4"/>
          <p:cNvSpPr/>
          <p:nvPr/>
        </p:nvSpPr>
        <p:spPr>
          <a:xfrm>
            <a:off x="4754880" y="1920240"/>
            <a:ext cx="68580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01</a:t>
            </a:r>
            <a:endParaRPr lang="en-US" sz="2200" dirty="0"/>
          </a:p>
        </p:txBody>
      </p:sp>
      <p:sp>
        <p:nvSpPr>
          <p:cNvPr id="8" name="Text 5"/>
          <p:cNvSpPr/>
          <p:nvPr/>
        </p:nvSpPr>
        <p:spPr>
          <a:xfrm>
            <a:off x="1554480" y="195681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Variables &amp; Constants</a:t>
            </a:r>
            <a:endParaRPr lang="en-US" sz="1600" dirty="0"/>
          </a:p>
        </p:txBody>
      </p:sp>
      <p:sp>
        <p:nvSpPr>
          <p:cNvPr id="9" name="Text 6"/>
          <p:cNvSpPr/>
          <p:nvPr/>
        </p:nvSpPr>
        <p:spPr>
          <a:xfrm>
            <a:off x="1554480" y="2377440"/>
            <a:ext cx="3886200" cy="548640"/>
          </a:xfrm>
          <a:prstGeom prst="rect">
            <a:avLst/>
          </a:prstGeom>
          <a:noFill/>
        </p:spPr>
        <p:txBody>
          <a:bodyPr wrap="square" lIns="0" tIns="0" rIns="0" bIns="0" rtlCol="0" anchor="ctr"/>
          <a:lstStyle/>
          <a:p>
            <a:pPr marL="0" indent="0">
              <a:buNone/>
            </a:pPr>
            <a:r>
              <a:rPr lang="en-US" sz="1200" dirty="0">
                <a:solidFill>
                  <a:srgbClr val="6B6483"/>
                </a:solidFill>
                <a:latin typeface="Calibri" panose="020F0502020204030204" pitchFamily="34" charset="0"/>
                <a:ea typeface="Calibri" panose="020F0502020204030204" pitchFamily="34" charset="-122"/>
                <a:cs typeface="Calibri" panose="020F0502020204030204" pitchFamily="34" charset="-120"/>
              </a:rPr>
              <a:t>val, var, const val, type inference</a:t>
            </a:r>
            <a:endParaRPr lang="en-US" sz="1200" dirty="0"/>
          </a:p>
        </p:txBody>
      </p:sp>
      <p:sp>
        <p:nvSpPr>
          <p:cNvPr id="10" name="Shape 7"/>
          <p:cNvSpPr/>
          <p:nvPr/>
        </p:nvSpPr>
        <p:spPr>
          <a:xfrm>
            <a:off x="6080760" y="1828800"/>
            <a:ext cx="5074920" cy="1280160"/>
          </a:xfrm>
          <a:prstGeom prst="roundRect">
            <a:avLst>
              <a:gd name="adj" fmla="val 7143"/>
            </a:avLst>
          </a:prstGeom>
          <a:solidFill>
            <a:srgbClr val="F4F1FC"/>
          </a:solidFill>
        </p:spPr>
      </p:sp>
      <p:sp>
        <p:nvSpPr>
          <p:cNvPr id="11" name="Shape 8"/>
          <p:cNvSpPr/>
          <p:nvPr/>
        </p:nvSpPr>
        <p:spPr>
          <a:xfrm>
            <a:off x="6336792" y="2176272"/>
            <a:ext cx="585216" cy="585216"/>
          </a:xfrm>
          <a:prstGeom prst="ellipse">
            <a:avLst/>
          </a:prstGeom>
          <a:solidFill>
            <a:srgbClr val="2D1B69"/>
          </a:solidFill>
        </p:spPr>
      </p:sp>
      <p:pic>
        <p:nvPicPr>
          <p:cNvPr id="12" name="Image 1" descr="/home/claude/kotlin_slides/icons/shuffle.png"/>
          <p:cNvPicPr>
            <a:picLocks noChangeAspect="1"/>
          </p:cNvPicPr>
          <p:nvPr/>
        </p:nvPicPr>
        <p:blipFill>
          <a:blip r:embed="rId2"/>
          <a:stretch>
            <a:fillRect/>
          </a:stretch>
        </p:blipFill>
        <p:spPr>
          <a:xfrm>
            <a:off x="6483096" y="2322576"/>
            <a:ext cx="292608" cy="292608"/>
          </a:xfrm>
          <a:prstGeom prst="rect">
            <a:avLst/>
          </a:prstGeom>
        </p:spPr>
      </p:pic>
      <p:sp>
        <p:nvSpPr>
          <p:cNvPr id="13" name="Text 9"/>
          <p:cNvSpPr/>
          <p:nvPr/>
        </p:nvSpPr>
        <p:spPr>
          <a:xfrm>
            <a:off x="10287000" y="1920240"/>
            <a:ext cx="68580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02</a:t>
            </a:r>
            <a:endParaRPr lang="en-US" sz="2200" dirty="0"/>
          </a:p>
        </p:txBody>
      </p:sp>
      <p:sp>
        <p:nvSpPr>
          <p:cNvPr id="14" name="Text 10"/>
          <p:cNvSpPr/>
          <p:nvPr/>
        </p:nvSpPr>
        <p:spPr>
          <a:xfrm>
            <a:off x="7086600" y="195681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Conditionals</a:t>
            </a:r>
            <a:endParaRPr lang="en-US" sz="1600" dirty="0"/>
          </a:p>
        </p:txBody>
      </p:sp>
      <p:sp>
        <p:nvSpPr>
          <p:cNvPr id="15" name="Text 11"/>
          <p:cNvSpPr/>
          <p:nvPr/>
        </p:nvSpPr>
        <p:spPr>
          <a:xfrm>
            <a:off x="7086600" y="2377440"/>
            <a:ext cx="3886200" cy="548640"/>
          </a:xfrm>
          <a:prstGeom prst="rect">
            <a:avLst/>
          </a:prstGeom>
          <a:noFill/>
        </p:spPr>
        <p:txBody>
          <a:bodyPr wrap="square" lIns="0" tIns="0" rIns="0" bIns="0" rtlCol="0" anchor="ctr"/>
          <a:lstStyle/>
          <a:p>
            <a:pPr marL="0" indent="0">
              <a:buNone/>
            </a:pPr>
            <a:r>
              <a:rPr lang="en-US" sz="1200" dirty="0">
                <a:solidFill>
                  <a:srgbClr val="6B6483"/>
                </a:solidFill>
                <a:latin typeface="Calibri" panose="020F0502020204030204" pitchFamily="34" charset="0"/>
                <a:ea typeface="Calibri" panose="020F0502020204030204" pitchFamily="34" charset="-122"/>
                <a:cs typeface="Calibri" panose="020F0502020204030204" pitchFamily="34" charset="-120"/>
              </a:rPr>
              <a:t>if-else và when (switch-case)</a:t>
            </a:r>
            <a:endParaRPr lang="en-US" sz="1200" dirty="0"/>
          </a:p>
        </p:txBody>
      </p:sp>
      <p:sp>
        <p:nvSpPr>
          <p:cNvPr id="16" name="Shape 12"/>
          <p:cNvSpPr/>
          <p:nvPr/>
        </p:nvSpPr>
        <p:spPr>
          <a:xfrm>
            <a:off x="548640" y="3383280"/>
            <a:ext cx="5074920" cy="1280160"/>
          </a:xfrm>
          <a:prstGeom prst="roundRect">
            <a:avLst>
              <a:gd name="adj" fmla="val 7143"/>
            </a:avLst>
          </a:prstGeom>
          <a:solidFill>
            <a:srgbClr val="F4F1FC"/>
          </a:solidFill>
        </p:spPr>
      </p:sp>
      <p:sp>
        <p:nvSpPr>
          <p:cNvPr id="17" name="Shape 13"/>
          <p:cNvSpPr/>
          <p:nvPr/>
        </p:nvSpPr>
        <p:spPr>
          <a:xfrm>
            <a:off x="804672" y="3730752"/>
            <a:ext cx="585216" cy="585216"/>
          </a:xfrm>
          <a:prstGeom prst="ellipse">
            <a:avLst/>
          </a:prstGeom>
          <a:solidFill>
            <a:srgbClr val="2D1B69"/>
          </a:solidFill>
        </p:spPr>
      </p:sp>
      <p:pic>
        <p:nvPicPr>
          <p:cNvPr id="18" name="Image 2" descr="/home/claude/kotlin_slides/icons/layers.png"/>
          <p:cNvPicPr>
            <a:picLocks noChangeAspect="1"/>
          </p:cNvPicPr>
          <p:nvPr/>
        </p:nvPicPr>
        <p:blipFill>
          <a:blip r:embed="rId3"/>
          <a:stretch>
            <a:fillRect/>
          </a:stretch>
        </p:blipFill>
        <p:spPr>
          <a:xfrm>
            <a:off x="950976" y="3877056"/>
            <a:ext cx="292608" cy="292608"/>
          </a:xfrm>
          <a:prstGeom prst="rect">
            <a:avLst/>
          </a:prstGeom>
        </p:spPr>
      </p:pic>
      <p:sp>
        <p:nvSpPr>
          <p:cNvPr id="19" name="Text 14"/>
          <p:cNvSpPr/>
          <p:nvPr/>
        </p:nvSpPr>
        <p:spPr>
          <a:xfrm>
            <a:off x="4754880" y="3474720"/>
            <a:ext cx="68580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03</a:t>
            </a:r>
            <a:endParaRPr lang="en-US" sz="2200" dirty="0"/>
          </a:p>
        </p:txBody>
      </p:sp>
      <p:sp>
        <p:nvSpPr>
          <p:cNvPr id="20" name="Text 15"/>
          <p:cNvSpPr/>
          <p:nvPr/>
        </p:nvSpPr>
        <p:spPr>
          <a:xfrm>
            <a:off x="1554480" y="351129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Collections</a:t>
            </a:r>
            <a:endParaRPr lang="en-US" sz="1600" dirty="0"/>
          </a:p>
        </p:txBody>
      </p:sp>
      <p:sp>
        <p:nvSpPr>
          <p:cNvPr id="21" name="Text 16"/>
          <p:cNvSpPr/>
          <p:nvPr/>
        </p:nvSpPr>
        <p:spPr>
          <a:xfrm>
            <a:off x="1554480" y="3931920"/>
            <a:ext cx="3886200" cy="548640"/>
          </a:xfrm>
          <a:prstGeom prst="rect">
            <a:avLst/>
          </a:prstGeom>
          <a:noFill/>
        </p:spPr>
        <p:txBody>
          <a:bodyPr wrap="square" lIns="0" tIns="0" rIns="0" bIns="0" rtlCol="0" anchor="ctr"/>
          <a:lstStyle/>
          <a:p>
            <a:pPr marL="0" indent="0">
              <a:buNone/>
            </a:pPr>
            <a:r>
              <a:rPr lang="en-US" sz="1200" dirty="0">
                <a:solidFill>
                  <a:srgbClr val="6B6483"/>
                </a:solidFill>
                <a:latin typeface="Calibri" panose="020F0502020204030204" pitchFamily="34" charset="0"/>
                <a:ea typeface="Calibri" panose="020F0502020204030204" pitchFamily="34" charset="-122"/>
                <a:cs typeface="Calibri" panose="020F0502020204030204" pitchFamily="34" charset="-120"/>
              </a:rPr>
              <a:t>List, Set, Map — mutable &amp; immutable</a:t>
            </a:r>
            <a:endParaRPr lang="en-US" sz="1200" dirty="0"/>
          </a:p>
        </p:txBody>
      </p:sp>
      <p:sp>
        <p:nvSpPr>
          <p:cNvPr id="22" name="Shape 17"/>
          <p:cNvSpPr/>
          <p:nvPr/>
        </p:nvSpPr>
        <p:spPr>
          <a:xfrm>
            <a:off x="6080760" y="3383280"/>
            <a:ext cx="5074920" cy="1280160"/>
          </a:xfrm>
          <a:prstGeom prst="roundRect">
            <a:avLst>
              <a:gd name="adj" fmla="val 7143"/>
            </a:avLst>
          </a:prstGeom>
          <a:solidFill>
            <a:srgbClr val="F4F1FC"/>
          </a:solidFill>
        </p:spPr>
      </p:sp>
      <p:sp>
        <p:nvSpPr>
          <p:cNvPr id="23" name="Shape 18"/>
          <p:cNvSpPr/>
          <p:nvPr/>
        </p:nvSpPr>
        <p:spPr>
          <a:xfrm>
            <a:off x="6336792" y="3730752"/>
            <a:ext cx="585216" cy="585216"/>
          </a:xfrm>
          <a:prstGeom prst="ellipse">
            <a:avLst/>
          </a:prstGeom>
          <a:solidFill>
            <a:srgbClr val="2D1B69"/>
          </a:solidFill>
        </p:spPr>
      </p:sp>
      <p:pic>
        <p:nvPicPr>
          <p:cNvPr id="24" name="Image 3" descr="/home/claude/kotlin_slides/icons/box.png"/>
          <p:cNvPicPr>
            <a:picLocks noChangeAspect="1"/>
          </p:cNvPicPr>
          <p:nvPr/>
        </p:nvPicPr>
        <p:blipFill>
          <a:blip r:embed="rId4"/>
          <a:stretch>
            <a:fillRect/>
          </a:stretch>
        </p:blipFill>
        <p:spPr>
          <a:xfrm>
            <a:off x="6483096" y="3877056"/>
            <a:ext cx="292608" cy="292608"/>
          </a:xfrm>
          <a:prstGeom prst="rect">
            <a:avLst/>
          </a:prstGeom>
        </p:spPr>
      </p:pic>
      <p:sp>
        <p:nvSpPr>
          <p:cNvPr id="25" name="Text 19"/>
          <p:cNvSpPr/>
          <p:nvPr/>
        </p:nvSpPr>
        <p:spPr>
          <a:xfrm>
            <a:off x="10287000" y="3474720"/>
            <a:ext cx="68580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04</a:t>
            </a:r>
            <a:endParaRPr lang="en-US" sz="2200" dirty="0"/>
          </a:p>
        </p:txBody>
      </p:sp>
      <p:sp>
        <p:nvSpPr>
          <p:cNvPr id="26" name="Text 20"/>
          <p:cNvSpPr/>
          <p:nvPr/>
        </p:nvSpPr>
        <p:spPr>
          <a:xfrm>
            <a:off x="7086600" y="351129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Class</a:t>
            </a:r>
            <a:endParaRPr lang="en-US" sz="1600" dirty="0"/>
          </a:p>
        </p:txBody>
      </p:sp>
      <p:sp>
        <p:nvSpPr>
          <p:cNvPr id="27" name="Text 21"/>
          <p:cNvSpPr/>
          <p:nvPr/>
        </p:nvSpPr>
        <p:spPr>
          <a:xfrm>
            <a:off x="7086600" y="3931920"/>
            <a:ext cx="3886200" cy="548640"/>
          </a:xfrm>
          <a:prstGeom prst="rect">
            <a:avLst/>
          </a:prstGeom>
          <a:noFill/>
        </p:spPr>
        <p:txBody>
          <a:bodyPr wrap="square" lIns="0" tIns="0" rIns="0" bIns="0" rtlCol="0" anchor="ctr"/>
          <a:lstStyle/>
          <a:p>
            <a:pPr marL="0" indent="0">
              <a:buNone/>
            </a:pPr>
            <a:r>
              <a:rPr lang="en-US" sz="1200" dirty="0">
                <a:solidFill>
                  <a:srgbClr val="6B6483"/>
                </a:solidFill>
                <a:latin typeface="Calibri" panose="020F0502020204030204" pitchFamily="34" charset="0"/>
                <a:ea typeface="Calibri" panose="020F0502020204030204" pitchFamily="34" charset="-122"/>
                <a:cs typeface="Calibri" panose="020F0502020204030204" pitchFamily="34" charset="-120"/>
              </a:rPr>
              <a:t>Constructor, init, kế thừa (open/override)</a:t>
            </a:r>
            <a:endParaRPr lang="en-US" sz="1200" dirty="0"/>
          </a:p>
        </p:txBody>
      </p:sp>
      <p:sp>
        <p:nvSpPr>
          <p:cNvPr id="28" name="Shape 22"/>
          <p:cNvSpPr/>
          <p:nvPr/>
        </p:nvSpPr>
        <p:spPr>
          <a:xfrm>
            <a:off x="548640" y="4937760"/>
            <a:ext cx="5074920" cy="1280160"/>
          </a:xfrm>
          <a:prstGeom prst="roundRect">
            <a:avLst>
              <a:gd name="adj" fmla="val 7143"/>
            </a:avLst>
          </a:prstGeom>
          <a:solidFill>
            <a:srgbClr val="F4F1FC"/>
          </a:solidFill>
        </p:spPr>
      </p:sp>
      <p:sp>
        <p:nvSpPr>
          <p:cNvPr id="29" name="Shape 23"/>
          <p:cNvSpPr/>
          <p:nvPr/>
        </p:nvSpPr>
        <p:spPr>
          <a:xfrm>
            <a:off x="804672" y="5285232"/>
            <a:ext cx="585216" cy="585216"/>
          </a:xfrm>
          <a:prstGeom prst="ellipse">
            <a:avLst/>
          </a:prstGeom>
          <a:solidFill>
            <a:srgbClr val="2D1B69"/>
          </a:solidFill>
        </p:spPr>
      </p:sp>
      <p:pic>
        <p:nvPicPr>
          <p:cNvPr id="30" name="Image 4" descr="/home/claude/kotlin_slides/icons/copy.png"/>
          <p:cNvPicPr>
            <a:picLocks noChangeAspect="1"/>
          </p:cNvPicPr>
          <p:nvPr/>
        </p:nvPicPr>
        <p:blipFill>
          <a:blip r:embed="rId5"/>
          <a:stretch>
            <a:fillRect/>
          </a:stretch>
        </p:blipFill>
        <p:spPr>
          <a:xfrm>
            <a:off x="950976" y="5431536"/>
            <a:ext cx="292608" cy="292608"/>
          </a:xfrm>
          <a:prstGeom prst="rect">
            <a:avLst/>
          </a:prstGeom>
        </p:spPr>
      </p:pic>
      <p:sp>
        <p:nvSpPr>
          <p:cNvPr id="31" name="Text 24"/>
          <p:cNvSpPr/>
          <p:nvPr/>
        </p:nvSpPr>
        <p:spPr>
          <a:xfrm>
            <a:off x="4754880" y="5029200"/>
            <a:ext cx="68580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05</a:t>
            </a:r>
            <a:endParaRPr lang="en-US" sz="2200" dirty="0"/>
          </a:p>
        </p:txBody>
      </p:sp>
      <p:sp>
        <p:nvSpPr>
          <p:cNvPr id="32" name="Text 25"/>
          <p:cNvSpPr/>
          <p:nvPr/>
        </p:nvSpPr>
        <p:spPr>
          <a:xfrm>
            <a:off x="1554480" y="506577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Data class</a:t>
            </a:r>
            <a:endParaRPr lang="en-US" sz="1600" dirty="0"/>
          </a:p>
        </p:txBody>
      </p:sp>
      <p:sp>
        <p:nvSpPr>
          <p:cNvPr id="33" name="Text 26"/>
          <p:cNvSpPr/>
          <p:nvPr/>
        </p:nvSpPr>
        <p:spPr>
          <a:xfrm>
            <a:off x="1554480" y="5486400"/>
            <a:ext cx="3886200" cy="548640"/>
          </a:xfrm>
          <a:prstGeom prst="rect">
            <a:avLst/>
          </a:prstGeom>
          <a:noFill/>
        </p:spPr>
        <p:txBody>
          <a:bodyPr wrap="square" lIns="0" tIns="0" rIns="0" bIns="0" rtlCol="0" anchor="ctr"/>
          <a:lstStyle/>
          <a:p>
            <a:pPr marL="0" indent="0">
              <a:buNone/>
            </a:pPr>
            <a:r>
              <a:rPr lang="en-US" sz="1200" dirty="0">
                <a:solidFill>
                  <a:srgbClr val="6B6483"/>
                </a:solidFill>
                <a:latin typeface="Calibri" panose="020F0502020204030204" pitchFamily="34" charset="0"/>
                <a:ea typeface="Calibri" panose="020F0502020204030204" pitchFamily="34" charset="-122"/>
                <a:cs typeface="Calibri" panose="020F0502020204030204" pitchFamily="34" charset="-120"/>
              </a:rPr>
              <a:t>equals/hashCode/toString/copy tự sinh</a:t>
            </a:r>
            <a:endParaRPr lang="en-US" sz="1200" dirty="0"/>
          </a:p>
        </p:txBody>
      </p:sp>
      <p:sp>
        <p:nvSpPr>
          <p:cNvPr id="34" name="Shape 27"/>
          <p:cNvSpPr/>
          <p:nvPr/>
        </p:nvSpPr>
        <p:spPr>
          <a:xfrm>
            <a:off x="6080760" y="4937760"/>
            <a:ext cx="5074920" cy="1280160"/>
          </a:xfrm>
          <a:prstGeom prst="roundRect">
            <a:avLst>
              <a:gd name="adj" fmla="val 7143"/>
            </a:avLst>
          </a:prstGeom>
          <a:solidFill>
            <a:srgbClr val="F4F1FC"/>
          </a:solidFill>
        </p:spPr>
      </p:sp>
      <p:sp>
        <p:nvSpPr>
          <p:cNvPr id="35" name="Shape 28"/>
          <p:cNvSpPr/>
          <p:nvPr/>
        </p:nvSpPr>
        <p:spPr>
          <a:xfrm>
            <a:off x="6336792" y="5285232"/>
            <a:ext cx="585216" cy="585216"/>
          </a:xfrm>
          <a:prstGeom prst="ellipse">
            <a:avLst/>
          </a:prstGeom>
          <a:solidFill>
            <a:srgbClr val="2D1B69"/>
          </a:solidFill>
        </p:spPr>
      </p:sp>
      <p:pic>
        <p:nvPicPr>
          <p:cNvPr id="36" name="Image 5" descr="/home/claude/kotlin_slides/icons/tag.png"/>
          <p:cNvPicPr>
            <a:picLocks noChangeAspect="1"/>
          </p:cNvPicPr>
          <p:nvPr/>
        </p:nvPicPr>
        <p:blipFill>
          <a:blip r:embed="rId6"/>
          <a:stretch>
            <a:fillRect/>
          </a:stretch>
        </p:blipFill>
        <p:spPr>
          <a:xfrm>
            <a:off x="6483096" y="5431536"/>
            <a:ext cx="292608" cy="292608"/>
          </a:xfrm>
          <a:prstGeom prst="rect">
            <a:avLst/>
          </a:prstGeom>
        </p:spPr>
      </p:pic>
      <p:sp>
        <p:nvSpPr>
          <p:cNvPr id="37" name="Text 29"/>
          <p:cNvSpPr/>
          <p:nvPr/>
        </p:nvSpPr>
        <p:spPr>
          <a:xfrm>
            <a:off x="10287000" y="5029200"/>
            <a:ext cx="68580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06</a:t>
            </a:r>
            <a:endParaRPr lang="en-US" sz="2200" dirty="0"/>
          </a:p>
        </p:txBody>
      </p:sp>
      <p:sp>
        <p:nvSpPr>
          <p:cNvPr id="38" name="Text 30"/>
          <p:cNvSpPr/>
          <p:nvPr/>
        </p:nvSpPr>
        <p:spPr>
          <a:xfrm>
            <a:off x="7086600" y="506577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Enum class</a:t>
            </a:r>
            <a:endParaRPr lang="en-US" sz="1600" dirty="0"/>
          </a:p>
        </p:txBody>
      </p:sp>
      <p:sp>
        <p:nvSpPr>
          <p:cNvPr id="39" name="Text 31"/>
          <p:cNvSpPr/>
          <p:nvPr/>
        </p:nvSpPr>
        <p:spPr>
          <a:xfrm>
            <a:off x="7086600" y="5486400"/>
            <a:ext cx="3886200" cy="548640"/>
          </a:xfrm>
          <a:prstGeom prst="rect">
            <a:avLst/>
          </a:prstGeom>
          <a:noFill/>
        </p:spPr>
        <p:txBody>
          <a:bodyPr wrap="square" lIns="0" tIns="0" rIns="0" bIns="0" rtlCol="0" anchor="ctr"/>
          <a:lstStyle/>
          <a:p>
            <a:pPr marL="0" indent="0">
              <a:buNone/>
            </a:pPr>
            <a:r>
              <a:rPr lang="en-US" sz="1200" dirty="0">
                <a:solidFill>
                  <a:srgbClr val="6B6483"/>
                </a:solidFill>
                <a:latin typeface="Calibri" panose="020F0502020204030204" pitchFamily="34" charset="0"/>
                <a:ea typeface="Calibri" panose="020F0502020204030204" pitchFamily="34" charset="-122"/>
                <a:cs typeface="Calibri" panose="020F0502020204030204" pitchFamily="34" charset="-120"/>
              </a:rPr>
              <a:t>Tập giá trị hữu hạn, an toàn kiểu</a:t>
            </a:r>
            <a:endParaRPr lang="en-US" sz="1200" dirty="0"/>
          </a:p>
        </p:txBody>
      </p:sp>
      <p:sp>
        <p:nvSpPr>
          <p:cNvPr id="40" name="Text 3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41" name="Text 3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2</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01</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key.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400" b="1" dirty="0">
                <a:solidFill>
                  <a:srgbClr val="FFFFFF"/>
                </a:solidFill>
                <a:latin typeface="Calibri" panose="020F0502020204030204" pitchFamily="34" charset="0"/>
                <a:ea typeface="Calibri" panose="020F0502020204030204" pitchFamily="34" charset="-122"/>
                <a:cs typeface="Calibri" panose="020F0502020204030204" pitchFamily="34" charset="-120"/>
              </a:rPr>
              <a:t>Variables &amp; Constants</a:t>
            </a:r>
            <a:endParaRPr lang="en-US" sz="3400" dirty="0"/>
          </a:p>
        </p:txBody>
      </p:sp>
      <p:sp>
        <p:nvSpPr>
          <p:cNvPr id="8" name="Text 5"/>
          <p:cNvSpPr/>
          <p:nvPr/>
        </p:nvSpPr>
        <p:spPr>
          <a:xfrm>
            <a:off x="548640" y="4983480"/>
            <a:ext cx="9692640" cy="548640"/>
          </a:xfrm>
          <a:prstGeom prst="rect">
            <a:avLst/>
          </a:prstGeom>
          <a:noFill/>
        </p:spPr>
        <p:txBody>
          <a:bodyPr wrap="square" lIns="0" tIns="0" rIns="0" bIns="0" rtlCol="0" anchor="ctr"/>
          <a:lstStyle/>
          <a:p>
            <a:pPr marL="0" indent="0">
              <a:buNone/>
            </a:pPr>
            <a:r>
              <a:rPr lang="en-US" sz="1500" dirty="0">
                <a:solidFill>
                  <a:srgbClr val="CADCFC"/>
                </a:solidFill>
                <a:latin typeface="Calibri" panose="020F0502020204030204" pitchFamily="34" charset="0"/>
                <a:ea typeface="Calibri" panose="020F0502020204030204" pitchFamily="34" charset="-122"/>
                <a:cs typeface="Calibri" panose="020F0502020204030204" pitchFamily="34" charset="-120"/>
              </a:rPr>
              <a:t>Cách khai báo và quản lý dữ liệu trong Kotlin: val, var, const val.</a:t>
            </a:r>
            <a:endParaRPr lang="en-US" sz="150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01 · KHÁI NIỆM</a:t>
            </a:r>
            <a:endParaRPr lang="en-US" sz="1250" dirty="0"/>
          </a:p>
        </p:txBody>
      </p:sp>
      <p:sp>
        <p:nvSpPr>
          <p:cNvPr id="3" name="Text 1"/>
          <p:cNvSpPr/>
          <p:nvPr/>
        </p:nvSpPr>
        <p:spPr>
          <a:xfrm>
            <a:off x="548640" y="868680"/>
            <a:ext cx="9601200" cy="594360"/>
          </a:xfrm>
          <a:prstGeom prst="rect">
            <a:avLst/>
          </a:prstGeom>
          <a:noFill/>
        </p:spPr>
        <p:txBody>
          <a:bodyPr wrap="square" lIns="0" tIns="0" rIns="0" bIns="0" rtlCol="0" anchor="ctr"/>
          <a:lstStyle/>
          <a:p>
            <a:pPr marL="0" indent="0">
              <a:buNone/>
            </a:pPr>
            <a:r>
              <a:rPr lang="en-US" sz="2800" b="1" dirty="0">
                <a:solidFill>
                  <a:srgbClr val="241B3D"/>
                </a:solidFill>
                <a:latin typeface="Calibri" panose="020F0502020204030204" pitchFamily="34" charset="0"/>
                <a:ea typeface="Calibri" panose="020F0502020204030204" pitchFamily="34" charset="-122"/>
                <a:cs typeface="Calibri" panose="020F0502020204030204" pitchFamily="34" charset="-120"/>
              </a:rPr>
              <a:t>Variables &amp; Constants</a:t>
            </a:r>
            <a:endParaRPr lang="en-US" sz="2800" dirty="0"/>
          </a:p>
        </p:txBody>
      </p:sp>
      <p:sp>
        <p:nvSpPr>
          <p:cNvPr id="4" name="Text 2"/>
          <p:cNvSpPr/>
          <p:nvPr/>
        </p:nvSpPr>
        <p:spPr>
          <a:xfrm>
            <a:off x="548640" y="1417320"/>
            <a:ext cx="10058400" cy="365760"/>
          </a:xfrm>
          <a:prstGeom prst="rect">
            <a:avLst/>
          </a:prstGeom>
          <a:noFill/>
        </p:spPr>
        <p:txBody>
          <a:bodyPr wrap="square" lIns="0" tIns="0" rIns="0" bIns="0" rtlCol="0" anchor="ctr"/>
          <a:lstStyle/>
          <a:p>
            <a:pPr marL="0" indent="0">
              <a:buNone/>
            </a:pPr>
            <a:r>
              <a:rPr lang="en-US" sz="1300" dirty="0">
                <a:solidFill>
                  <a:srgbClr val="6B6483"/>
                </a:solidFill>
                <a:latin typeface="Calibri" panose="020F0502020204030204" pitchFamily="34" charset="0"/>
                <a:ea typeface="Calibri" panose="020F0502020204030204" pitchFamily="34" charset="-122"/>
                <a:cs typeface="Calibri" panose="020F0502020204030204" pitchFamily="34" charset="-120"/>
              </a:rPr>
              <a:t>Khai báo dữ liệu với val / var — ưu tiên bất biến khi có thể.</a:t>
            </a:r>
            <a:endParaRPr lang="en-US" sz="1300" dirty="0"/>
          </a:p>
        </p:txBody>
      </p:sp>
      <p:sp>
        <p:nvSpPr>
          <p:cNvPr id="5" name="Shape 3"/>
          <p:cNvSpPr/>
          <p:nvPr/>
        </p:nvSpPr>
        <p:spPr>
          <a:xfrm>
            <a:off x="548640" y="2020824"/>
            <a:ext cx="512064" cy="512064"/>
          </a:xfrm>
          <a:prstGeom prst="ellipse">
            <a:avLst/>
          </a:prstGeom>
          <a:solidFill>
            <a:srgbClr val="2D1B69"/>
          </a:solidFill>
        </p:spPr>
      </p:sp>
      <p:pic>
        <p:nvPicPr>
          <p:cNvPr id="6" name="Image 0" descr="/home/claude/kotlin_slides/icons/lock.png"/>
          <p:cNvPicPr>
            <a:picLocks noChangeAspect="1"/>
          </p:cNvPicPr>
          <p:nvPr/>
        </p:nvPicPr>
        <p:blipFill>
          <a:blip r:embed="rId1"/>
          <a:stretch>
            <a:fillRect/>
          </a:stretch>
        </p:blipFill>
        <p:spPr>
          <a:xfrm>
            <a:off x="676656" y="2148840"/>
            <a:ext cx="256032" cy="256032"/>
          </a:xfrm>
          <a:prstGeom prst="rect">
            <a:avLst/>
          </a:prstGeom>
        </p:spPr>
      </p:pic>
      <p:sp>
        <p:nvSpPr>
          <p:cNvPr id="7" name="Text 4"/>
          <p:cNvSpPr/>
          <p:nvPr/>
        </p:nvSpPr>
        <p:spPr>
          <a:xfrm>
            <a:off x="1325880" y="196596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val — bất biến (immutable)</a:t>
            </a:r>
            <a:endParaRPr lang="en-US" sz="1550" dirty="0"/>
          </a:p>
        </p:txBody>
      </p:sp>
      <p:sp>
        <p:nvSpPr>
          <p:cNvPr id="8" name="Text 5"/>
          <p:cNvSpPr/>
          <p:nvPr/>
        </p:nvSpPr>
        <p:spPr>
          <a:xfrm>
            <a:off x="1325880" y="229514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Gán giá trị một lần duy nhất, không thể gán lại. Nên ưu tiên val để code an toàn và dễ suy luận hơn.</a:t>
            </a:r>
            <a:endParaRPr lang="en-US" sz="1250" dirty="0"/>
          </a:p>
        </p:txBody>
      </p:sp>
      <p:sp>
        <p:nvSpPr>
          <p:cNvPr id="9" name="Shape 6"/>
          <p:cNvSpPr/>
          <p:nvPr/>
        </p:nvSpPr>
        <p:spPr>
          <a:xfrm>
            <a:off x="548640" y="3095244"/>
            <a:ext cx="512064" cy="512064"/>
          </a:xfrm>
          <a:prstGeom prst="ellipse">
            <a:avLst/>
          </a:prstGeom>
          <a:solidFill>
            <a:srgbClr val="F5890B"/>
          </a:solidFill>
        </p:spPr>
      </p:sp>
      <p:pic>
        <p:nvPicPr>
          <p:cNvPr id="10" name="Image 1" descr="/home/claude/kotlin_slides/icons/edit.png"/>
          <p:cNvPicPr>
            <a:picLocks noChangeAspect="1"/>
          </p:cNvPicPr>
          <p:nvPr/>
        </p:nvPicPr>
        <p:blipFill>
          <a:blip r:embed="rId2"/>
          <a:stretch>
            <a:fillRect/>
          </a:stretch>
        </p:blipFill>
        <p:spPr>
          <a:xfrm>
            <a:off x="676656" y="3223260"/>
            <a:ext cx="256032" cy="256032"/>
          </a:xfrm>
          <a:prstGeom prst="rect">
            <a:avLst/>
          </a:prstGeom>
        </p:spPr>
      </p:pic>
      <p:sp>
        <p:nvSpPr>
          <p:cNvPr id="11" name="Text 7"/>
          <p:cNvSpPr/>
          <p:nvPr/>
        </p:nvSpPr>
        <p:spPr>
          <a:xfrm>
            <a:off x="1325880" y="304038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var — khả biến (mutable)</a:t>
            </a:r>
            <a:endParaRPr lang="en-US" sz="1550" dirty="0"/>
          </a:p>
        </p:txBody>
      </p:sp>
      <p:sp>
        <p:nvSpPr>
          <p:cNvPr id="12" name="Text 8"/>
          <p:cNvSpPr/>
          <p:nvPr/>
        </p:nvSpPr>
        <p:spPr>
          <a:xfrm>
            <a:off x="1325880" y="336956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Cho phép gán lại giá trị khi dữ liệu thực sự cần thay đổi theo thời gian, ví dụ bộ đếm hay trạng thái tiến độ.</a:t>
            </a:r>
            <a:endParaRPr lang="en-US" sz="1250" dirty="0"/>
          </a:p>
        </p:txBody>
      </p:sp>
      <p:sp>
        <p:nvSpPr>
          <p:cNvPr id="13" name="Shape 9"/>
          <p:cNvSpPr/>
          <p:nvPr/>
        </p:nvSpPr>
        <p:spPr>
          <a:xfrm>
            <a:off x="548640" y="4169664"/>
            <a:ext cx="512064" cy="512064"/>
          </a:xfrm>
          <a:prstGeom prst="ellipse">
            <a:avLst/>
          </a:prstGeom>
          <a:solidFill>
            <a:srgbClr val="2D1B69"/>
          </a:solidFill>
        </p:spPr>
      </p:sp>
      <p:pic>
        <p:nvPicPr>
          <p:cNvPr id="14" name="Image 2" descr="/home/claude/kotlin_slides/icons/star.png"/>
          <p:cNvPicPr>
            <a:picLocks noChangeAspect="1"/>
          </p:cNvPicPr>
          <p:nvPr/>
        </p:nvPicPr>
        <p:blipFill>
          <a:blip r:embed="rId3"/>
          <a:stretch>
            <a:fillRect/>
          </a:stretch>
        </p:blipFill>
        <p:spPr>
          <a:xfrm>
            <a:off x="676656" y="4297680"/>
            <a:ext cx="256032" cy="256032"/>
          </a:xfrm>
          <a:prstGeom prst="rect">
            <a:avLst/>
          </a:prstGeom>
        </p:spPr>
      </p:pic>
      <p:sp>
        <p:nvSpPr>
          <p:cNvPr id="15" name="Text 10"/>
          <p:cNvSpPr/>
          <p:nvPr/>
        </p:nvSpPr>
        <p:spPr>
          <a:xfrm>
            <a:off x="1325880" y="411480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const val — hằng số biên dịch</a:t>
            </a:r>
            <a:endParaRPr lang="en-US" sz="1550" dirty="0"/>
          </a:p>
        </p:txBody>
      </p:sp>
      <p:sp>
        <p:nvSpPr>
          <p:cNvPr id="16" name="Text 11"/>
          <p:cNvSpPr/>
          <p:nvPr/>
        </p:nvSpPr>
        <p:spPr>
          <a:xfrm>
            <a:off x="1325880" y="444398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Giá trị cố định tại compile-time, chỉ dùng cho kiểu nguyên thủy/String; khai báo ở top-level hoặc trong companion object.</a:t>
            </a:r>
            <a:endParaRPr lang="en-US" sz="1250" dirty="0"/>
          </a:p>
        </p:txBody>
      </p:sp>
      <p:sp>
        <p:nvSpPr>
          <p:cNvPr id="17" name="Shape 12"/>
          <p:cNvSpPr/>
          <p:nvPr/>
        </p:nvSpPr>
        <p:spPr>
          <a:xfrm>
            <a:off x="548640" y="5244084"/>
            <a:ext cx="512064" cy="512064"/>
          </a:xfrm>
          <a:prstGeom prst="ellipse">
            <a:avLst/>
          </a:prstGeom>
          <a:solidFill>
            <a:srgbClr val="F5890B"/>
          </a:solidFill>
        </p:spPr>
      </p:sp>
      <p:pic>
        <p:nvPicPr>
          <p:cNvPr id="18" name="Image 3" descr="/home/claude/kotlin_slides/icons/zap.png"/>
          <p:cNvPicPr>
            <a:picLocks noChangeAspect="1"/>
          </p:cNvPicPr>
          <p:nvPr/>
        </p:nvPicPr>
        <p:blipFill>
          <a:blip r:embed="rId4"/>
          <a:stretch>
            <a:fillRect/>
          </a:stretch>
        </p:blipFill>
        <p:spPr>
          <a:xfrm>
            <a:off x="676656" y="5372100"/>
            <a:ext cx="256032" cy="256032"/>
          </a:xfrm>
          <a:prstGeom prst="rect">
            <a:avLst/>
          </a:prstGeom>
        </p:spPr>
      </p:pic>
      <p:sp>
        <p:nvSpPr>
          <p:cNvPr id="19" name="Text 13"/>
          <p:cNvSpPr/>
          <p:nvPr/>
        </p:nvSpPr>
        <p:spPr>
          <a:xfrm>
            <a:off x="1325880" y="518922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Type inference — suy luận kiểu</a:t>
            </a:r>
            <a:endParaRPr lang="en-US" sz="1550" dirty="0"/>
          </a:p>
        </p:txBody>
      </p:sp>
      <p:sp>
        <p:nvSpPr>
          <p:cNvPr id="20" name="Text 14"/>
          <p:cNvSpPr/>
          <p:nvPr/>
        </p:nvSpPr>
        <p:spPr>
          <a:xfrm>
            <a:off x="1325880" y="551840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tự suy ra kiểu dữ liệu từ giá trị khởi tạo (val name = "Kotlin" ⇒ String), vẫn có thể khai báo tường minh khi cần.</a:t>
            </a:r>
            <a:endParaRPr lang="en-US" sz="1250" dirty="0"/>
          </a:p>
        </p:txBody>
      </p:sp>
      <p:sp>
        <p:nvSpPr>
          <p:cNvPr id="21" name="Text 15"/>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2" name="Text 16"/>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4</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457200"/>
            <a:ext cx="7315200" cy="365760"/>
          </a:xfrm>
          <a:prstGeom prst="rect">
            <a:avLst/>
          </a:prstGeom>
          <a:noFill/>
        </p:spPr>
        <p:txBody>
          <a:bodyPr wrap="square" lIns="0" tIns="0" rIns="0" bIns="0" rtlCol="0" anchor="ctr"/>
          <a:lstStyle/>
          <a:p>
            <a:pPr marL="0" indent="0">
              <a:buNone/>
            </a:pPr>
            <a:r>
              <a:rPr lang="en-US" sz="1300" b="1" kern="0" spc="200" dirty="0">
                <a:solidFill>
                  <a:srgbClr val="F5890B"/>
                </a:solidFill>
                <a:latin typeface="Calibri" panose="020F0502020204030204" pitchFamily="34" charset="0"/>
                <a:ea typeface="Calibri" panose="020F0502020204030204" pitchFamily="34" charset="-122"/>
                <a:cs typeface="Calibri" panose="020F0502020204030204" pitchFamily="34" charset="-120"/>
              </a:rPr>
              <a:t>01 · DEMO CODE</a:t>
            </a:r>
            <a:endParaRPr lang="en-US" sz="1300" dirty="0"/>
          </a:p>
        </p:txBody>
      </p:sp>
      <p:sp>
        <p:nvSpPr>
          <p:cNvPr id="5" name="Text 3"/>
          <p:cNvSpPr/>
          <p:nvPr/>
        </p:nvSpPr>
        <p:spPr>
          <a:xfrm>
            <a:off x="548640" y="777240"/>
            <a:ext cx="9601200" cy="548640"/>
          </a:xfrm>
          <a:prstGeom prst="rect">
            <a:avLst/>
          </a:prstGeom>
          <a:noFill/>
        </p:spPr>
        <p:txBody>
          <a:bodyPr wrap="square" lIns="0" tIns="0" rIns="0" bIns="0" rtlCol="0" anchor="ctr"/>
          <a:lstStyle/>
          <a:p>
            <a:pPr marL="0" indent="0">
              <a:buNone/>
            </a:pPr>
            <a:r>
              <a:rPr lang="en-US" sz="2500" b="1" dirty="0">
                <a:solidFill>
                  <a:srgbClr val="FFFFFF"/>
                </a:solidFill>
                <a:latin typeface="Calibri" panose="020F0502020204030204" pitchFamily="34" charset="0"/>
                <a:ea typeface="Calibri" panose="020F0502020204030204" pitchFamily="34" charset="-122"/>
                <a:cs typeface="Calibri" panose="020F0502020204030204" pitchFamily="34" charset="-120"/>
              </a:rPr>
              <a:t>Variables &amp; Constants</a:t>
            </a:r>
            <a:endParaRPr lang="en-US" sz="2500" dirty="0"/>
          </a:p>
        </p:txBody>
      </p:sp>
      <p:sp>
        <p:nvSpPr>
          <p:cNvPr id="6" name="Shape 4"/>
          <p:cNvSpPr/>
          <p:nvPr/>
        </p:nvSpPr>
        <p:spPr>
          <a:xfrm>
            <a:off x="548640" y="1508760"/>
            <a:ext cx="11094415" cy="4892040"/>
          </a:xfrm>
          <a:prstGeom prst="roundRect">
            <a:avLst>
              <a:gd name="adj" fmla="val 1682"/>
            </a:avLst>
          </a:prstGeom>
          <a:solidFill>
            <a:srgbClr val="1E1440"/>
          </a:solidFill>
          <a:effectLst>
            <a:outerShdw blurRad="101600" dist="38100" dir="5400000" algn="bl" rotWithShape="0">
              <a:srgbClr val="1A1030">
                <a:alpha val="35000"/>
              </a:srgbClr>
            </a:outerShdw>
          </a:effectLst>
        </p:spPr>
      </p:sp>
      <p:sp>
        <p:nvSpPr>
          <p:cNvPr id="7" name="Shape 5"/>
          <p:cNvSpPr/>
          <p:nvPr/>
        </p:nvSpPr>
        <p:spPr>
          <a:xfrm>
            <a:off x="731520" y="1623060"/>
            <a:ext cx="82296" cy="82296"/>
          </a:xfrm>
          <a:prstGeom prst="ellipse">
            <a:avLst/>
          </a:prstGeom>
          <a:solidFill>
            <a:srgbClr val="FF6159"/>
          </a:solidFill>
        </p:spPr>
      </p:sp>
      <p:sp>
        <p:nvSpPr>
          <p:cNvPr id="8" name="Shape 6"/>
          <p:cNvSpPr/>
          <p:nvPr/>
        </p:nvSpPr>
        <p:spPr>
          <a:xfrm>
            <a:off x="914400" y="1623060"/>
            <a:ext cx="82296" cy="82296"/>
          </a:xfrm>
          <a:prstGeom prst="ellipse">
            <a:avLst/>
          </a:prstGeom>
          <a:solidFill>
            <a:srgbClr val="FFBD2E"/>
          </a:solidFill>
        </p:spPr>
      </p:sp>
      <p:sp>
        <p:nvSpPr>
          <p:cNvPr id="9" name="Shape 7"/>
          <p:cNvSpPr/>
          <p:nvPr/>
        </p:nvSpPr>
        <p:spPr>
          <a:xfrm>
            <a:off x="1097280" y="1623060"/>
            <a:ext cx="82296" cy="82296"/>
          </a:xfrm>
          <a:prstGeom prst="ellipse">
            <a:avLst/>
          </a:prstGeom>
          <a:solidFill>
            <a:srgbClr val="28C840"/>
          </a:solidFill>
        </p:spPr>
      </p:sp>
      <p:sp>
        <p:nvSpPr>
          <p:cNvPr id="10" name="Text 8"/>
          <p:cNvSpPr/>
          <p:nvPr/>
        </p:nvSpPr>
        <p:spPr>
          <a:xfrm>
            <a:off x="1325880" y="1508760"/>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App.kt</a:t>
            </a:r>
            <a:endParaRPr lang="en-US" sz="1050" dirty="0"/>
          </a:p>
        </p:txBody>
      </p:sp>
      <p:sp>
        <p:nvSpPr>
          <p:cNvPr id="11" name="Text 9"/>
          <p:cNvSpPr/>
          <p:nvPr/>
        </p:nvSpPr>
        <p:spPr>
          <a:xfrm>
            <a:off x="694944" y="1911096"/>
            <a:ext cx="365760" cy="4087368"/>
          </a:xfrm>
          <a:prstGeom prst="rect">
            <a:avLst/>
          </a:prstGeom>
          <a:noFill/>
        </p:spPr>
        <p:txBody>
          <a:bodyPr wrap="square" lIns="0" tIns="0" rIns="0" bIns="0" rtlCol="0" anchor="t"/>
          <a:lstStyle/>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450" dirty="0"/>
          </a:p>
        </p:txBody>
      </p:sp>
      <p:sp>
        <p:nvSpPr>
          <p:cNvPr id="12" name="Text 10"/>
          <p:cNvSpPr/>
          <p:nvPr/>
        </p:nvSpPr>
        <p:spPr>
          <a:xfrm>
            <a:off x="1170432" y="1911096"/>
            <a:ext cx="10326319" cy="4087368"/>
          </a:xfrm>
          <a:prstGeom prst="rect">
            <a:avLst/>
          </a:prstGeom>
          <a:noFill/>
        </p:spPr>
        <p:txBody>
          <a:bodyPr wrap="square" lIns="0" tIns="0" rIns="0" bIns="0" rtlCol="0" anchor="t"/>
          <a:lstStyle/>
          <a:p>
            <a:pPr marL="0" indent="0">
              <a:lnSpc>
                <a:spcPct val="115000"/>
              </a:lnSpc>
              <a:buNone/>
            </a:pP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const</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MAX_TITLE_LENGTH</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50</a:t>
            </a:r>
            <a:endParaRPr lang="en-US" sz="1450" dirty="0"/>
          </a:p>
          <a:p>
            <a:pPr marL="0" indent="0">
              <a:lnSpc>
                <a:spcPct val="115000"/>
              </a:lnSpc>
              <a:buNone/>
            </a:pP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const</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COMPLETED_STATUS</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"Completed"</a:t>
            </a:r>
            <a:endParaRPr lang="en-US" sz="1450" dirty="0"/>
          </a:p>
          <a:p>
            <a:pPr marL="0" indent="0">
              <a:lnSpc>
                <a:spcPct val="115000"/>
              </a:lnSpc>
              <a:buNone/>
            </a:pP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val: chỉ gán một lần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projectName</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 Research"</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var: có thể gán lại khi giá trị thực sự thay đổi</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completedTasks</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2</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totalTasks</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5</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completedTasks</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1</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"Project: $projectName"</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"Completed tasks: $completedTasks/$totalTasks"</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p:txBody>
      </p:sp>
      <p:sp>
        <p:nvSpPr>
          <p:cNvPr id="13" name="Text 11"/>
          <p:cNvSpPr/>
          <p:nvPr/>
        </p:nvSpPr>
        <p:spPr>
          <a:xfrm>
            <a:off x="694944" y="612648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Trích từ App.kt trong repo — rút gọn phần Variables &amp; Constants (bỏ phần when/loop thuộc chủ đề khác).</a:t>
            </a:r>
            <a:endParaRPr lang="en-US" sz="950" dirty="0"/>
          </a:p>
        </p:txBody>
      </p:sp>
      <p:sp>
        <p:nvSpPr>
          <p:cNvPr id="14" name="Text 1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5" name="Text 1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5</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02</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shuffle.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Conditionals</a:t>
            </a:r>
            <a:endParaRPr lang="en-US" sz="3400" dirty="0"/>
          </a:p>
        </p:txBody>
      </p:sp>
      <p:sp>
        <p:nvSpPr>
          <p:cNvPr id="8" name="Text 5"/>
          <p:cNvSpPr/>
          <p:nvPr/>
        </p:nvSpPr>
        <p:spPr>
          <a:xfrm>
            <a:off x="548640" y="4983480"/>
            <a:ext cx="9692640" cy="548640"/>
          </a:xfrm>
          <a:prstGeom prst="rect">
            <a:avLst/>
          </a:prstGeom>
          <a:noFill/>
        </p:spPr>
        <p:txBody>
          <a:bodyPr wrap="square" lIns="0" tIns="0" rIns="0" bIns="0" rtlCol="0" anchor="ctr"/>
          <a:lstStyle/>
          <a:p>
            <a:pPr marL="0" indent="0">
              <a:buNone/>
            </a:pPr>
            <a:r>
              <a:rPr lang="en-US" sz="1500" dirty="0">
                <a:solidFill>
                  <a:srgbClr val="CADCFC"/>
                </a:solidFill>
                <a:latin typeface="Calibri" panose="020F0502020204030204" pitchFamily="34" charset="0"/>
                <a:ea typeface="Calibri" panose="020F0502020204030204" pitchFamily="34" charset="-122"/>
                <a:cs typeface="Calibri" panose="020F0502020204030204" pitchFamily="34" charset="-120"/>
              </a:rPr>
              <a:t>Rẽ nhánh logic với if-else và thay thế switch-case bằng when.</a:t>
            </a:r>
            <a:endParaRPr lang="en-US" sz="150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6</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02 · KHÁI NIỆM</a:t>
            </a:r>
            <a:endParaRPr lang="en-US" sz="1250" dirty="0"/>
          </a:p>
        </p:txBody>
      </p:sp>
      <p:sp>
        <p:nvSpPr>
          <p:cNvPr id="3" name="Text 1"/>
          <p:cNvSpPr/>
          <p:nvPr/>
        </p:nvSpPr>
        <p:spPr>
          <a:xfrm>
            <a:off x="548640" y="868680"/>
            <a:ext cx="9601200" cy="594360"/>
          </a:xfrm>
          <a:prstGeom prst="rect">
            <a:avLst/>
          </a:prstGeom>
          <a:noFill/>
        </p:spPr>
        <p:txBody>
          <a:bodyPr wrap="square" lIns="0" tIns="0" rIns="0" bIns="0" rtlCol="0" anchor="ctr"/>
          <a:lstStyle/>
          <a:p>
            <a:pPr marL="0" indent="0">
              <a:buNone/>
            </a:pPr>
            <a:r>
              <a:rPr lang="en-US" sz="2800" b="1" dirty="0">
                <a:solidFill>
                  <a:srgbClr val="241B3D"/>
                </a:solidFill>
                <a:latin typeface="Calibri" panose="020F0502020204030204" pitchFamily="34" charset="0"/>
                <a:ea typeface="Calibri" panose="020F0502020204030204" pitchFamily="34" charset="-122"/>
                <a:cs typeface="Calibri" panose="020F0502020204030204" pitchFamily="34" charset="-120"/>
              </a:rPr>
              <a:t>Conditionals</a:t>
            </a:r>
            <a:endParaRPr lang="en-US" sz="2800" dirty="0"/>
          </a:p>
        </p:txBody>
      </p:sp>
      <p:sp>
        <p:nvSpPr>
          <p:cNvPr id="4" name="Text 2"/>
          <p:cNvSpPr/>
          <p:nvPr/>
        </p:nvSpPr>
        <p:spPr>
          <a:xfrm>
            <a:off x="548640" y="1417320"/>
            <a:ext cx="10058400" cy="365760"/>
          </a:xfrm>
          <a:prstGeom prst="rect">
            <a:avLst/>
          </a:prstGeom>
          <a:noFill/>
        </p:spPr>
        <p:txBody>
          <a:bodyPr wrap="square" lIns="0" tIns="0" rIns="0" bIns="0" rtlCol="0" anchor="ctr"/>
          <a:lstStyle/>
          <a:p>
            <a:pPr marL="0" indent="0">
              <a:buNone/>
            </a:pPr>
            <a:r>
              <a:rPr lang="en-US" sz="1300" dirty="0">
                <a:solidFill>
                  <a:srgbClr val="6B6483"/>
                </a:solidFill>
                <a:latin typeface="Calibri" panose="020F0502020204030204" pitchFamily="34" charset="0"/>
                <a:ea typeface="Calibri" panose="020F0502020204030204" pitchFamily="34" charset="-122"/>
                <a:cs typeface="Calibri" panose="020F0502020204030204" pitchFamily="34" charset="-120"/>
              </a:rPr>
              <a:t>if-else và when — cả hai đều có thể dùng như expression trong Kotlin.</a:t>
            </a:r>
            <a:endParaRPr lang="en-US" sz="1300" dirty="0"/>
          </a:p>
        </p:txBody>
      </p:sp>
      <p:sp>
        <p:nvSpPr>
          <p:cNvPr id="5" name="Shape 3"/>
          <p:cNvSpPr/>
          <p:nvPr/>
        </p:nvSpPr>
        <p:spPr>
          <a:xfrm>
            <a:off x="548640" y="2020824"/>
            <a:ext cx="512064" cy="512064"/>
          </a:xfrm>
          <a:prstGeom prst="ellipse">
            <a:avLst/>
          </a:prstGeom>
          <a:solidFill>
            <a:srgbClr val="2D1B69"/>
          </a:solidFill>
        </p:spPr>
      </p:sp>
      <p:pic>
        <p:nvPicPr>
          <p:cNvPr id="6" name="Image 0" descr="/home/claude/kotlin_slides/icons/shuffle.png"/>
          <p:cNvPicPr>
            <a:picLocks noChangeAspect="1"/>
          </p:cNvPicPr>
          <p:nvPr/>
        </p:nvPicPr>
        <p:blipFill>
          <a:blip r:embed="rId1"/>
          <a:stretch>
            <a:fillRect/>
          </a:stretch>
        </p:blipFill>
        <p:spPr>
          <a:xfrm>
            <a:off x="676656" y="2148840"/>
            <a:ext cx="256032" cy="256032"/>
          </a:xfrm>
          <a:prstGeom prst="rect">
            <a:avLst/>
          </a:prstGeom>
        </p:spPr>
      </p:pic>
      <p:sp>
        <p:nvSpPr>
          <p:cNvPr id="7" name="Text 4"/>
          <p:cNvSpPr/>
          <p:nvPr/>
        </p:nvSpPr>
        <p:spPr>
          <a:xfrm>
            <a:off x="1325880" y="196596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if-else là expression</a:t>
            </a:r>
            <a:endParaRPr lang="en-US" sz="1550" dirty="0"/>
          </a:p>
        </p:txBody>
      </p:sp>
      <p:sp>
        <p:nvSpPr>
          <p:cNvPr id="8" name="Text 5"/>
          <p:cNvSpPr/>
          <p:nvPr/>
        </p:nvSpPr>
        <p:spPr>
          <a:xfrm>
            <a:off x="1325880" y="229514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Không chỉ là câu lệnh rẽ nhánh — if-else có thể trả về giá trị và gán thẳng vào một biến.</a:t>
            </a:r>
            <a:endParaRPr lang="en-US" sz="1250" dirty="0"/>
          </a:p>
        </p:txBody>
      </p:sp>
      <p:sp>
        <p:nvSpPr>
          <p:cNvPr id="9" name="Shape 6"/>
          <p:cNvSpPr/>
          <p:nvPr/>
        </p:nvSpPr>
        <p:spPr>
          <a:xfrm>
            <a:off x="548640" y="3095244"/>
            <a:ext cx="512064" cy="512064"/>
          </a:xfrm>
          <a:prstGeom prst="ellipse">
            <a:avLst/>
          </a:prstGeom>
          <a:solidFill>
            <a:srgbClr val="F5890B"/>
          </a:solidFill>
        </p:spPr>
      </p:sp>
      <p:pic>
        <p:nvPicPr>
          <p:cNvPr id="10" name="Image 1" descr="/home/claude/kotlin_slides/icons/grid.png"/>
          <p:cNvPicPr>
            <a:picLocks noChangeAspect="1"/>
          </p:cNvPicPr>
          <p:nvPr/>
        </p:nvPicPr>
        <p:blipFill>
          <a:blip r:embed="rId2"/>
          <a:stretch>
            <a:fillRect/>
          </a:stretch>
        </p:blipFill>
        <p:spPr>
          <a:xfrm>
            <a:off x="676656" y="3223260"/>
            <a:ext cx="256032" cy="256032"/>
          </a:xfrm>
          <a:prstGeom prst="rect">
            <a:avLst/>
          </a:prstGeom>
        </p:spPr>
      </p:pic>
      <p:sp>
        <p:nvSpPr>
          <p:cNvPr id="11" name="Text 7"/>
          <p:cNvSpPr/>
          <p:nvPr/>
        </p:nvSpPr>
        <p:spPr>
          <a:xfrm>
            <a:off x="1325880" y="304038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when thay thế switch-case</a:t>
            </a:r>
            <a:endParaRPr lang="en-US" sz="1550" dirty="0"/>
          </a:p>
        </p:txBody>
      </p:sp>
      <p:sp>
        <p:nvSpPr>
          <p:cNvPr id="12" name="Text 8"/>
          <p:cNvSpPr/>
          <p:nvPr/>
        </p:nvSpPr>
        <p:spPr>
          <a:xfrm>
            <a:off x="1325880" y="336956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Cú pháp gọn hơn switch-case của Java/C, không cần break cho từng nhánh, dễ đọc hơn khi có nhiều điều kiện.</a:t>
            </a:r>
            <a:endParaRPr lang="en-US" sz="1250" dirty="0"/>
          </a:p>
        </p:txBody>
      </p:sp>
      <p:sp>
        <p:nvSpPr>
          <p:cNvPr id="13" name="Shape 9"/>
          <p:cNvSpPr/>
          <p:nvPr/>
        </p:nvSpPr>
        <p:spPr>
          <a:xfrm>
            <a:off x="548640" y="4169664"/>
            <a:ext cx="512064" cy="512064"/>
          </a:xfrm>
          <a:prstGeom prst="ellipse">
            <a:avLst/>
          </a:prstGeom>
          <a:solidFill>
            <a:srgbClr val="2D1B69"/>
          </a:solidFill>
        </p:spPr>
      </p:sp>
      <p:pic>
        <p:nvPicPr>
          <p:cNvPr id="14" name="Image 2" descr="/home/claude/kotlin_slides/icons/target.png"/>
          <p:cNvPicPr>
            <a:picLocks noChangeAspect="1"/>
          </p:cNvPicPr>
          <p:nvPr/>
        </p:nvPicPr>
        <p:blipFill>
          <a:blip r:embed="rId3"/>
          <a:stretch>
            <a:fillRect/>
          </a:stretch>
        </p:blipFill>
        <p:spPr>
          <a:xfrm>
            <a:off x="676656" y="4297680"/>
            <a:ext cx="256032" cy="256032"/>
          </a:xfrm>
          <a:prstGeom prst="rect">
            <a:avLst/>
          </a:prstGeom>
        </p:spPr>
      </p:pic>
      <p:sp>
        <p:nvSpPr>
          <p:cNvPr id="15" name="Text 10"/>
          <p:cNvSpPr/>
          <p:nvPr/>
        </p:nvSpPr>
        <p:spPr>
          <a:xfrm>
            <a:off x="1325880" y="411480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So khớp linh hoạt</a:t>
            </a:r>
            <a:endParaRPr lang="en-US" sz="1550" dirty="0"/>
          </a:p>
        </p:txBody>
      </p:sp>
      <p:sp>
        <p:nvSpPr>
          <p:cNvPr id="16" name="Text 11"/>
          <p:cNvSpPr/>
          <p:nvPr/>
        </p:nvSpPr>
        <p:spPr>
          <a:xfrm>
            <a:off x="1325880" y="444398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when hỗ trợ so khớp theo range (in 1..17), danh sách giá trị, hoặc kiểu dữ liệu (is Type) mà không cần toán tử so sánh tường minh.</a:t>
            </a:r>
            <a:endParaRPr lang="en-US" sz="1250" dirty="0"/>
          </a:p>
        </p:txBody>
      </p:sp>
      <p:sp>
        <p:nvSpPr>
          <p:cNvPr id="17" name="Shape 12"/>
          <p:cNvSpPr/>
          <p:nvPr/>
        </p:nvSpPr>
        <p:spPr>
          <a:xfrm>
            <a:off x="548640" y="5244084"/>
            <a:ext cx="512064" cy="512064"/>
          </a:xfrm>
          <a:prstGeom prst="ellipse">
            <a:avLst/>
          </a:prstGeom>
          <a:solidFill>
            <a:srgbClr val="F5890B"/>
          </a:solidFill>
        </p:spPr>
      </p:sp>
      <p:pic>
        <p:nvPicPr>
          <p:cNvPr id="18" name="Image 3" descr="/home/claude/kotlin_slides/icons/zap.png"/>
          <p:cNvPicPr>
            <a:picLocks noChangeAspect="1"/>
          </p:cNvPicPr>
          <p:nvPr/>
        </p:nvPicPr>
        <p:blipFill>
          <a:blip r:embed="rId4"/>
          <a:stretch>
            <a:fillRect/>
          </a:stretch>
        </p:blipFill>
        <p:spPr>
          <a:xfrm>
            <a:off x="676656" y="5372100"/>
            <a:ext cx="256032" cy="256032"/>
          </a:xfrm>
          <a:prstGeom prst="rect">
            <a:avLst/>
          </a:prstGeom>
        </p:spPr>
      </p:pic>
      <p:sp>
        <p:nvSpPr>
          <p:cNvPr id="19" name="Text 13"/>
          <p:cNvSpPr/>
          <p:nvPr/>
        </p:nvSpPr>
        <p:spPr>
          <a:xfrm>
            <a:off x="1325880" y="518922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when cũng là expression</a:t>
            </a:r>
            <a:endParaRPr lang="en-US" sz="1550" dirty="0"/>
          </a:p>
        </p:txBody>
      </p:sp>
      <p:sp>
        <p:nvSpPr>
          <p:cNvPr id="20" name="Text 14"/>
          <p:cNvSpPr/>
          <p:nvPr/>
        </p:nvSpPr>
        <p:spPr>
          <a:xfrm>
            <a:off x="1325880" y="551840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Giống if, when có thể trả về giá trị; khi dùng như expression cần bao phủ hết trường hợp (else, hoặc đủ case của enum/sealed class).</a:t>
            </a:r>
            <a:endParaRPr lang="en-US" sz="1250" dirty="0"/>
          </a:p>
        </p:txBody>
      </p:sp>
      <p:sp>
        <p:nvSpPr>
          <p:cNvPr id="21" name="Text 15"/>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2" name="Text 16"/>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7</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457200"/>
            <a:ext cx="7315200" cy="365760"/>
          </a:xfrm>
          <a:prstGeom prst="rect">
            <a:avLst/>
          </a:prstGeom>
          <a:noFill/>
        </p:spPr>
        <p:txBody>
          <a:bodyPr wrap="square" lIns="0" tIns="0" rIns="0" bIns="0" rtlCol="0" anchor="ctr"/>
          <a:lstStyle/>
          <a:p>
            <a:pPr marL="0" indent="0">
              <a:buNone/>
            </a:pPr>
            <a:r>
              <a:rPr lang="en-US" sz="1300" b="1" kern="0" spc="200" dirty="0">
                <a:solidFill>
                  <a:srgbClr val="F5890B"/>
                </a:solidFill>
                <a:latin typeface="Calibri" panose="020F0502020204030204" pitchFamily="34" charset="0"/>
                <a:ea typeface="Calibri" panose="020F0502020204030204" pitchFamily="34" charset="-122"/>
                <a:cs typeface="Calibri" panose="020F0502020204030204" pitchFamily="34" charset="-120"/>
              </a:rPr>
              <a:t>02 · DEMO CODE</a:t>
            </a:r>
            <a:endParaRPr lang="en-US" sz="1300" dirty="0"/>
          </a:p>
        </p:txBody>
      </p:sp>
      <p:sp>
        <p:nvSpPr>
          <p:cNvPr id="5" name="Text 3"/>
          <p:cNvSpPr/>
          <p:nvPr/>
        </p:nvSpPr>
        <p:spPr>
          <a:xfrm>
            <a:off x="548640" y="777240"/>
            <a:ext cx="9601200" cy="548640"/>
          </a:xfrm>
          <a:prstGeom prst="rect">
            <a:avLst/>
          </a:prstGeom>
          <a:noFill/>
        </p:spPr>
        <p:txBody>
          <a:bodyPr wrap="square" lIns="0" tIns="0" rIns="0" bIns="0" rtlCol="0" anchor="ctr"/>
          <a:lstStyle/>
          <a:p>
            <a:pPr marL="0" indent="0">
              <a:buNone/>
            </a:pPr>
            <a:r>
              <a:rPr lang="en-US" sz="25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Conditionals</a:t>
            </a:r>
            <a:endParaRPr lang="en-US" sz="2500" dirty="0"/>
          </a:p>
        </p:txBody>
      </p:sp>
      <p:sp>
        <p:nvSpPr>
          <p:cNvPr id="6" name="Shape 4"/>
          <p:cNvSpPr/>
          <p:nvPr/>
        </p:nvSpPr>
        <p:spPr>
          <a:xfrm>
            <a:off x="548640" y="1508760"/>
            <a:ext cx="11094415" cy="4892040"/>
          </a:xfrm>
          <a:prstGeom prst="roundRect">
            <a:avLst>
              <a:gd name="adj" fmla="val 1682"/>
            </a:avLst>
          </a:prstGeom>
          <a:solidFill>
            <a:srgbClr val="1E1440"/>
          </a:solidFill>
          <a:effectLst>
            <a:outerShdw blurRad="101600" dist="38100" dir="5400000" algn="bl" rotWithShape="0">
              <a:srgbClr val="1A1030">
                <a:alpha val="35000"/>
              </a:srgbClr>
            </a:outerShdw>
          </a:effectLst>
        </p:spPr>
      </p:sp>
      <p:sp>
        <p:nvSpPr>
          <p:cNvPr id="7" name="Shape 5"/>
          <p:cNvSpPr/>
          <p:nvPr/>
        </p:nvSpPr>
        <p:spPr>
          <a:xfrm>
            <a:off x="731520" y="1623060"/>
            <a:ext cx="82296" cy="82296"/>
          </a:xfrm>
          <a:prstGeom prst="ellipse">
            <a:avLst/>
          </a:prstGeom>
          <a:solidFill>
            <a:srgbClr val="FF6159"/>
          </a:solidFill>
        </p:spPr>
      </p:sp>
      <p:sp>
        <p:nvSpPr>
          <p:cNvPr id="8" name="Shape 6"/>
          <p:cNvSpPr/>
          <p:nvPr/>
        </p:nvSpPr>
        <p:spPr>
          <a:xfrm>
            <a:off x="914400" y="1623060"/>
            <a:ext cx="82296" cy="82296"/>
          </a:xfrm>
          <a:prstGeom prst="ellipse">
            <a:avLst/>
          </a:prstGeom>
          <a:solidFill>
            <a:srgbClr val="FFBD2E"/>
          </a:solidFill>
        </p:spPr>
      </p:sp>
      <p:sp>
        <p:nvSpPr>
          <p:cNvPr id="9" name="Shape 7"/>
          <p:cNvSpPr/>
          <p:nvPr/>
        </p:nvSpPr>
        <p:spPr>
          <a:xfrm>
            <a:off x="1097280" y="1623060"/>
            <a:ext cx="82296" cy="82296"/>
          </a:xfrm>
          <a:prstGeom prst="ellipse">
            <a:avLst/>
          </a:prstGeom>
          <a:solidFill>
            <a:srgbClr val="28C840"/>
          </a:solidFill>
        </p:spPr>
      </p:sp>
      <p:sp>
        <p:nvSpPr>
          <p:cNvPr id="10" name="Text 8"/>
          <p:cNvSpPr/>
          <p:nvPr/>
        </p:nvSpPr>
        <p:spPr>
          <a:xfrm>
            <a:off x="1325880" y="1508760"/>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Conditionals.kt</a:t>
            </a:r>
            <a:endParaRPr lang="en-US" sz="1050" dirty="0"/>
          </a:p>
        </p:txBody>
      </p:sp>
      <p:sp>
        <p:nvSpPr>
          <p:cNvPr id="11" name="Text 9"/>
          <p:cNvSpPr/>
          <p:nvPr/>
        </p:nvSpPr>
        <p:spPr>
          <a:xfrm>
            <a:off x="694944" y="1911096"/>
            <a:ext cx="365760" cy="4087368"/>
          </a:xfrm>
          <a:prstGeom prst="rect">
            <a:avLst/>
          </a:prstGeom>
          <a:noFill/>
        </p:spPr>
        <p:txBody>
          <a:bodyPr wrap="square" lIns="0" tIns="0" rIns="0" bIns="0" rtlCol="0" anchor="t"/>
          <a:lstStyle/>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450" dirty="0"/>
          </a:p>
          <a:p>
            <a:pPr marL="0" indent="0" algn="r">
              <a:lnSpc>
                <a:spcPct val="115000"/>
              </a:lnSpc>
              <a:buNone/>
            </a:pPr>
            <a:r>
              <a:rPr lang="en-US" sz="14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450" dirty="0"/>
          </a:p>
        </p:txBody>
      </p:sp>
      <p:sp>
        <p:nvSpPr>
          <p:cNvPr id="12" name="Text 10"/>
          <p:cNvSpPr/>
          <p:nvPr/>
        </p:nvSpPr>
        <p:spPr>
          <a:xfrm>
            <a:off x="1170432" y="1911096"/>
            <a:ext cx="10326319" cy="4087368"/>
          </a:xfrm>
          <a:prstGeom prst="rect">
            <a:avLst/>
          </a:prstGeom>
          <a:noFill/>
        </p:spPr>
        <p:txBody>
          <a:bodyPr wrap="square" lIns="0" tIns="0" rIns="0" bIns="0" rtlCol="0" anchor="t"/>
          <a:lstStyle/>
          <a:p>
            <a:pPr marL="0" indent="0">
              <a:lnSpc>
                <a:spcPct val="115000"/>
              </a:lnSpc>
              <a:buNone/>
            </a:pP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if - else: có thể làm phương thức trả về giá trị</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randomNumber</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(1..100).</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random</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randomNumber</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randomNumber</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2 == 0)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"number = $randomNumber =&gt; số này chẵn"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else</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"number = $randomNumber =&gt; số này lẻ"</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when &lt;=&gt; switch case</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when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randomNumber</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1..17 -&gt;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"người chưa đủ tuổi"</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18..65 -&gt;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"người trưởng thành"</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else</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"người cao tuổi"</a:t>
            </a: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50" dirty="0"/>
          </a:p>
          <a:p>
            <a:pPr marL="0" indent="0">
              <a:lnSpc>
                <a:spcPct val="115000"/>
              </a:lnSpc>
              <a:buNone/>
            </a:pPr>
            <a:r>
              <a:rPr lang="en-US" sz="14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50" dirty="0"/>
          </a:p>
        </p:txBody>
      </p:sp>
      <p:sp>
        <p:nvSpPr>
          <p:cNvPr id="13" name="Text 11"/>
          <p:cNvSpPr/>
          <p:nvPr/>
        </p:nvSpPr>
        <p:spPr>
          <a:xfrm>
            <a:off x="694944" y="612648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Conditionals.kt — github.com/ChienDev03/research_kotlin</a:t>
            </a:r>
            <a:endParaRPr lang="en-US" sz="950" dirty="0"/>
          </a:p>
        </p:txBody>
      </p:sp>
      <p:sp>
        <p:nvSpPr>
          <p:cNvPr id="14" name="Text 1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5" name="Text 1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8</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03</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layers.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Collections</a:t>
            </a:r>
            <a:endParaRPr lang="en-US" sz="3400" dirty="0"/>
          </a:p>
        </p:txBody>
      </p:sp>
      <p:sp>
        <p:nvSpPr>
          <p:cNvPr id="8" name="Text 5"/>
          <p:cNvSpPr/>
          <p:nvPr/>
        </p:nvSpPr>
        <p:spPr>
          <a:xfrm>
            <a:off x="548640" y="4983480"/>
            <a:ext cx="9692640" cy="548640"/>
          </a:xfrm>
          <a:prstGeom prst="rect">
            <a:avLst/>
          </a:prstGeom>
          <a:noFill/>
        </p:spPr>
        <p:txBody>
          <a:bodyPr wrap="square" lIns="0" tIns="0" rIns="0" bIns="0" rtlCol="0" anchor="ctr"/>
          <a:lstStyle/>
          <a:p>
            <a:pPr marL="0" indent="0">
              <a:buNone/>
            </a:pPr>
            <a:r>
              <a:rPr lang="en-US" sz="1500" dirty="0">
                <a:solidFill>
                  <a:srgbClr val="CADCFC"/>
                </a:solidFill>
                <a:latin typeface="Calibri" panose="020F0502020204030204" pitchFamily="34" charset="0"/>
                <a:ea typeface="Calibri" panose="020F0502020204030204" pitchFamily="34" charset="-122"/>
                <a:cs typeface="Calibri" panose="020F0502020204030204" pitchFamily="34" charset="-120"/>
              </a:rPr>
              <a:t>Ba cấu trúc dữ liệu nền tảng: List, Set và Map — mutable &amp; immutable.</a:t>
            </a:r>
            <a:endParaRPr lang="en-US" sz="150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9</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03 · KHÁI NIỆM</a:t>
            </a:r>
            <a:endParaRPr lang="en-US" sz="1250" dirty="0"/>
          </a:p>
        </p:txBody>
      </p:sp>
      <p:sp>
        <p:nvSpPr>
          <p:cNvPr id="3" name="Text 1"/>
          <p:cNvSpPr/>
          <p:nvPr/>
        </p:nvSpPr>
        <p:spPr>
          <a:xfrm>
            <a:off x="548640" y="868680"/>
            <a:ext cx="9601200" cy="594360"/>
          </a:xfrm>
          <a:prstGeom prst="rect">
            <a:avLst/>
          </a:prstGeom>
          <a:noFill/>
        </p:spPr>
        <p:txBody>
          <a:bodyPr wrap="square" lIns="0" tIns="0" rIns="0" bIns="0" rtlCol="0" anchor="ctr"/>
          <a:lstStyle/>
          <a:p>
            <a:pPr marL="0" indent="0">
              <a:buNone/>
            </a:pPr>
            <a:r>
              <a:rPr lang="en-US" sz="2800" b="1" dirty="0">
                <a:solidFill>
                  <a:srgbClr val="241B3D"/>
                </a:solidFill>
                <a:latin typeface="Calibri" panose="020F0502020204030204" pitchFamily="34" charset="0"/>
                <a:ea typeface="Calibri" panose="020F0502020204030204" pitchFamily="34" charset="-122"/>
                <a:cs typeface="Calibri" panose="020F0502020204030204" pitchFamily="34" charset="-120"/>
              </a:rPr>
              <a:t>Collections</a:t>
            </a:r>
            <a:endParaRPr lang="en-US" sz="2800" dirty="0"/>
          </a:p>
        </p:txBody>
      </p:sp>
      <p:sp>
        <p:nvSpPr>
          <p:cNvPr id="4" name="Text 2"/>
          <p:cNvSpPr/>
          <p:nvPr/>
        </p:nvSpPr>
        <p:spPr>
          <a:xfrm>
            <a:off x="548640" y="1417320"/>
            <a:ext cx="10058400" cy="365760"/>
          </a:xfrm>
          <a:prstGeom prst="rect">
            <a:avLst/>
          </a:prstGeom>
          <a:noFill/>
        </p:spPr>
        <p:txBody>
          <a:bodyPr wrap="square" lIns="0" tIns="0" rIns="0" bIns="0" rtlCol="0" anchor="ctr"/>
          <a:lstStyle/>
          <a:p>
            <a:pPr marL="0" indent="0">
              <a:buNone/>
            </a:pPr>
            <a:r>
              <a:rPr lang="en-US" sz="1300" dirty="0">
                <a:solidFill>
                  <a:srgbClr val="6B6483"/>
                </a:solidFill>
                <a:latin typeface="Calibri" panose="020F0502020204030204" pitchFamily="34" charset="0"/>
                <a:ea typeface="Calibri" panose="020F0502020204030204" pitchFamily="34" charset="-122"/>
                <a:cs typeface="Calibri" panose="020F0502020204030204" pitchFamily="34" charset="-120"/>
              </a:rPr>
              <a:t>List, Set, Map — chọn đúng cấu trúc cho đúng bài toán.</a:t>
            </a:r>
            <a:endParaRPr lang="en-US" sz="1300" dirty="0"/>
          </a:p>
        </p:txBody>
      </p:sp>
      <p:sp>
        <p:nvSpPr>
          <p:cNvPr id="5" name="Shape 3"/>
          <p:cNvSpPr/>
          <p:nvPr/>
        </p:nvSpPr>
        <p:spPr>
          <a:xfrm>
            <a:off x="548640" y="2020824"/>
            <a:ext cx="512064" cy="512064"/>
          </a:xfrm>
          <a:prstGeom prst="ellipse">
            <a:avLst/>
          </a:prstGeom>
          <a:solidFill>
            <a:srgbClr val="2D1B69"/>
          </a:solidFill>
        </p:spPr>
      </p:sp>
      <p:pic>
        <p:nvPicPr>
          <p:cNvPr id="6" name="Image 0" descr="/home/claude/kotlin_slides/icons/list.png"/>
          <p:cNvPicPr>
            <a:picLocks noChangeAspect="1"/>
          </p:cNvPicPr>
          <p:nvPr/>
        </p:nvPicPr>
        <p:blipFill>
          <a:blip r:embed="rId1"/>
          <a:stretch>
            <a:fillRect/>
          </a:stretch>
        </p:blipFill>
        <p:spPr>
          <a:xfrm>
            <a:off x="676656" y="2148840"/>
            <a:ext cx="256032" cy="256032"/>
          </a:xfrm>
          <a:prstGeom prst="rect">
            <a:avLst/>
          </a:prstGeom>
        </p:spPr>
      </p:pic>
      <p:sp>
        <p:nvSpPr>
          <p:cNvPr id="7" name="Text 4"/>
          <p:cNvSpPr/>
          <p:nvPr/>
        </p:nvSpPr>
        <p:spPr>
          <a:xfrm>
            <a:off x="1325880" y="196596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List — danh sách có thứ tự</a:t>
            </a:r>
            <a:endParaRPr lang="en-US" sz="1550" dirty="0"/>
          </a:p>
        </p:txBody>
      </p:sp>
      <p:sp>
        <p:nvSpPr>
          <p:cNvPr id="8" name="Text 5"/>
          <p:cNvSpPr/>
          <p:nvPr/>
        </p:nvSpPr>
        <p:spPr>
          <a:xfrm>
            <a:off x="1325880" y="229514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Cho phép trùng lặp, truy cập theo index. listOf() tạo list bất biến, mutableListOf() cho phép thêm/sửa/xoá phần tử.</a:t>
            </a:r>
            <a:endParaRPr lang="en-US" sz="1250" dirty="0"/>
          </a:p>
        </p:txBody>
      </p:sp>
      <p:sp>
        <p:nvSpPr>
          <p:cNvPr id="9" name="Shape 6"/>
          <p:cNvSpPr/>
          <p:nvPr/>
        </p:nvSpPr>
        <p:spPr>
          <a:xfrm>
            <a:off x="548640" y="3095244"/>
            <a:ext cx="512064" cy="512064"/>
          </a:xfrm>
          <a:prstGeom prst="ellipse">
            <a:avLst/>
          </a:prstGeom>
          <a:solidFill>
            <a:srgbClr val="F5890B"/>
          </a:solidFill>
        </p:spPr>
      </p:sp>
      <p:pic>
        <p:nvPicPr>
          <p:cNvPr id="10" name="Image 1" descr="/home/claude/kotlin_slides/icons/layers.png"/>
          <p:cNvPicPr>
            <a:picLocks noChangeAspect="1"/>
          </p:cNvPicPr>
          <p:nvPr/>
        </p:nvPicPr>
        <p:blipFill>
          <a:blip r:embed="rId2"/>
          <a:stretch>
            <a:fillRect/>
          </a:stretch>
        </p:blipFill>
        <p:spPr>
          <a:xfrm>
            <a:off x="676656" y="3223260"/>
            <a:ext cx="256032" cy="256032"/>
          </a:xfrm>
          <a:prstGeom prst="rect">
            <a:avLst/>
          </a:prstGeom>
        </p:spPr>
      </p:pic>
      <p:sp>
        <p:nvSpPr>
          <p:cNvPr id="11" name="Text 7"/>
          <p:cNvSpPr/>
          <p:nvPr/>
        </p:nvSpPr>
        <p:spPr>
          <a:xfrm>
            <a:off x="1325880" y="304038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Set — tập hợp không trùng lặp</a:t>
            </a:r>
            <a:endParaRPr lang="en-US" sz="1550" dirty="0"/>
          </a:p>
        </p:txBody>
      </p:sp>
      <p:sp>
        <p:nvSpPr>
          <p:cNvPr id="12" name="Text 8"/>
          <p:cNvSpPr/>
          <p:nvPr/>
        </p:nvSpPr>
        <p:spPr>
          <a:xfrm>
            <a:off x="1325880" y="336956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Tự động loại bỏ phần tử trùng, không đảm bảo thứ tự lưu trữ ban đầu. Tạo bằng setOf() hoặc mutableSetOf().</a:t>
            </a:r>
            <a:endParaRPr lang="en-US" sz="1250" dirty="0"/>
          </a:p>
        </p:txBody>
      </p:sp>
      <p:sp>
        <p:nvSpPr>
          <p:cNvPr id="13" name="Shape 9"/>
          <p:cNvSpPr/>
          <p:nvPr/>
        </p:nvSpPr>
        <p:spPr>
          <a:xfrm>
            <a:off x="548640" y="4169664"/>
            <a:ext cx="512064" cy="512064"/>
          </a:xfrm>
          <a:prstGeom prst="ellipse">
            <a:avLst/>
          </a:prstGeom>
          <a:solidFill>
            <a:srgbClr val="2D1B69"/>
          </a:solidFill>
        </p:spPr>
      </p:sp>
      <p:pic>
        <p:nvPicPr>
          <p:cNvPr id="14" name="Image 2" descr="/home/claude/kotlin_slides/icons/grid.png"/>
          <p:cNvPicPr>
            <a:picLocks noChangeAspect="1"/>
          </p:cNvPicPr>
          <p:nvPr/>
        </p:nvPicPr>
        <p:blipFill>
          <a:blip r:embed="rId3"/>
          <a:stretch>
            <a:fillRect/>
          </a:stretch>
        </p:blipFill>
        <p:spPr>
          <a:xfrm>
            <a:off x="676656" y="4297680"/>
            <a:ext cx="256032" cy="256032"/>
          </a:xfrm>
          <a:prstGeom prst="rect">
            <a:avLst/>
          </a:prstGeom>
        </p:spPr>
      </p:pic>
      <p:sp>
        <p:nvSpPr>
          <p:cNvPr id="15" name="Text 10"/>
          <p:cNvSpPr/>
          <p:nvPr/>
        </p:nvSpPr>
        <p:spPr>
          <a:xfrm>
            <a:off x="1325880" y="411480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Map — cấu trúc khoá-giá trị</a:t>
            </a:r>
            <a:endParaRPr lang="en-US" sz="1550" dirty="0"/>
          </a:p>
        </p:txBody>
      </p:sp>
      <p:sp>
        <p:nvSpPr>
          <p:cNvPr id="16" name="Text 11"/>
          <p:cNvSpPr/>
          <p:nvPr/>
        </p:nvSpPr>
        <p:spPr>
          <a:xfrm>
            <a:off x="1325880" y="444398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Lưu dữ liệu theo cặp key-value, khoá là duy nhất. mapOf() bất biến, mutableMapOf() cho phép cập nhật giá trị.</a:t>
            </a:r>
            <a:endParaRPr lang="en-US" sz="1250" dirty="0"/>
          </a:p>
        </p:txBody>
      </p:sp>
      <p:sp>
        <p:nvSpPr>
          <p:cNvPr id="17" name="Shape 12"/>
          <p:cNvSpPr/>
          <p:nvPr/>
        </p:nvSpPr>
        <p:spPr>
          <a:xfrm>
            <a:off x="548640" y="5244084"/>
            <a:ext cx="512064" cy="512064"/>
          </a:xfrm>
          <a:prstGeom prst="ellipse">
            <a:avLst/>
          </a:prstGeom>
          <a:solidFill>
            <a:srgbClr val="F5890B"/>
          </a:solidFill>
        </p:spPr>
      </p:sp>
      <p:pic>
        <p:nvPicPr>
          <p:cNvPr id="18" name="Image 3" descr="/home/claude/kotlin_slides/icons/hash.png"/>
          <p:cNvPicPr>
            <a:picLocks noChangeAspect="1"/>
          </p:cNvPicPr>
          <p:nvPr/>
        </p:nvPicPr>
        <p:blipFill>
          <a:blip r:embed="rId4"/>
          <a:stretch>
            <a:fillRect/>
          </a:stretch>
        </p:blipFill>
        <p:spPr>
          <a:xfrm>
            <a:off x="676656" y="5372100"/>
            <a:ext cx="256032" cy="256032"/>
          </a:xfrm>
          <a:prstGeom prst="rect">
            <a:avLst/>
          </a:prstGeom>
        </p:spPr>
      </p:pic>
      <p:sp>
        <p:nvSpPr>
          <p:cNvPr id="19" name="Text 13"/>
          <p:cNvSpPr/>
          <p:nvPr/>
        </p:nvSpPr>
        <p:spPr>
          <a:xfrm>
            <a:off x="1325880" y="518922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Immutable vs Mutable</a:t>
            </a:r>
            <a:endParaRPr lang="en-US" sz="1550" dirty="0"/>
          </a:p>
        </p:txBody>
      </p:sp>
      <p:sp>
        <p:nvSpPr>
          <p:cNvPr id="20" name="Text 14"/>
          <p:cNvSpPr/>
          <p:nvPr/>
        </p:nvSpPr>
        <p:spPr>
          <a:xfrm>
            <a:off x="1325880" y="551840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Interface đọc (List/Set/Map) tách biệt với interface có thể thay đổi (Mutable...) — kiểm soát rõ nơi dữ liệu có thể bị sửa.</a:t>
            </a:r>
            <a:endParaRPr lang="en-US" sz="1250" dirty="0"/>
          </a:p>
        </p:txBody>
      </p:sp>
      <p:sp>
        <p:nvSpPr>
          <p:cNvPr id="21" name="Text 15"/>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2" name="Text 16"/>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10</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457200"/>
            <a:ext cx="7315200" cy="365760"/>
          </a:xfrm>
          <a:prstGeom prst="rect">
            <a:avLst/>
          </a:prstGeom>
          <a:noFill/>
        </p:spPr>
        <p:txBody>
          <a:bodyPr wrap="square" lIns="0" tIns="0" rIns="0" bIns="0" rtlCol="0" anchor="ctr"/>
          <a:lstStyle/>
          <a:p>
            <a:pPr marL="0" indent="0">
              <a:buNone/>
            </a:pPr>
            <a:r>
              <a:rPr lang="en-US" sz="1300" b="1" kern="0" spc="200" dirty="0">
                <a:solidFill>
                  <a:srgbClr val="F5890B"/>
                </a:solidFill>
                <a:latin typeface="Calibri" panose="020F0502020204030204" pitchFamily="34" charset="0"/>
                <a:ea typeface="Calibri" panose="020F0502020204030204" pitchFamily="34" charset="-122"/>
                <a:cs typeface="Calibri" panose="020F0502020204030204" pitchFamily="34" charset="-120"/>
              </a:rPr>
              <a:t>03 · DEMO CODE</a:t>
            </a:r>
            <a:endParaRPr lang="en-US" sz="1300" dirty="0"/>
          </a:p>
        </p:txBody>
      </p:sp>
      <p:sp>
        <p:nvSpPr>
          <p:cNvPr id="5" name="Text 3"/>
          <p:cNvSpPr/>
          <p:nvPr/>
        </p:nvSpPr>
        <p:spPr>
          <a:xfrm>
            <a:off x="548640" y="777240"/>
            <a:ext cx="9601200" cy="548640"/>
          </a:xfrm>
          <a:prstGeom prst="rect">
            <a:avLst/>
          </a:prstGeom>
          <a:noFill/>
        </p:spPr>
        <p:txBody>
          <a:bodyPr wrap="square" lIns="0" tIns="0" rIns="0" bIns="0" rtlCol="0" anchor="ctr"/>
          <a:lstStyle/>
          <a:p>
            <a:pPr marL="0" indent="0">
              <a:buNone/>
            </a:pPr>
            <a:r>
              <a:rPr lang="en-US" sz="25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Collections — List, Set, Map cơ bản</a:t>
            </a:r>
            <a:endParaRPr lang="en-US" sz="2500" dirty="0"/>
          </a:p>
        </p:txBody>
      </p:sp>
      <p:sp>
        <p:nvSpPr>
          <p:cNvPr id="6" name="Shape 4"/>
          <p:cNvSpPr/>
          <p:nvPr/>
        </p:nvSpPr>
        <p:spPr>
          <a:xfrm>
            <a:off x="548640" y="1508760"/>
            <a:ext cx="11094415" cy="4892040"/>
          </a:xfrm>
          <a:prstGeom prst="roundRect">
            <a:avLst>
              <a:gd name="adj" fmla="val 1682"/>
            </a:avLst>
          </a:prstGeom>
          <a:solidFill>
            <a:srgbClr val="1E1440"/>
          </a:solidFill>
          <a:effectLst>
            <a:outerShdw blurRad="101600" dist="38100" dir="5400000" algn="bl" rotWithShape="0">
              <a:srgbClr val="1A1030">
                <a:alpha val="35000"/>
              </a:srgbClr>
            </a:outerShdw>
          </a:effectLst>
        </p:spPr>
      </p:sp>
      <p:sp>
        <p:nvSpPr>
          <p:cNvPr id="7" name="Shape 5"/>
          <p:cNvSpPr/>
          <p:nvPr/>
        </p:nvSpPr>
        <p:spPr>
          <a:xfrm>
            <a:off x="731520" y="1623060"/>
            <a:ext cx="82296" cy="82296"/>
          </a:xfrm>
          <a:prstGeom prst="ellipse">
            <a:avLst/>
          </a:prstGeom>
          <a:solidFill>
            <a:srgbClr val="FF6159"/>
          </a:solidFill>
        </p:spPr>
      </p:sp>
      <p:sp>
        <p:nvSpPr>
          <p:cNvPr id="8" name="Shape 6"/>
          <p:cNvSpPr/>
          <p:nvPr/>
        </p:nvSpPr>
        <p:spPr>
          <a:xfrm>
            <a:off x="914400" y="1623060"/>
            <a:ext cx="82296" cy="82296"/>
          </a:xfrm>
          <a:prstGeom prst="ellipse">
            <a:avLst/>
          </a:prstGeom>
          <a:solidFill>
            <a:srgbClr val="FFBD2E"/>
          </a:solidFill>
        </p:spPr>
      </p:sp>
      <p:sp>
        <p:nvSpPr>
          <p:cNvPr id="9" name="Shape 7"/>
          <p:cNvSpPr/>
          <p:nvPr/>
        </p:nvSpPr>
        <p:spPr>
          <a:xfrm>
            <a:off x="1097280" y="1623060"/>
            <a:ext cx="82296" cy="82296"/>
          </a:xfrm>
          <a:prstGeom prst="ellipse">
            <a:avLst/>
          </a:prstGeom>
          <a:solidFill>
            <a:srgbClr val="28C840"/>
          </a:solidFill>
        </p:spPr>
      </p:sp>
      <p:sp>
        <p:nvSpPr>
          <p:cNvPr id="10" name="Text 8"/>
          <p:cNvSpPr/>
          <p:nvPr/>
        </p:nvSpPr>
        <p:spPr>
          <a:xfrm>
            <a:off x="1325880" y="1508760"/>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Collections.kt</a:t>
            </a:r>
            <a:endParaRPr lang="en-US" sz="1050" dirty="0"/>
          </a:p>
        </p:txBody>
      </p:sp>
      <p:sp>
        <p:nvSpPr>
          <p:cNvPr id="11" name="Text 9"/>
          <p:cNvSpPr/>
          <p:nvPr/>
        </p:nvSpPr>
        <p:spPr>
          <a:xfrm>
            <a:off x="694944" y="1911096"/>
            <a:ext cx="365760" cy="4087368"/>
          </a:xfrm>
          <a:prstGeom prst="rect">
            <a:avLst/>
          </a:prstGeom>
          <a:noFill/>
        </p:spPr>
        <p:txBody>
          <a:bodyPr wrap="square" lIns="0" tIns="0" rIns="0" bIns="0" rtlCol="0" anchor="t"/>
          <a:lstStyle/>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19</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20</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21</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22</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23</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24</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25</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26</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27</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28</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29</a:t>
            </a:r>
            <a:endParaRPr lang="en-US" sz="800" dirty="0"/>
          </a:p>
        </p:txBody>
      </p:sp>
      <p:sp>
        <p:nvSpPr>
          <p:cNvPr id="12" name="Text 10"/>
          <p:cNvSpPr/>
          <p:nvPr/>
        </p:nvSpPr>
        <p:spPr>
          <a:xfrm>
            <a:off x="1170432" y="1911096"/>
            <a:ext cx="10326319" cy="4087368"/>
          </a:xfrm>
          <a:prstGeom prst="rect">
            <a:avLst/>
          </a:prstGeom>
          <a:noFill/>
        </p:spPr>
        <p:txBody>
          <a:bodyPr wrap="square" lIns="0" tIns="0" rIns="0" bIns="0" rtlCol="0" anchor="t"/>
          <a:lstStyle/>
          <a:p>
            <a:pPr marL="0" indent="0">
              <a:lnSpc>
                <a:spcPct val="115000"/>
              </a:lnSpc>
              <a:buNone/>
            </a:pP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list: mutable và immutable</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listOf</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"b"</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list.add(0, 6)</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mutableListOf</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(1, 2, 3, 4)</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add</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(0, 6)</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[3] = 10</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sorted</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set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set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setOf</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(1, 9, 7, 8, 8, 2, 2, 3, 4, 4, 5, 1, 6)</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set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sorted</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map</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mutableMapOf</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&lt;</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1,</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"address"</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3,</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"city"</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4,</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"country"</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5,</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20</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"address"</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iterate</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for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key</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keys</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"key = $key, value = ${map[key]}"</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p:txBody>
      </p:sp>
      <p:sp>
        <p:nvSpPr>
          <p:cNvPr id="13" name="Text 11"/>
          <p:cNvSpPr/>
          <p:nvPr/>
        </p:nvSpPr>
        <p:spPr>
          <a:xfrm>
            <a:off x="694944" y="612648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Collections.kt — khai báo List/Set/Map, thao tác và duyệt map bằng for.</a:t>
            </a:r>
            <a:endParaRPr lang="en-US" sz="950" dirty="0"/>
          </a:p>
        </p:txBody>
      </p:sp>
      <p:sp>
        <p:nvSpPr>
          <p:cNvPr id="14" name="Text 1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5" name="Text 1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11</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457200"/>
            <a:ext cx="7315200" cy="365760"/>
          </a:xfrm>
          <a:prstGeom prst="rect">
            <a:avLst/>
          </a:prstGeom>
          <a:noFill/>
        </p:spPr>
        <p:txBody>
          <a:bodyPr wrap="square" lIns="0" tIns="0" rIns="0" bIns="0" rtlCol="0" anchor="ctr"/>
          <a:lstStyle/>
          <a:p>
            <a:pPr marL="0" indent="0">
              <a:buNone/>
            </a:pPr>
            <a:r>
              <a:rPr lang="en-US" sz="1300" b="1" kern="0" spc="200" dirty="0">
                <a:solidFill>
                  <a:srgbClr val="F5890B"/>
                </a:solidFill>
                <a:latin typeface="Calibri" panose="020F0502020204030204" pitchFamily="34" charset="0"/>
                <a:ea typeface="Calibri" panose="020F0502020204030204" pitchFamily="34" charset="-122"/>
                <a:cs typeface="Calibri" panose="020F0502020204030204" pitchFamily="34" charset="-120"/>
              </a:rPr>
              <a:t>03 · DEMO CODE</a:t>
            </a:r>
            <a:endParaRPr lang="en-US" sz="1300" dirty="0"/>
          </a:p>
        </p:txBody>
      </p:sp>
      <p:sp>
        <p:nvSpPr>
          <p:cNvPr id="5" name="Text 3"/>
          <p:cNvSpPr/>
          <p:nvPr/>
        </p:nvSpPr>
        <p:spPr>
          <a:xfrm>
            <a:off x="548640" y="777240"/>
            <a:ext cx="9601200" cy="548640"/>
          </a:xfrm>
          <a:prstGeom prst="rect">
            <a:avLst/>
          </a:prstGeom>
          <a:noFill/>
        </p:spPr>
        <p:txBody>
          <a:bodyPr wrap="square" lIns="0" tIns="0" rIns="0" bIns="0" rtlCol="0" anchor="ctr"/>
          <a:lstStyle/>
          <a:p>
            <a:pPr marL="0" indent="0">
              <a:buNone/>
            </a:pPr>
            <a:r>
              <a:rPr lang="en-US" sz="25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Collections — thao tác nâng cao</a:t>
            </a:r>
            <a:endParaRPr lang="en-US" sz="2500" dirty="0"/>
          </a:p>
        </p:txBody>
      </p:sp>
      <p:sp>
        <p:nvSpPr>
          <p:cNvPr id="6" name="Shape 4"/>
          <p:cNvSpPr/>
          <p:nvPr/>
        </p:nvSpPr>
        <p:spPr>
          <a:xfrm>
            <a:off x="548640" y="1508760"/>
            <a:ext cx="11094415" cy="4892040"/>
          </a:xfrm>
          <a:prstGeom prst="roundRect">
            <a:avLst>
              <a:gd name="adj" fmla="val 1682"/>
            </a:avLst>
          </a:prstGeom>
          <a:solidFill>
            <a:srgbClr val="1E1440"/>
          </a:solidFill>
          <a:effectLst>
            <a:outerShdw blurRad="101600" dist="38100" dir="5400000" algn="bl" rotWithShape="0">
              <a:srgbClr val="1A1030">
                <a:alpha val="35000"/>
              </a:srgbClr>
            </a:outerShdw>
          </a:effectLst>
        </p:spPr>
      </p:sp>
      <p:sp>
        <p:nvSpPr>
          <p:cNvPr id="7" name="Shape 5"/>
          <p:cNvSpPr/>
          <p:nvPr/>
        </p:nvSpPr>
        <p:spPr>
          <a:xfrm>
            <a:off x="731520" y="1623060"/>
            <a:ext cx="82296" cy="82296"/>
          </a:xfrm>
          <a:prstGeom prst="ellipse">
            <a:avLst/>
          </a:prstGeom>
          <a:solidFill>
            <a:srgbClr val="FF6159"/>
          </a:solidFill>
        </p:spPr>
      </p:sp>
      <p:sp>
        <p:nvSpPr>
          <p:cNvPr id="8" name="Shape 6"/>
          <p:cNvSpPr/>
          <p:nvPr/>
        </p:nvSpPr>
        <p:spPr>
          <a:xfrm>
            <a:off x="914400" y="1623060"/>
            <a:ext cx="82296" cy="82296"/>
          </a:xfrm>
          <a:prstGeom prst="ellipse">
            <a:avLst/>
          </a:prstGeom>
          <a:solidFill>
            <a:srgbClr val="FFBD2E"/>
          </a:solidFill>
        </p:spPr>
      </p:sp>
      <p:sp>
        <p:nvSpPr>
          <p:cNvPr id="9" name="Shape 7"/>
          <p:cNvSpPr/>
          <p:nvPr/>
        </p:nvSpPr>
        <p:spPr>
          <a:xfrm>
            <a:off x="1097280" y="1623060"/>
            <a:ext cx="82296" cy="82296"/>
          </a:xfrm>
          <a:prstGeom prst="ellipse">
            <a:avLst/>
          </a:prstGeom>
          <a:solidFill>
            <a:srgbClr val="28C840"/>
          </a:solidFill>
        </p:spPr>
      </p:sp>
      <p:sp>
        <p:nvSpPr>
          <p:cNvPr id="10" name="Text 8"/>
          <p:cNvSpPr/>
          <p:nvPr/>
        </p:nvSpPr>
        <p:spPr>
          <a:xfrm>
            <a:off x="1325880" y="1508760"/>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DemoCollection.kt</a:t>
            </a:r>
            <a:endParaRPr lang="en-US" sz="1050" dirty="0"/>
          </a:p>
        </p:txBody>
      </p:sp>
      <p:sp>
        <p:nvSpPr>
          <p:cNvPr id="11" name="Text 9"/>
          <p:cNvSpPr/>
          <p:nvPr/>
        </p:nvSpPr>
        <p:spPr>
          <a:xfrm>
            <a:off x="694944" y="1911096"/>
            <a:ext cx="365760" cy="4087368"/>
          </a:xfrm>
          <a:prstGeom prst="rect">
            <a:avLst/>
          </a:prstGeom>
          <a:noFill/>
        </p:spPr>
        <p:txBody>
          <a:bodyPr wrap="square" lIns="0" tIns="0" rIns="0" bIns="0" rtlCol="0" anchor="t"/>
          <a:lstStyle/>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700" dirty="0"/>
          </a:p>
        </p:txBody>
      </p:sp>
      <p:sp>
        <p:nvSpPr>
          <p:cNvPr id="12" name="Text 10"/>
          <p:cNvSpPr/>
          <p:nvPr/>
        </p:nvSpPr>
        <p:spPr>
          <a:xfrm>
            <a:off x="1170432" y="1911096"/>
            <a:ext cx="10326319" cy="4087368"/>
          </a:xfrm>
          <a:prstGeom prst="rect">
            <a:avLst/>
          </a:prstGeom>
          <a:noFill/>
        </p:spPr>
        <p:txBody>
          <a:bodyPr wrap="square" lIns="0" tIns="0" rIns="0" bIns="0" rtlCol="0" anchor="t"/>
          <a:lstStyle/>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listOf</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"b"</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mutableListOf</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(1, 2, 3, 4)</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addAll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listOf</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(6, 7))</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mapOf</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"id1"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1,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"id2"</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"id3"</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3,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"id4"</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4)</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customMap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entries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key</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value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customMap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mapOf</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"id5"</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5,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"id6"</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6)</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"map $map"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p:txBody>
      </p:sp>
      <p:sp>
        <p:nvSpPr>
          <p:cNvPr id="13" name="Text 11"/>
          <p:cNvSpPr/>
          <p:nvPr/>
        </p:nvSpPr>
        <p:spPr>
          <a:xfrm>
            <a:off x="694944" y="612648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DemoCollection.kt — addAll, map { } biến đổi dữ liệu, gộp map bằng "+".</a:t>
            </a:r>
            <a:endParaRPr lang="en-US" sz="950" dirty="0"/>
          </a:p>
        </p:txBody>
      </p:sp>
      <p:sp>
        <p:nvSpPr>
          <p:cNvPr id="14" name="Text 1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5" name="Text 1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12</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04</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box.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Class</a:t>
            </a:r>
            <a:endParaRPr lang="en-US" sz="3400" dirty="0"/>
          </a:p>
        </p:txBody>
      </p:sp>
      <p:sp>
        <p:nvSpPr>
          <p:cNvPr id="8" name="Text 5"/>
          <p:cNvSpPr/>
          <p:nvPr/>
        </p:nvSpPr>
        <p:spPr>
          <a:xfrm>
            <a:off x="548640" y="4983480"/>
            <a:ext cx="9692640" cy="548640"/>
          </a:xfrm>
          <a:prstGeom prst="rect">
            <a:avLst/>
          </a:prstGeom>
          <a:noFill/>
        </p:spPr>
        <p:txBody>
          <a:bodyPr wrap="square" lIns="0" tIns="0" rIns="0" bIns="0" rtlCol="0" anchor="ctr"/>
          <a:lstStyle/>
          <a:p>
            <a:pPr marL="0" indent="0">
              <a:buNone/>
            </a:pPr>
            <a:r>
              <a:rPr lang="en-US" sz="1500" dirty="0">
                <a:solidFill>
                  <a:srgbClr val="CADCFC"/>
                </a:solidFill>
                <a:latin typeface="Calibri" panose="020F0502020204030204" pitchFamily="34" charset="0"/>
                <a:ea typeface="Calibri" panose="020F0502020204030204" pitchFamily="34" charset="-122"/>
                <a:cs typeface="Calibri" panose="020F0502020204030204" pitchFamily="34" charset="-120"/>
              </a:rPr>
              <a:t>Đóng gói dữ liệu và hành vi; kế thừa với open / override.</a:t>
            </a:r>
            <a:endParaRPr lang="en-US" sz="150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13</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04 · KHÁI NIỆM</a:t>
            </a:r>
            <a:endParaRPr lang="en-US" sz="1250" dirty="0"/>
          </a:p>
        </p:txBody>
      </p:sp>
      <p:sp>
        <p:nvSpPr>
          <p:cNvPr id="3" name="Text 1"/>
          <p:cNvSpPr/>
          <p:nvPr/>
        </p:nvSpPr>
        <p:spPr>
          <a:xfrm>
            <a:off x="548640" y="868680"/>
            <a:ext cx="9601200" cy="594360"/>
          </a:xfrm>
          <a:prstGeom prst="rect">
            <a:avLst/>
          </a:prstGeom>
          <a:noFill/>
        </p:spPr>
        <p:txBody>
          <a:bodyPr wrap="square" lIns="0" tIns="0" rIns="0" bIns="0" rtlCol="0" anchor="ctr"/>
          <a:lstStyle/>
          <a:p>
            <a:pPr marL="0" indent="0">
              <a:buNone/>
            </a:pPr>
            <a:r>
              <a:rPr lang="en-US" sz="2800" b="1" dirty="0">
                <a:solidFill>
                  <a:srgbClr val="241B3D"/>
                </a:solidFill>
                <a:latin typeface="Calibri" panose="020F0502020204030204" pitchFamily="34" charset="0"/>
                <a:ea typeface="Calibri" panose="020F0502020204030204" pitchFamily="34" charset="-122"/>
                <a:cs typeface="Calibri" panose="020F0502020204030204" pitchFamily="34" charset="-120"/>
              </a:rPr>
              <a:t>Class</a:t>
            </a:r>
            <a:endParaRPr lang="en-US" sz="2800" dirty="0"/>
          </a:p>
        </p:txBody>
      </p:sp>
      <p:sp>
        <p:nvSpPr>
          <p:cNvPr id="4" name="Text 2"/>
          <p:cNvSpPr/>
          <p:nvPr/>
        </p:nvSpPr>
        <p:spPr>
          <a:xfrm>
            <a:off x="548640" y="1417320"/>
            <a:ext cx="10058400" cy="365760"/>
          </a:xfrm>
          <a:prstGeom prst="rect">
            <a:avLst/>
          </a:prstGeom>
          <a:noFill/>
        </p:spPr>
        <p:txBody>
          <a:bodyPr wrap="square" lIns="0" tIns="0" rIns="0" bIns="0" rtlCol="0" anchor="ctr"/>
          <a:lstStyle/>
          <a:p>
            <a:pPr marL="0" indent="0">
              <a:buNone/>
            </a:pPr>
            <a:r>
              <a:rPr lang="en-US" sz="1300" dirty="0">
                <a:solidFill>
                  <a:srgbClr val="6B6483"/>
                </a:solidFill>
                <a:latin typeface="Calibri" panose="020F0502020204030204" pitchFamily="34" charset="0"/>
                <a:ea typeface="Calibri" panose="020F0502020204030204" pitchFamily="34" charset="-122"/>
                <a:cs typeface="Calibri" panose="020F0502020204030204" pitchFamily="34" charset="-120"/>
              </a:rPr>
              <a:t>Constructor, init block và kế thừa trong Kotlin.</a:t>
            </a:r>
            <a:endParaRPr lang="en-US" sz="1300" dirty="0"/>
          </a:p>
        </p:txBody>
      </p:sp>
      <p:sp>
        <p:nvSpPr>
          <p:cNvPr id="5" name="Shape 3"/>
          <p:cNvSpPr/>
          <p:nvPr/>
        </p:nvSpPr>
        <p:spPr>
          <a:xfrm>
            <a:off x="548640" y="2020824"/>
            <a:ext cx="512064" cy="512064"/>
          </a:xfrm>
          <a:prstGeom prst="ellipse">
            <a:avLst/>
          </a:prstGeom>
          <a:solidFill>
            <a:srgbClr val="2D1B69"/>
          </a:solidFill>
        </p:spPr>
      </p:sp>
      <p:pic>
        <p:nvPicPr>
          <p:cNvPr id="6" name="Image 0" descr="/home/claude/kotlin_slides/icons/box.png"/>
          <p:cNvPicPr>
            <a:picLocks noChangeAspect="1"/>
          </p:cNvPicPr>
          <p:nvPr/>
        </p:nvPicPr>
        <p:blipFill>
          <a:blip r:embed="rId1"/>
          <a:stretch>
            <a:fillRect/>
          </a:stretch>
        </p:blipFill>
        <p:spPr>
          <a:xfrm>
            <a:off x="676656" y="2148840"/>
            <a:ext cx="256032" cy="256032"/>
          </a:xfrm>
          <a:prstGeom prst="rect">
            <a:avLst/>
          </a:prstGeom>
        </p:spPr>
      </p:pic>
      <p:sp>
        <p:nvSpPr>
          <p:cNvPr id="7" name="Text 4"/>
          <p:cNvSpPr/>
          <p:nvPr/>
        </p:nvSpPr>
        <p:spPr>
          <a:xfrm>
            <a:off x="1325880" y="196596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Constructor &amp; thuộc tính</a:t>
            </a:r>
            <a:endParaRPr lang="en-US" sz="1550" dirty="0"/>
          </a:p>
        </p:txBody>
      </p:sp>
      <p:sp>
        <p:nvSpPr>
          <p:cNvPr id="8" name="Text 5"/>
          <p:cNvSpPr/>
          <p:nvPr/>
        </p:nvSpPr>
        <p:spPr>
          <a:xfrm>
            <a:off x="1325880" y="229514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Khai báo tham số ngay trên class header, ví dụ open class Film(var name: String) — tự sinh property và constructor.</a:t>
            </a:r>
            <a:endParaRPr lang="en-US" sz="1250" dirty="0"/>
          </a:p>
        </p:txBody>
      </p:sp>
      <p:sp>
        <p:nvSpPr>
          <p:cNvPr id="9" name="Shape 6"/>
          <p:cNvSpPr/>
          <p:nvPr/>
        </p:nvSpPr>
        <p:spPr>
          <a:xfrm>
            <a:off x="548640" y="3095244"/>
            <a:ext cx="512064" cy="512064"/>
          </a:xfrm>
          <a:prstGeom prst="ellipse">
            <a:avLst/>
          </a:prstGeom>
          <a:solidFill>
            <a:srgbClr val="F5890B"/>
          </a:solidFill>
        </p:spPr>
      </p:sp>
      <p:pic>
        <p:nvPicPr>
          <p:cNvPr id="10" name="Image 1" descr="/home/claude/kotlin_slides/icons/zap.png"/>
          <p:cNvPicPr>
            <a:picLocks noChangeAspect="1"/>
          </p:cNvPicPr>
          <p:nvPr/>
        </p:nvPicPr>
        <p:blipFill>
          <a:blip r:embed="rId2"/>
          <a:stretch>
            <a:fillRect/>
          </a:stretch>
        </p:blipFill>
        <p:spPr>
          <a:xfrm>
            <a:off x="676656" y="3223260"/>
            <a:ext cx="256032" cy="256032"/>
          </a:xfrm>
          <a:prstGeom prst="rect">
            <a:avLst/>
          </a:prstGeom>
        </p:spPr>
      </p:pic>
      <p:sp>
        <p:nvSpPr>
          <p:cNvPr id="11" name="Text 7"/>
          <p:cNvSpPr/>
          <p:nvPr/>
        </p:nvSpPr>
        <p:spPr>
          <a:xfrm>
            <a:off x="1325880" y="304038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init block</a:t>
            </a:r>
            <a:endParaRPr lang="en-US" sz="1550" dirty="0"/>
          </a:p>
        </p:txBody>
      </p:sp>
      <p:sp>
        <p:nvSpPr>
          <p:cNvPr id="12" name="Text 8"/>
          <p:cNvSpPr/>
          <p:nvPr/>
        </p:nvSpPr>
        <p:spPr>
          <a:xfrm>
            <a:off x="1325880" y="336956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Chạy ngay sau constructor chính, thường dùng để xử lý hoặc validate dữ liệu khởi tạo, ví dụ name = name.trim().</a:t>
            </a:r>
            <a:endParaRPr lang="en-US" sz="1250" dirty="0"/>
          </a:p>
        </p:txBody>
      </p:sp>
      <p:sp>
        <p:nvSpPr>
          <p:cNvPr id="13" name="Shape 9"/>
          <p:cNvSpPr/>
          <p:nvPr/>
        </p:nvSpPr>
        <p:spPr>
          <a:xfrm>
            <a:off x="548640" y="4169664"/>
            <a:ext cx="512064" cy="512064"/>
          </a:xfrm>
          <a:prstGeom prst="ellipse">
            <a:avLst/>
          </a:prstGeom>
          <a:solidFill>
            <a:srgbClr val="2D1B69"/>
          </a:solidFill>
        </p:spPr>
      </p:sp>
      <p:pic>
        <p:nvPicPr>
          <p:cNvPr id="14" name="Image 2" descr="/home/claude/kotlin_slides/icons/lock.png"/>
          <p:cNvPicPr>
            <a:picLocks noChangeAspect="1"/>
          </p:cNvPicPr>
          <p:nvPr/>
        </p:nvPicPr>
        <p:blipFill>
          <a:blip r:embed="rId3"/>
          <a:stretch>
            <a:fillRect/>
          </a:stretch>
        </p:blipFill>
        <p:spPr>
          <a:xfrm>
            <a:off x="676656" y="4297680"/>
            <a:ext cx="256032" cy="256032"/>
          </a:xfrm>
          <a:prstGeom prst="rect">
            <a:avLst/>
          </a:prstGeom>
        </p:spPr>
      </p:pic>
      <p:sp>
        <p:nvSpPr>
          <p:cNvPr id="15" name="Text 10"/>
          <p:cNvSpPr/>
          <p:nvPr/>
        </p:nvSpPr>
        <p:spPr>
          <a:xfrm>
            <a:off x="1325880" y="411480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open / override</a:t>
            </a:r>
            <a:endParaRPr lang="en-US" sz="1550" dirty="0"/>
          </a:p>
        </p:txBody>
      </p:sp>
      <p:sp>
        <p:nvSpPr>
          <p:cNvPr id="16" name="Text 11"/>
          <p:cNvSpPr/>
          <p:nvPr/>
        </p:nvSpPr>
        <p:spPr>
          <a:xfrm>
            <a:off x="1325880" y="444398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Class và hàm mặc định là final trong Kotlin; phải khai báo open mới cho phép lớp con kế thừa hoặc ghi đè bằng override.</a:t>
            </a:r>
            <a:endParaRPr lang="en-US" sz="1250" dirty="0"/>
          </a:p>
        </p:txBody>
      </p:sp>
      <p:sp>
        <p:nvSpPr>
          <p:cNvPr id="17" name="Shape 12"/>
          <p:cNvSpPr/>
          <p:nvPr/>
        </p:nvSpPr>
        <p:spPr>
          <a:xfrm>
            <a:off x="548640" y="5244084"/>
            <a:ext cx="512064" cy="512064"/>
          </a:xfrm>
          <a:prstGeom prst="ellipse">
            <a:avLst/>
          </a:prstGeom>
          <a:solidFill>
            <a:srgbClr val="F5890B"/>
          </a:solidFill>
        </p:spPr>
      </p:sp>
      <p:pic>
        <p:nvPicPr>
          <p:cNvPr id="18" name="Image 3" descr="/home/claude/kotlin_slides/icons/gitmerge.png"/>
          <p:cNvPicPr>
            <a:picLocks noChangeAspect="1"/>
          </p:cNvPicPr>
          <p:nvPr/>
        </p:nvPicPr>
        <p:blipFill>
          <a:blip r:embed="rId4"/>
          <a:stretch>
            <a:fillRect/>
          </a:stretch>
        </p:blipFill>
        <p:spPr>
          <a:xfrm>
            <a:off x="676656" y="5372100"/>
            <a:ext cx="256032" cy="256032"/>
          </a:xfrm>
          <a:prstGeom prst="rect">
            <a:avLst/>
          </a:prstGeom>
        </p:spPr>
      </p:pic>
      <p:sp>
        <p:nvSpPr>
          <p:cNvPr id="19" name="Text 13"/>
          <p:cNvSpPr/>
          <p:nvPr/>
        </p:nvSpPr>
        <p:spPr>
          <a:xfrm>
            <a:off x="1325880" y="518922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Kế thừa với super</a:t>
            </a:r>
            <a:endParaRPr lang="en-US" sz="1550" dirty="0"/>
          </a:p>
        </p:txBody>
      </p:sp>
      <p:sp>
        <p:nvSpPr>
          <p:cNvPr id="20" name="Text 14"/>
          <p:cNvSpPr/>
          <p:nvPr/>
        </p:nvSpPr>
        <p:spPr>
          <a:xfrm>
            <a:off x="1325880" y="551840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Class con dùng cú pháp : Parent(...) để kế thừa, và gọi super.method() để tái sử dụng logic từ lớp cha.</a:t>
            </a:r>
            <a:endParaRPr lang="en-US" sz="1250" dirty="0"/>
          </a:p>
        </p:txBody>
      </p:sp>
      <p:sp>
        <p:nvSpPr>
          <p:cNvPr id="21" name="Text 15"/>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2" name="Text 16"/>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14</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457200"/>
            <a:ext cx="7315200" cy="365760"/>
          </a:xfrm>
          <a:prstGeom prst="rect">
            <a:avLst/>
          </a:prstGeom>
          <a:noFill/>
        </p:spPr>
        <p:txBody>
          <a:bodyPr wrap="square" lIns="0" tIns="0" rIns="0" bIns="0" rtlCol="0" anchor="ctr"/>
          <a:lstStyle/>
          <a:p>
            <a:pPr marL="0" indent="0">
              <a:buNone/>
            </a:pPr>
            <a:r>
              <a:rPr lang="en-US" sz="1300" b="1" kern="0" spc="200" dirty="0">
                <a:solidFill>
                  <a:srgbClr val="F5890B"/>
                </a:solidFill>
                <a:latin typeface="Calibri" panose="020F0502020204030204" pitchFamily="34" charset="0"/>
                <a:ea typeface="Calibri" panose="020F0502020204030204" pitchFamily="34" charset="-122"/>
                <a:cs typeface="Calibri" panose="020F0502020204030204" pitchFamily="34" charset="-120"/>
              </a:rPr>
              <a:t>04 · DEMO CODE</a:t>
            </a:r>
            <a:endParaRPr lang="en-US" sz="1300" dirty="0"/>
          </a:p>
        </p:txBody>
      </p:sp>
      <p:sp>
        <p:nvSpPr>
          <p:cNvPr id="5" name="Text 3"/>
          <p:cNvSpPr/>
          <p:nvPr/>
        </p:nvSpPr>
        <p:spPr>
          <a:xfrm>
            <a:off x="548640" y="777240"/>
            <a:ext cx="9601200" cy="548640"/>
          </a:xfrm>
          <a:prstGeom prst="rect">
            <a:avLst/>
          </a:prstGeom>
          <a:noFill/>
        </p:spPr>
        <p:txBody>
          <a:bodyPr wrap="square" lIns="0" tIns="0" rIns="0" bIns="0" rtlCol="0" anchor="ctr"/>
          <a:lstStyle/>
          <a:p>
            <a:pPr marL="0" indent="0">
              <a:buNone/>
            </a:pPr>
            <a:r>
              <a:rPr lang="en-US" sz="2500" b="1" dirty="0">
                <a:solidFill>
                  <a:srgbClr val="FFFFFF"/>
                </a:solidFill>
                <a:latin typeface="Calibri" panose="020F0502020204030204" pitchFamily="34" charset="0"/>
                <a:ea typeface="Calibri" panose="020F0502020204030204" pitchFamily="34" charset="-122"/>
                <a:cs typeface="Calibri" panose="020F0502020204030204" pitchFamily="34" charset="-120"/>
              </a:rPr>
              <a:t>Class &amp; Inheritance</a:t>
            </a:r>
            <a:endParaRPr lang="en-US" sz="2500" dirty="0"/>
          </a:p>
        </p:txBody>
      </p:sp>
      <p:sp>
        <p:nvSpPr>
          <p:cNvPr id="6" name="Shape 4"/>
          <p:cNvSpPr/>
          <p:nvPr/>
        </p:nvSpPr>
        <p:spPr>
          <a:xfrm>
            <a:off x="548640" y="1508760"/>
            <a:ext cx="11094415" cy="4892040"/>
          </a:xfrm>
          <a:prstGeom prst="roundRect">
            <a:avLst>
              <a:gd name="adj" fmla="val 1682"/>
            </a:avLst>
          </a:prstGeom>
          <a:solidFill>
            <a:srgbClr val="1E1440"/>
          </a:solidFill>
          <a:effectLst>
            <a:outerShdw blurRad="101600" dist="38100" dir="5400000" algn="bl" rotWithShape="0">
              <a:srgbClr val="1A1030">
                <a:alpha val="35000"/>
              </a:srgbClr>
            </a:outerShdw>
          </a:effectLst>
        </p:spPr>
      </p:sp>
      <p:sp>
        <p:nvSpPr>
          <p:cNvPr id="7" name="Shape 5"/>
          <p:cNvSpPr/>
          <p:nvPr/>
        </p:nvSpPr>
        <p:spPr>
          <a:xfrm>
            <a:off x="731520" y="1623060"/>
            <a:ext cx="82296" cy="82296"/>
          </a:xfrm>
          <a:prstGeom prst="ellipse">
            <a:avLst/>
          </a:prstGeom>
          <a:solidFill>
            <a:srgbClr val="FF6159"/>
          </a:solidFill>
        </p:spPr>
      </p:sp>
      <p:sp>
        <p:nvSpPr>
          <p:cNvPr id="8" name="Shape 6"/>
          <p:cNvSpPr/>
          <p:nvPr/>
        </p:nvSpPr>
        <p:spPr>
          <a:xfrm>
            <a:off x="914400" y="1623060"/>
            <a:ext cx="82296" cy="82296"/>
          </a:xfrm>
          <a:prstGeom prst="ellipse">
            <a:avLst/>
          </a:prstGeom>
          <a:solidFill>
            <a:srgbClr val="FFBD2E"/>
          </a:solidFill>
        </p:spPr>
      </p:sp>
      <p:sp>
        <p:nvSpPr>
          <p:cNvPr id="9" name="Shape 7"/>
          <p:cNvSpPr/>
          <p:nvPr/>
        </p:nvSpPr>
        <p:spPr>
          <a:xfrm>
            <a:off x="1097280" y="1623060"/>
            <a:ext cx="82296" cy="82296"/>
          </a:xfrm>
          <a:prstGeom prst="ellipse">
            <a:avLst/>
          </a:prstGeom>
          <a:solidFill>
            <a:srgbClr val="28C840"/>
          </a:solidFill>
        </p:spPr>
      </p:sp>
      <p:sp>
        <p:nvSpPr>
          <p:cNvPr id="10" name="Text 8"/>
          <p:cNvSpPr/>
          <p:nvPr/>
        </p:nvSpPr>
        <p:spPr>
          <a:xfrm>
            <a:off x="1325880" y="1508760"/>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Inheritance.kt</a:t>
            </a:r>
            <a:endParaRPr lang="en-US" sz="1050" dirty="0"/>
          </a:p>
        </p:txBody>
      </p:sp>
      <p:sp>
        <p:nvSpPr>
          <p:cNvPr id="11" name="Text 9"/>
          <p:cNvSpPr/>
          <p:nvPr/>
        </p:nvSpPr>
        <p:spPr>
          <a:xfrm>
            <a:off x="694944" y="1911096"/>
            <a:ext cx="365760" cy="4087368"/>
          </a:xfrm>
          <a:prstGeom prst="rect">
            <a:avLst/>
          </a:prstGeom>
          <a:noFill/>
        </p:spPr>
        <p:txBody>
          <a:bodyPr wrap="square" lIns="0" tIns="0" rIns="0" bIns="0" rtlCol="0" anchor="t"/>
          <a:lstStyle/>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19</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20</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22</a:t>
            </a:r>
            <a:endParaRPr lang="en-US" sz="1050" dirty="0"/>
          </a:p>
        </p:txBody>
      </p:sp>
      <p:sp>
        <p:nvSpPr>
          <p:cNvPr id="12" name="Text 10"/>
          <p:cNvSpPr/>
          <p:nvPr/>
        </p:nvSpPr>
        <p:spPr>
          <a:xfrm>
            <a:off x="1170432" y="1911096"/>
            <a:ext cx="10326319" cy="4087368"/>
          </a:xfrm>
          <a:prstGeom prst="rect">
            <a:avLst/>
          </a:prstGeom>
          <a:noFill/>
        </p:spPr>
        <p:txBody>
          <a:bodyPr wrap="square" lIns="0" tIns="0" rIns="0" bIns="0" rtlCol="0" anchor="t"/>
          <a:lstStyle/>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Film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init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"Film init"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trim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 $name"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Marvel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Film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init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"Marvel init"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override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super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"This film is from Marvel"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marvel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Marvel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 Avengers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marvel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p:txBody>
      </p:sp>
      <p:sp>
        <p:nvSpPr>
          <p:cNvPr id="13" name="Text 11"/>
          <p:cNvSpPr/>
          <p:nvPr/>
        </p:nvSpPr>
        <p:spPr>
          <a:xfrm>
            <a:off x="694944" y="612648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Inheritance.kt — open class, init, override và super.</a:t>
            </a:r>
            <a:endParaRPr lang="en-US" sz="950" dirty="0"/>
          </a:p>
        </p:txBody>
      </p:sp>
      <p:sp>
        <p:nvSpPr>
          <p:cNvPr id="14" name="Text 1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5" name="Text 1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15</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05</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copy.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4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 class</a:t>
            </a:r>
            <a:endParaRPr lang="en-US" sz="3400" dirty="0"/>
          </a:p>
        </p:txBody>
      </p:sp>
      <p:sp>
        <p:nvSpPr>
          <p:cNvPr id="8" name="Text 5"/>
          <p:cNvSpPr/>
          <p:nvPr/>
        </p:nvSpPr>
        <p:spPr>
          <a:xfrm>
            <a:off x="548640" y="4983480"/>
            <a:ext cx="9692640" cy="548640"/>
          </a:xfrm>
          <a:prstGeom prst="rect">
            <a:avLst/>
          </a:prstGeom>
          <a:noFill/>
        </p:spPr>
        <p:txBody>
          <a:bodyPr wrap="square" lIns="0" tIns="0" rIns="0" bIns="0" rtlCol="0" anchor="ctr"/>
          <a:lstStyle/>
          <a:p>
            <a:pPr marL="0" indent="0">
              <a:buNone/>
            </a:pPr>
            <a:r>
              <a:rPr lang="en-US" sz="1500" dirty="0">
                <a:solidFill>
                  <a:srgbClr val="CADCFC"/>
                </a:solidFill>
                <a:latin typeface="Calibri" panose="020F0502020204030204" pitchFamily="34" charset="0"/>
                <a:ea typeface="Calibri" panose="020F0502020204030204" pitchFamily="34" charset="-122"/>
                <a:cs typeface="Calibri" panose="020F0502020204030204" pitchFamily="34" charset="-120"/>
              </a:rPr>
              <a:t>Model dữ liệu gọn nhẹ với equals, hashCode, toString và copy tự sinh.</a:t>
            </a:r>
            <a:endParaRPr lang="en-US" sz="150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16</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05 · KHÁI NIỆM</a:t>
            </a:r>
            <a:endParaRPr lang="en-US" sz="1250" dirty="0"/>
          </a:p>
        </p:txBody>
      </p:sp>
      <p:sp>
        <p:nvSpPr>
          <p:cNvPr id="3" name="Text 1"/>
          <p:cNvSpPr/>
          <p:nvPr/>
        </p:nvSpPr>
        <p:spPr>
          <a:xfrm>
            <a:off x="548640" y="868680"/>
            <a:ext cx="9601200" cy="594360"/>
          </a:xfrm>
          <a:prstGeom prst="rect">
            <a:avLst/>
          </a:prstGeom>
          <a:noFill/>
        </p:spPr>
        <p:txBody>
          <a:bodyPr wrap="square" lIns="0" tIns="0" rIns="0" bIns="0" rtlCol="0" anchor="ctr"/>
          <a:lstStyle/>
          <a:p>
            <a:pPr marL="0" indent="0">
              <a:buNone/>
            </a:pPr>
            <a:r>
              <a:rPr lang="en-US" sz="2800" b="1" dirty="0">
                <a:solidFill>
                  <a:srgbClr val="241B3D"/>
                </a:solidFill>
                <a:latin typeface="Calibri" panose="020F0502020204030204" pitchFamily="34" charset="0"/>
                <a:ea typeface="Calibri" panose="020F0502020204030204" pitchFamily="34" charset="-122"/>
                <a:cs typeface="Calibri" panose="020F0502020204030204" pitchFamily="34" charset="-120"/>
              </a:rPr>
              <a:t>Data class</a:t>
            </a:r>
            <a:endParaRPr lang="en-US" sz="2800" dirty="0"/>
          </a:p>
        </p:txBody>
      </p:sp>
      <p:sp>
        <p:nvSpPr>
          <p:cNvPr id="4" name="Text 2"/>
          <p:cNvSpPr/>
          <p:nvPr/>
        </p:nvSpPr>
        <p:spPr>
          <a:xfrm>
            <a:off x="548640" y="1417320"/>
            <a:ext cx="10058400" cy="365760"/>
          </a:xfrm>
          <a:prstGeom prst="rect">
            <a:avLst/>
          </a:prstGeom>
          <a:noFill/>
        </p:spPr>
        <p:txBody>
          <a:bodyPr wrap="square" lIns="0" tIns="0" rIns="0" bIns="0" rtlCol="0" anchor="ctr"/>
          <a:lstStyle/>
          <a:p>
            <a:pPr marL="0" indent="0">
              <a:buNone/>
            </a:pPr>
            <a:r>
              <a:rPr lang="en-US" sz="1300" dirty="0">
                <a:solidFill>
                  <a:srgbClr val="6B6483"/>
                </a:solidFill>
                <a:latin typeface="Calibri" panose="020F0502020204030204" pitchFamily="34" charset="0"/>
                <a:ea typeface="Calibri" panose="020F0502020204030204" pitchFamily="34" charset="-122"/>
                <a:cs typeface="Calibri" panose="020F0502020204030204" pitchFamily="34" charset="-120"/>
              </a:rPr>
              <a:t>Dành riêng cho việc lưu trữ dữ liệu — Kotlin lo phần boilerplate.</a:t>
            </a:r>
            <a:endParaRPr lang="en-US" sz="1300" dirty="0"/>
          </a:p>
        </p:txBody>
      </p:sp>
      <p:sp>
        <p:nvSpPr>
          <p:cNvPr id="5" name="Shape 3"/>
          <p:cNvSpPr/>
          <p:nvPr/>
        </p:nvSpPr>
        <p:spPr>
          <a:xfrm>
            <a:off x="548640" y="2020824"/>
            <a:ext cx="512064" cy="512064"/>
          </a:xfrm>
          <a:prstGeom prst="ellipse">
            <a:avLst/>
          </a:prstGeom>
          <a:solidFill>
            <a:srgbClr val="2D1B69"/>
          </a:solidFill>
        </p:spPr>
      </p:sp>
      <p:pic>
        <p:nvPicPr>
          <p:cNvPr id="6" name="Image 0" descr="/home/claude/kotlin_slides/icons/copy.png"/>
          <p:cNvPicPr>
            <a:picLocks noChangeAspect="1"/>
          </p:cNvPicPr>
          <p:nvPr/>
        </p:nvPicPr>
        <p:blipFill>
          <a:blip r:embed="rId1"/>
          <a:stretch>
            <a:fillRect/>
          </a:stretch>
        </p:blipFill>
        <p:spPr>
          <a:xfrm>
            <a:off x="676656" y="2148840"/>
            <a:ext cx="256032" cy="256032"/>
          </a:xfrm>
          <a:prstGeom prst="rect">
            <a:avLst/>
          </a:prstGeom>
        </p:spPr>
      </p:pic>
      <p:sp>
        <p:nvSpPr>
          <p:cNvPr id="7" name="Text 4"/>
          <p:cNvSpPr/>
          <p:nvPr/>
        </p:nvSpPr>
        <p:spPr>
          <a:xfrm>
            <a:off x="1325880" y="196596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Tự sinh boilerplate</a:t>
            </a:r>
            <a:endParaRPr lang="en-US" sz="1550" dirty="0"/>
          </a:p>
        </p:txBody>
      </p:sp>
      <p:sp>
        <p:nvSpPr>
          <p:cNvPr id="8" name="Text 5"/>
          <p:cNvSpPr/>
          <p:nvPr/>
        </p:nvSpPr>
        <p:spPr>
          <a:xfrm>
            <a:off x="1325880" y="229514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Compiler tự tạo equals()/hashCode(), toString() dễ đọc, và copy() cho data class — không cần viết tay như class thường.</a:t>
            </a:r>
            <a:endParaRPr lang="en-US" sz="1250" dirty="0"/>
          </a:p>
        </p:txBody>
      </p:sp>
      <p:sp>
        <p:nvSpPr>
          <p:cNvPr id="9" name="Shape 6"/>
          <p:cNvSpPr/>
          <p:nvPr/>
        </p:nvSpPr>
        <p:spPr>
          <a:xfrm>
            <a:off x="548640" y="3095244"/>
            <a:ext cx="512064" cy="512064"/>
          </a:xfrm>
          <a:prstGeom prst="ellipse">
            <a:avLst/>
          </a:prstGeom>
          <a:solidFill>
            <a:srgbClr val="F5890B"/>
          </a:solidFill>
        </p:spPr>
      </p:sp>
      <p:pic>
        <p:nvPicPr>
          <p:cNvPr id="10" name="Image 1" descr="/home/claude/kotlin_slides/icons/target.png"/>
          <p:cNvPicPr>
            <a:picLocks noChangeAspect="1"/>
          </p:cNvPicPr>
          <p:nvPr/>
        </p:nvPicPr>
        <p:blipFill>
          <a:blip r:embed="rId2"/>
          <a:stretch>
            <a:fillRect/>
          </a:stretch>
        </p:blipFill>
        <p:spPr>
          <a:xfrm>
            <a:off x="676656" y="3223260"/>
            <a:ext cx="256032" cy="256032"/>
          </a:xfrm>
          <a:prstGeom prst="rect">
            <a:avLst/>
          </a:prstGeom>
        </p:spPr>
      </p:pic>
      <p:sp>
        <p:nvSpPr>
          <p:cNvPr id="11" name="Text 7"/>
          <p:cNvSpPr/>
          <p:nvPr/>
        </p:nvSpPr>
        <p:spPr>
          <a:xfrm>
            <a:off x="1325880" y="304038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So sánh theo giá trị</a:t>
            </a:r>
            <a:endParaRPr lang="en-US" sz="1550" dirty="0"/>
          </a:p>
        </p:txBody>
      </p:sp>
      <p:sp>
        <p:nvSpPr>
          <p:cNvPr id="12" name="Text 8"/>
          <p:cNvSpPr/>
          <p:nvPr/>
        </p:nvSpPr>
        <p:spPr>
          <a:xfrm>
            <a:off x="1325880" y="336956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 so sánh nội dung thuộc tính (structural equality), khác với class thường vốn chỉ so sánh tham chiếu (reference).</a:t>
            </a:r>
            <a:endParaRPr lang="en-US" sz="1250" dirty="0"/>
          </a:p>
        </p:txBody>
      </p:sp>
      <p:sp>
        <p:nvSpPr>
          <p:cNvPr id="13" name="Shape 9"/>
          <p:cNvSpPr/>
          <p:nvPr/>
        </p:nvSpPr>
        <p:spPr>
          <a:xfrm>
            <a:off x="548640" y="4169664"/>
            <a:ext cx="512064" cy="512064"/>
          </a:xfrm>
          <a:prstGeom prst="ellipse">
            <a:avLst/>
          </a:prstGeom>
          <a:solidFill>
            <a:srgbClr val="2D1B69"/>
          </a:solidFill>
        </p:spPr>
      </p:sp>
      <p:pic>
        <p:nvPicPr>
          <p:cNvPr id="14" name="Image 2" descr="/home/claude/kotlin_slides/icons/zap.png"/>
          <p:cNvPicPr>
            <a:picLocks noChangeAspect="1"/>
          </p:cNvPicPr>
          <p:nvPr/>
        </p:nvPicPr>
        <p:blipFill>
          <a:blip r:embed="rId3"/>
          <a:stretch>
            <a:fillRect/>
          </a:stretch>
        </p:blipFill>
        <p:spPr>
          <a:xfrm>
            <a:off x="676656" y="4297680"/>
            <a:ext cx="256032" cy="256032"/>
          </a:xfrm>
          <a:prstGeom prst="rect">
            <a:avLst/>
          </a:prstGeom>
        </p:spPr>
      </p:pic>
      <p:sp>
        <p:nvSpPr>
          <p:cNvPr id="15" name="Text 10"/>
          <p:cNvSpPr/>
          <p:nvPr/>
        </p:nvSpPr>
        <p:spPr>
          <a:xfrm>
            <a:off x="1325880" y="411480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copy() tiện lợi</a:t>
            </a:r>
            <a:endParaRPr lang="en-US" sz="1550" dirty="0"/>
          </a:p>
        </p:txBody>
      </p:sp>
      <p:sp>
        <p:nvSpPr>
          <p:cNvPr id="16" name="Text 11"/>
          <p:cNvSpPr/>
          <p:nvPr/>
        </p:nvSpPr>
        <p:spPr>
          <a:xfrm>
            <a:off x="1325880" y="444398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Tạo bản sao với một vài thuộc tính thay đổi mà không ảnh hưởng object gốc, ví dụ student.copy(age = 21).</a:t>
            </a:r>
            <a:endParaRPr lang="en-US" sz="1250" dirty="0"/>
          </a:p>
        </p:txBody>
      </p:sp>
      <p:sp>
        <p:nvSpPr>
          <p:cNvPr id="17" name="Shape 12"/>
          <p:cNvSpPr/>
          <p:nvPr/>
        </p:nvSpPr>
        <p:spPr>
          <a:xfrm>
            <a:off x="548640" y="5244084"/>
            <a:ext cx="512064" cy="512064"/>
          </a:xfrm>
          <a:prstGeom prst="ellipse">
            <a:avLst/>
          </a:prstGeom>
          <a:solidFill>
            <a:srgbClr val="F5890B"/>
          </a:solidFill>
        </p:spPr>
      </p:sp>
      <p:pic>
        <p:nvPicPr>
          <p:cNvPr id="18" name="Image 3" descr="/home/claude/kotlin_slides/icons/star.png"/>
          <p:cNvPicPr>
            <a:picLocks noChangeAspect="1"/>
          </p:cNvPicPr>
          <p:nvPr/>
        </p:nvPicPr>
        <p:blipFill>
          <a:blip r:embed="rId4"/>
          <a:stretch>
            <a:fillRect/>
          </a:stretch>
        </p:blipFill>
        <p:spPr>
          <a:xfrm>
            <a:off x="676656" y="5372100"/>
            <a:ext cx="256032" cy="256032"/>
          </a:xfrm>
          <a:prstGeom prst="rect">
            <a:avLst/>
          </a:prstGeom>
        </p:spPr>
      </p:pic>
      <p:sp>
        <p:nvSpPr>
          <p:cNvPr id="19" name="Text 13"/>
          <p:cNvSpPr/>
          <p:nvPr/>
        </p:nvSpPr>
        <p:spPr>
          <a:xfrm>
            <a:off x="1325880" y="518922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Yêu cầu cú pháp</a:t>
            </a:r>
            <a:endParaRPr lang="en-US" sz="1550" dirty="0"/>
          </a:p>
        </p:txBody>
      </p:sp>
      <p:sp>
        <p:nvSpPr>
          <p:cNvPr id="20" name="Text 14"/>
          <p:cNvSpPr/>
          <p:nvPr/>
        </p:nvSpPr>
        <p:spPr>
          <a:xfrm>
            <a:off x="1325880" y="551840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Constructor chính cần ít nhất 1 tham số, và các tham số nên khai báo là val/var để trở thành property.</a:t>
            </a:r>
            <a:endParaRPr lang="en-US" sz="1250" dirty="0"/>
          </a:p>
        </p:txBody>
      </p:sp>
      <p:sp>
        <p:nvSpPr>
          <p:cNvPr id="21" name="Text 15"/>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2" name="Text 16"/>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17</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457200"/>
            <a:ext cx="7315200" cy="365760"/>
          </a:xfrm>
          <a:prstGeom prst="rect">
            <a:avLst/>
          </a:prstGeom>
          <a:noFill/>
        </p:spPr>
        <p:txBody>
          <a:bodyPr wrap="square" lIns="0" tIns="0" rIns="0" bIns="0" rtlCol="0" anchor="ctr"/>
          <a:lstStyle/>
          <a:p>
            <a:pPr marL="0" indent="0">
              <a:buNone/>
            </a:pPr>
            <a:r>
              <a:rPr lang="en-US" sz="1300" b="1" kern="0" spc="200" dirty="0">
                <a:solidFill>
                  <a:srgbClr val="F5890B"/>
                </a:solidFill>
                <a:latin typeface="Calibri" panose="020F0502020204030204" pitchFamily="34" charset="0"/>
                <a:ea typeface="Calibri" panose="020F0502020204030204" pitchFamily="34" charset="-122"/>
                <a:cs typeface="Calibri" panose="020F0502020204030204" pitchFamily="34" charset="-120"/>
              </a:rPr>
              <a:t>05 · DEMO CODE</a:t>
            </a:r>
            <a:endParaRPr lang="en-US" sz="1300" dirty="0"/>
          </a:p>
        </p:txBody>
      </p:sp>
      <p:sp>
        <p:nvSpPr>
          <p:cNvPr id="5" name="Text 3"/>
          <p:cNvSpPr/>
          <p:nvPr/>
        </p:nvSpPr>
        <p:spPr>
          <a:xfrm>
            <a:off x="548640" y="777240"/>
            <a:ext cx="9601200" cy="548640"/>
          </a:xfrm>
          <a:prstGeom prst="rect">
            <a:avLst/>
          </a:prstGeom>
          <a:noFill/>
        </p:spPr>
        <p:txBody>
          <a:bodyPr wrap="square" lIns="0" tIns="0" rIns="0" bIns="0" rtlCol="0" anchor="ctr"/>
          <a:lstStyle/>
          <a:p>
            <a:pPr marL="0" indent="0">
              <a:buNone/>
            </a:pPr>
            <a:r>
              <a:rPr lang="en-US" sz="25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 class</a:t>
            </a:r>
            <a:endParaRPr lang="en-US" sz="2500" dirty="0"/>
          </a:p>
        </p:txBody>
      </p:sp>
      <p:sp>
        <p:nvSpPr>
          <p:cNvPr id="6" name="Shape 4"/>
          <p:cNvSpPr/>
          <p:nvPr/>
        </p:nvSpPr>
        <p:spPr>
          <a:xfrm>
            <a:off x="548640" y="1508760"/>
            <a:ext cx="11094415" cy="4892040"/>
          </a:xfrm>
          <a:prstGeom prst="roundRect">
            <a:avLst>
              <a:gd name="adj" fmla="val 1682"/>
            </a:avLst>
          </a:prstGeom>
          <a:solidFill>
            <a:srgbClr val="1E1440"/>
          </a:solidFill>
          <a:effectLst>
            <a:outerShdw blurRad="101600" dist="38100" dir="5400000" algn="bl" rotWithShape="0">
              <a:srgbClr val="1A1030">
                <a:alpha val="35000"/>
              </a:srgbClr>
            </a:outerShdw>
          </a:effectLst>
        </p:spPr>
      </p:sp>
      <p:sp>
        <p:nvSpPr>
          <p:cNvPr id="7" name="Shape 5"/>
          <p:cNvSpPr/>
          <p:nvPr/>
        </p:nvSpPr>
        <p:spPr>
          <a:xfrm>
            <a:off x="731520" y="1623060"/>
            <a:ext cx="82296" cy="82296"/>
          </a:xfrm>
          <a:prstGeom prst="ellipse">
            <a:avLst/>
          </a:prstGeom>
          <a:solidFill>
            <a:srgbClr val="FF6159"/>
          </a:solidFill>
        </p:spPr>
      </p:sp>
      <p:sp>
        <p:nvSpPr>
          <p:cNvPr id="8" name="Shape 6"/>
          <p:cNvSpPr/>
          <p:nvPr/>
        </p:nvSpPr>
        <p:spPr>
          <a:xfrm>
            <a:off x="914400" y="1623060"/>
            <a:ext cx="82296" cy="82296"/>
          </a:xfrm>
          <a:prstGeom prst="ellipse">
            <a:avLst/>
          </a:prstGeom>
          <a:solidFill>
            <a:srgbClr val="FFBD2E"/>
          </a:solidFill>
        </p:spPr>
      </p:sp>
      <p:sp>
        <p:nvSpPr>
          <p:cNvPr id="9" name="Shape 7"/>
          <p:cNvSpPr/>
          <p:nvPr/>
        </p:nvSpPr>
        <p:spPr>
          <a:xfrm>
            <a:off x="1097280" y="1623060"/>
            <a:ext cx="82296" cy="82296"/>
          </a:xfrm>
          <a:prstGeom prst="ellipse">
            <a:avLst/>
          </a:prstGeom>
          <a:solidFill>
            <a:srgbClr val="28C840"/>
          </a:solidFill>
        </p:spPr>
      </p:sp>
      <p:sp>
        <p:nvSpPr>
          <p:cNvPr id="10" name="Text 8"/>
          <p:cNvSpPr/>
          <p:nvPr/>
        </p:nvSpPr>
        <p:spPr>
          <a:xfrm>
            <a:off x="1325880" y="1508760"/>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DataClasses.kt</a:t>
            </a:r>
            <a:endParaRPr lang="en-US" sz="1050" dirty="0"/>
          </a:p>
        </p:txBody>
      </p:sp>
      <p:sp>
        <p:nvSpPr>
          <p:cNvPr id="11" name="Text 9"/>
          <p:cNvSpPr/>
          <p:nvPr/>
        </p:nvSpPr>
        <p:spPr>
          <a:xfrm>
            <a:off x="694944" y="1911096"/>
            <a:ext cx="365760" cy="4087368"/>
          </a:xfrm>
          <a:prstGeom prst="rect">
            <a:avLst/>
          </a:prstGeom>
          <a:noFill/>
        </p:spPr>
        <p:txBody>
          <a:bodyPr wrap="square" lIns="0" tIns="0" rIns="0" bIns="0" rtlCol="0" anchor="t"/>
          <a:lstStyle/>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700" dirty="0"/>
          </a:p>
        </p:txBody>
      </p:sp>
      <p:sp>
        <p:nvSpPr>
          <p:cNvPr id="12" name="Text 10"/>
          <p:cNvSpPr/>
          <p:nvPr/>
        </p:nvSpPr>
        <p:spPr>
          <a:xfrm>
            <a:off x="1170432" y="1911096"/>
            <a:ext cx="10326319" cy="4087368"/>
          </a:xfrm>
          <a:prstGeom prst="rect">
            <a:avLst/>
          </a:prstGeom>
          <a:noFill/>
        </p:spPr>
        <p:txBody>
          <a:bodyPr wrap="square" lIns="0" tIns="0" rIns="0" bIns="0" rtlCol="0" anchor="t"/>
          <a:lstStyle/>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Student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"John"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20)</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student2</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Student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"John"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20)</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student3</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Student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"Jane"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21)</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student2</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student3</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Student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p:txBody>
      </p:sp>
      <p:sp>
        <p:nvSpPr>
          <p:cNvPr id="13" name="Text 11"/>
          <p:cNvSpPr/>
          <p:nvPr/>
        </p:nvSpPr>
        <p:spPr>
          <a:xfrm>
            <a:off x="694944" y="612648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DataClasses.kt — so sánh hai student cùng dữ liệu bằng "==".</a:t>
            </a:r>
            <a:endParaRPr lang="en-US" sz="950" dirty="0"/>
          </a:p>
        </p:txBody>
      </p:sp>
      <p:sp>
        <p:nvSpPr>
          <p:cNvPr id="14" name="Text 1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5" name="Text 1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18</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06</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tag.png"/>
          <p:cNvPicPr>
            <a:picLocks noChangeAspect="1"/>
          </p:cNvPicPr>
          <p:nvPr/>
        </p:nvPicPr>
        <p:blipFill>
          <a:blip r:embed="rId1"/>
          <a:stretch>
            <a:fillRect/>
          </a:stretch>
        </p:blipFill>
        <p:spPr>
          <a:xfrm>
            <a:off x="752369" y="4332499"/>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400" b="1" dirty="0">
                <a:solidFill>
                  <a:srgbClr val="FFFFFF"/>
                </a:solidFill>
                <a:latin typeface="Calibri" panose="020F0502020204030204" pitchFamily="34" charset="0"/>
                <a:ea typeface="Calibri" panose="020F0502020204030204" pitchFamily="34" charset="-122"/>
                <a:cs typeface="Calibri" panose="020F0502020204030204" pitchFamily="34" charset="-120"/>
              </a:rPr>
              <a:t>Enum class</a:t>
            </a:r>
            <a:endParaRPr lang="en-US" sz="3400" dirty="0"/>
          </a:p>
        </p:txBody>
      </p:sp>
      <p:sp>
        <p:nvSpPr>
          <p:cNvPr id="8" name="Text 5"/>
          <p:cNvSpPr/>
          <p:nvPr/>
        </p:nvSpPr>
        <p:spPr>
          <a:xfrm>
            <a:off x="548640" y="4983480"/>
            <a:ext cx="9692640" cy="548640"/>
          </a:xfrm>
          <a:prstGeom prst="rect">
            <a:avLst/>
          </a:prstGeom>
          <a:noFill/>
        </p:spPr>
        <p:txBody>
          <a:bodyPr wrap="square" lIns="0" tIns="0" rIns="0" bIns="0" rtlCol="0" anchor="ctr"/>
          <a:lstStyle/>
          <a:p>
            <a:pPr marL="0" indent="0">
              <a:buNone/>
            </a:pPr>
            <a:r>
              <a:rPr lang="en-US" sz="1500" dirty="0">
                <a:solidFill>
                  <a:srgbClr val="CADCFC"/>
                </a:solidFill>
                <a:latin typeface="Calibri" panose="020F0502020204030204" pitchFamily="34" charset="0"/>
                <a:ea typeface="Calibri" panose="020F0502020204030204" pitchFamily="34" charset="-122"/>
                <a:cs typeface="Calibri" panose="020F0502020204030204" pitchFamily="34" charset="-120"/>
              </a:rPr>
              <a:t>Tập giá trị hữu hạn, an toàn kiểu, có thể mang theo dữ liệu riêng.</a:t>
            </a:r>
            <a:endParaRPr lang="en-US" sz="150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19</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06 · KHÁI NIỆM</a:t>
            </a:r>
            <a:endParaRPr lang="en-US" sz="1250" dirty="0"/>
          </a:p>
        </p:txBody>
      </p:sp>
      <p:sp>
        <p:nvSpPr>
          <p:cNvPr id="3" name="Text 1"/>
          <p:cNvSpPr/>
          <p:nvPr/>
        </p:nvSpPr>
        <p:spPr>
          <a:xfrm>
            <a:off x="548640" y="868680"/>
            <a:ext cx="9601200" cy="594360"/>
          </a:xfrm>
          <a:prstGeom prst="rect">
            <a:avLst/>
          </a:prstGeom>
          <a:noFill/>
        </p:spPr>
        <p:txBody>
          <a:bodyPr wrap="square" lIns="0" tIns="0" rIns="0" bIns="0" rtlCol="0" anchor="ctr"/>
          <a:lstStyle/>
          <a:p>
            <a:pPr marL="0" indent="0">
              <a:buNone/>
            </a:pPr>
            <a:r>
              <a:rPr lang="en-US" sz="2800" b="1" dirty="0">
                <a:solidFill>
                  <a:srgbClr val="241B3D"/>
                </a:solidFill>
                <a:latin typeface="Calibri" panose="020F0502020204030204" pitchFamily="34" charset="0"/>
                <a:ea typeface="Calibri" panose="020F0502020204030204" pitchFamily="34" charset="-122"/>
                <a:cs typeface="Calibri" panose="020F0502020204030204" pitchFamily="34" charset="-120"/>
              </a:rPr>
              <a:t>Enum class</a:t>
            </a:r>
            <a:endParaRPr lang="en-US" sz="2800" dirty="0"/>
          </a:p>
        </p:txBody>
      </p:sp>
      <p:sp>
        <p:nvSpPr>
          <p:cNvPr id="4" name="Text 2"/>
          <p:cNvSpPr/>
          <p:nvPr/>
        </p:nvSpPr>
        <p:spPr>
          <a:xfrm>
            <a:off x="548640" y="1417320"/>
            <a:ext cx="10058400" cy="365760"/>
          </a:xfrm>
          <a:prstGeom prst="rect">
            <a:avLst/>
          </a:prstGeom>
          <a:noFill/>
        </p:spPr>
        <p:txBody>
          <a:bodyPr wrap="square" lIns="0" tIns="0" rIns="0" bIns="0" rtlCol="0" anchor="ctr"/>
          <a:lstStyle/>
          <a:p>
            <a:pPr marL="0" indent="0">
              <a:buNone/>
            </a:pPr>
            <a:r>
              <a:rPr lang="en-US" sz="1300" dirty="0">
                <a:solidFill>
                  <a:srgbClr val="6B6483"/>
                </a:solidFill>
                <a:latin typeface="Calibri" panose="020F0502020204030204" pitchFamily="34" charset="0"/>
                <a:ea typeface="Calibri" panose="020F0502020204030204" pitchFamily="34" charset="-122"/>
                <a:cs typeface="Calibri" panose="020F0502020204030204" pitchFamily="34" charset="-120"/>
              </a:rPr>
              <a:t>Thay thế các hằng số String/Int rời rạc bằng một kiểu an toàn.</a:t>
            </a:r>
            <a:endParaRPr lang="en-US" sz="1300" dirty="0"/>
          </a:p>
        </p:txBody>
      </p:sp>
      <p:sp>
        <p:nvSpPr>
          <p:cNvPr id="5" name="Shape 3"/>
          <p:cNvSpPr/>
          <p:nvPr/>
        </p:nvSpPr>
        <p:spPr>
          <a:xfrm>
            <a:off x="548640" y="2020824"/>
            <a:ext cx="512064" cy="512064"/>
          </a:xfrm>
          <a:prstGeom prst="ellipse">
            <a:avLst/>
          </a:prstGeom>
          <a:solidFill>
            <a:srgbClr val="2D1B69"/>
          </a:solidFill>
        </p:spPr>
      </p:sp>
      <p:pic>
        <p:nvPicPr>
          <p:cNvPr id="6" name="Image 0" descr="/home/claude/kotlin_slides/icons/tag.png"/>
          <p:cNvPicPr>
            <a:picLocks noChangeAspect="1"/>
          </p:cNvPicPr>
          <p:nvPr/>
        </p:nvPicPr>
        <p:blipFill>
          <a:blip r:embed="rId1"/>
          <a:stretch>
            <a:fillRect/>
          </a:stretch>
        </p:blipFill>
        <p:spPr>
          <a:xfrm>
            <a:off x="676656" y="2148840"/>
            <a:ext cx="256032" cy="256032"/>
          </a:xfrm>
          <a:prstGeom prst="rect">
            <a:avLst/>
          </a:prstGeom>
        </p:spPr>
      </p:pic>
      <p:sp>
        <p:nvSpPr>
          <p:cNvPr id="7" name="Text 4"/>
          <p:cNvSpPr/>
          <p:nvPr/>
        </p:nvSpPr>
        <p:spPr>
          <a:xfrm>
            <a:off x="1325880" y="196596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Tập giá trị hữu hạn</a:t>
            </a:r>
            <a:endParaRPr lang="en-US" sz="1550" dirty="0"/>
          </a:p>
        </p:txBody>
      </p:sp>
      <p:sp>
        <p:nvSpPr>
          <p:cNvPr id="8" name="Text 5"/>
          <p:cNvSpPr/>
          <p:nvPr/>
        </p:nvSpPr>
        <p:spPr>
          <a:xfrm>
            <a:off x="1325880" y="229514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Định nghĩa một nhóm hằng số có tên, an toàn kiểu (type-safe) hơn nhiều so với dùng String hoặc Int rời rạc.</a:t>
            </a:r>
            <a:endParaRPr lang="en-US" sz="1250" dirty="0"/>
          </a:p>
        </p:txBody>
      </p:sp>
      <p:sp>
        <p:nvSpPr>
          <p:cNvPr id="9" name="Shape 6"/>
          <p:cNvSpPr/>
          <p:nvPr/>
        </p:nvSpPr>
        <p:spPr>
          <a:xfrm>
            <a:off x="548640" y="3095244"/>
            <a:ext cx="512064" cy="512064"/>
          </a:xfrm>
          <a:prstGeom prst="ellipse">
            <a:avLst/>
          </a:prstGeom>
          <a:solidFill>
            <a:srgbClr val="F5890B"/>
          </a:solidFill>
        </p:spPr>
      </p:sp>
      <p:pic>
        <p:nvPicPr>
          <p:cNvPr id="10" name="Image 1" descr="/home/claude/kotlin_slides/icons/box.png"/>
          <p:cNvPicPr>
            <a:picLocks noChangeAspect="1"/>
          </p:cNvPicPr>
          <p:nvPr/>
        </p:nvPicPr>
        <p:blipFill>
          <a:blip r:embed="rId2"/>
          <a:stretch>
            <a:fillRect/>
          </a:stretch>
        </p:blipFill>
        <p:spPr>
          <a:xfrm>
            <a:off x="676656" y="3223260"/>
            <a:ext cx="256032" cy="256032"/>
          </a:xfrm>
          <a:prstGeom prst="rect">
            <a:avLst/>
          </a:prstGeom>
        </p:spPr>
      </p:pic>
      <p:sp>
        <p:nvSpPr>
          <p:cNvPr id="11" name="Text 7"/>
          <p:cNvSpPr/>
          <p:nvPr/>
        </p:nvSpPr>
        <p:spPr>
          <a:xfrm>
            <a:off x="1325880" y="304038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Có thuộc tính &amp; constructor</a:t>
            </a:r>
            <a:endParaRPr lang="en-US" sz="1550" dirty="0"/>
          </a:p>
        </p:txBody>
      </p:sp>
      <p:sp>
        <p:nvSpPr>
          <p:cNvPr id="12" name="Text 8"/>
          <p:cNvSpPr/>
          <p:nvPr/>
        </p:nvSpPr>
        <p:spPr>
          <a:xfrm>
            <a:off x="1325880" y="336956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Mỗi hằng số có thể mang theo dữ liệu riêng, ví dụ SUCCESS("thành công") trong enum class Status(var status: String).</a:t>
            </a:r>
            <a:endParaRPr lang="en-US" sz="1250" dirty="0"/>
          </a:p>
        </p:txBody>
      </p:sp>
      <p:sp>
        <p:nvSpPr>
          <p:cNvPr id="13" name="Shape 9"/>
          <p:cNvSpPr/>
          <p:nvPr/>
        </p:nvSpPr>
        <p:spPr>
          <a:xfrm>
            <a:off x="548640" y="4169664"/>
            <a:ext cx="512064" cy="512064"/>
          </a:xfrm>
          <a:prstGeom prst="ellipse">
            <a:avLst/>
          </a:prstGeom>
          <a:solidFill>
            <a:srgbClr val="2D1B69"/>
          </a:solidFill>
        </p:spPr>
      </p:sp>
      <p:pic>
        <p:nvPicPr>
          <p:cNvPr id="14" name="Image 2" descr="/home/claude/kotlin_slides/icons/hash.png"/>
          <p:cNvPicPr>
            <a:picLocks noChangeAspect="1"/>
          </p:cNvPicPr>
          <p:nvPr/>
        </p:nvPicPr>
        <p:blipFill>
          <a:blip r:embed="rId3"/>
          <a:stretch>
            <a:fillRect/>
          </a:stretch>
        </p:blipFill>
        <p:spPr>
          <a:xfrm>
            <a:off x="676656" y="4297680"/>
            <a:ext cx="256032" cy="256032"/>
          </a:xfrm>
          <a:prstGeom prst="rect">
            <a:avLst/>
          </a:prstGeom>
        </p:spPr>
      </p:pic>
      <p:sp>
        <p:nvSpPr>
          <p:cNvPr id="15" name="Text 10"/>
          <p:cNvSpPr/>
          <p:nvPr/>
        </p:nvSpPr>
        <p:spPr>
          <a:xfrm>
            <a:off x="1325880" y="411480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entries, name, ordinal</a:t>
            </a:r>
            <a:endParaRPr lang="en-US" sz="1550" dirty="0"/>
          </a:p>
        </p:txBody>
      </p:sp>
      <p:sp>
        <p:nvSpPr>
          <p:cNvPr id="16" name="Text 11"/>
          <p:cNvSpPr/>
          <p:nvPr/>
        </p:nvSpPr>
        <p:spPr>
          <a:xfrm>
            <a:off x="1325880" y="444398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entries trả về danh sách tất cả giá trị (thay cho values() cũ); name là tên khai báo, ordinal là vị trí bắt đầu từ 0.</a:t>
            </a:r>
            <a:endParaRPr lang="en-US" sz="1250" dirty="0"/>
          </a:p>
        </p:txBody>
      </p:sp>
      <p:sp>
        <p:nvSpPr>
          <p:cNvPr id="17" name="Shape 12"/>
          <p:cNvSpPr/>
          <p:nvPr/>
        </p:nvSpPr>
        <p:spPr>
          <a:xfrm>
            <a:off x="548640" y="5244084"/>
            <a:ext cx="512064" cy="512064"/>
          </a:xfrm>
          <a:prstGeom prst="ellipse">
            <a:avLst/>
          </a:prstGeom>
          <a:solidFill>
            <a:srgbClr val="F5890B"/>
          </a:solidFill>
        </p:spPr>
      </p:sp>
      <p:pic>
        <p:nvPicPr>
          <p:cNvPr id="18" name="Image 3" descr="/home/claude/kotlin_slides/icons/grid.png"/>
          <p:cNvPicPr>
            <a:picLocks noChangeAspect="1"/>
          </p:cNvPicPr>
          <p:nvPr/>
        </p:nvPicPr>
        <p:blipFill>
          <a:blip r:embed="rId4"/>
          <a:stretch>
            <a:fillRect/>
          </a:stretch>
        </p:blipFill>
        <p:spPr>
          <a:xfrm>
            <a:off x="676656" y="5372100"/>
            <a:ext cx="256032" cy="256032"/>
          </a:xfrm>
          <a:prstGeom prst="rect">
            <a:avLst/>
          </a:prstGeom>
        </p:spPr>
      </p:pic>
      <p:sp>
        <p:nvSpPr>
          <p:cNvPr id="19" name="Text 13"/>
          <p:cNvSpPr/>
          <p:nvPr/>
        </p:nvSpPr>
        <p:spPr>
          <a:xfrm>
            <a:off x="1325880" y="5189220"/>
            <a:ext cx="9692640" cy="320040"/>
          </a:xfrm>
          <a:prstGeom prst="rect">
            <a:avLst/>
          </a:prstGeom>
          <a:noFill/>
        </p:spPr>
        <p:txBody>
          <a:bodyPr wrap="square" lIns="0" tIns="0" rIns="0" bIns="0" rtlCol="0" anchor="ctr"/>
          <a:lstStyle/>
          <a:p>
            <a:pPr marL="0" indent="0">
              <a:buNone/>
            </a:pPr>
            <a:r>
              <a:rPr lang="en-US" sz="1550" b="1" dirty="0">
                <a:solidFill>
                  <a:srgbClr val="241B3D"/>
                </a:solidFill>
                <a:latin typeface="Calibri" panose="020F0502020204030204" pitchFamily="34" charset="0"/>
                <a:ea typeface="Calibri" panose="020F0502020204030204" pitchFamily="34" charset="-122"/>
                <a:cs typeface="Calibri" panose="020F0502020204030204" pitchFamily="34" charset="-120"/>
              </a:rPr>
              <a:t>Kết hợp tốt với when</a:t>
            </a:r>
            <a:endParaRPr lang="en-US" sz="1550" dirty="0"/>
          </a:p>
        </p:txBody>
      </p:sp>
      <p:sp>
        <p:nvSpPr>
          <p:cNvPr id="20" name="Text 14"/>
          <p:cNvSpPr/>
          <p:nvPr/>
        </p:nvSpPr>
        <p:spPr>
          <a:xfrm>
            <a:off x="1325880" y="5518404"/>
            <a:ext cx="9692640" cy="708660"/>
          </a:xfrm>
          <a:prstGeom prst="rect">
            <a:avLst/>
          </a:prstGeom>
          <a:noFill/>
        </p:spPr>
        <p:txBody>
          <a:bodyPr wrap="square" lIns="0" tIns="0" rIns="0" bIns="0" rtlCol="0" anchor="ctr"/>
          <a:lstStyle/>
          <a:p>
            <a:pPr marL="0" indent="0">
              <a:lnSpc>
                <a:spcPct val="115000"/>
              </a:lnSpc>
              <a:buNone/>
            </a:pPr>
            <a:r>
              <a:rPr lang="en-US" sz="1250" dirty="0">
                <a:solidFill>
                  <a:srgbClr val="6B6483"/>
                </a:solidFill>
                <a:latin typeface="Calibri" panose="020F0502020204030204" pitchFamily="34" charset="0"/>
                <a:ea typeface="Calibri" panose="020F0502020204030204" pitchFamily="34" charset="-122"/>
                <a:cs typeface="Calibri" panose="020F0502020204030204" pitchFamily="34" charset="-120"/>
              </a:rPr>
              <a:t>Khi khớp when trên toàn bộ enum, trình biên dịch tự kiểm tra đã bao phủ hết case, không bắt buộc nhánh else.</a:t>
            </a:r>
            <a:endParaRPr lang="en-US" sz="1250" dirty="0"/>
          </a:p>
        </p:txBody>
      </p:sp>
      <p:sp>
        <p:nvSpPr>
          <p:cNvPr id="21" name="Text 15"/>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2" name="Text 16"/>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20</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457200"/>
            <a:ext cx="7315200" cy="365760"/>
          </a:xfrm>
          <a:prstGeom prst="rect">
            <a:avLst/>
          </a:prstGeom>
          <a:noFill/>
        </p:spPr>
        <p:txBody>
          <a:bodyPr wrap="square" lIns="0" tIns="0" rIns="0" bIns="0" rtlCol="0" anchor="ctr"/>
          <a:lstStyle/>
          <a:p>
            <a:pPr marL="0" indent="0">
              <a:buNone/>
            </a:pPr>
            <a:r>
              <a:rPr lang="en-US" sz="1300" b="1" kern="0" spc="200" dirty="0">
                <a:solidFill>
                  <a:srgbClr val="F5890B"/>
                </a:solidFill>
                <a:latin typeface="Calibri" panose="020F0502020204030204" pitchFamily="34" charset="0"/>
                <a:ea typeface="Calibri" panose="020F0502020204030204" pitchFamily="34" charset="-122"/>
                <a:cs typeface="Calibri" panose="020F0502020204030204" pitchFamily="34" charset="-120"/>
              </a:rPr>
              <a:t>06 · DEMO CODE</a:t>
            </a:r>
            <a:endParaRPr lang="en-US" sz="1300" dirty="0"/>
          </a:p>
        </p:txBody>
      </p:sp>
      <p:sp>
        <p:nvSpPr>
          <p:cNvPr id="5" name="Text 3"/>
          <p:cNvSpPr/>
          <p:nvPr/>
        </p:nvSpPr>
        <p:spPr>
          <a:xfrm>
            <a:off x="548640" y="777240"/>
            <a:ext cx="9601200" cy="548640"/>
          </a:xfrm>
          <a:prstGeom prst="rect">
            <a:avLst/>
          </a:prstGeom>
          <a:noFill/>
        </p:spPr>
        <p:txBody>
          <a:bodyPr wrap="square" lIns="0" tIns="0" rIns="0" bIns="0" rtlCol="0" anchor="ctr"/>
          <a:lstStyle/>
          <a:p>
            <a:pPr marL="0" indent="0">
              <a:buNone/>
            </a:pPr>
            <a:r>
              <a:rPr lang="en-US" sz="2500" b="1" dirty="0">
                <a:solidFill>
                  <a:srgbClr val="FFFFFF"/>
                </a:solidFill>
                <a:latin typeface="Calibri" panose="020F0502020204030204" pitchFamily="34" charset="0"/>
                <a:ea typeface="Calibri" panose="020F0502020204030204" pitchFamily="34" charset="-122"/>
                <a:cs typeface="Calibri" panose="020F0502020204030204" pitchFamily="34" charset="-120"/>
              </a:rPr>
              <a:t>Enum class</a:t>
            </a:r>
            <a:endParaRPr lang="en-US" sz="2500" dirty="0"/>
          </a:p>
        </p:txBody>
      </p:sp>
      <p:sp>
        <p:nvSpPr>
          <p:cNvPr id="6" name="Shape 4"/>
          <p:cNvSpPr/>
          <p:nvPr/>
        </p:nvSpPr>
        <p:spPr>
          <a:xfrm>
            <a:off x="548640" y="1508760"/>
            <a:ext cx="11094415" cy="4892040"/>
          </a:xfrm>
          <a:prstGeom prst="roundRect">
            <a:avLst>
              <a:gd name="adj" fmla="val 1682"/>
            </a:avLst>
          </a:prstGeom>
          <a:solidFill>
            <a:srgbClr val="1E1440"/>
          </a:solidFill>
          <a:effectLst>
            <a:outerShdw blurRad="101600" dist="38100" dir="5400000" algn="bl" rotWithShape="0">
              <a:srgbClr val="1A1030">
                <a:alpha val="35000"/>
              </a:srgbClr>
            </a:outerShdw>
          </a:effectLst>
        </p:spPr>
      </p:sp>
      <p:sp>
        <p:nvSpPr>
          <p:cNvPr id="7" name="Shape 5"/>
          <p:cNvSpPr/>
          <p:nvPr/>
        </p:nvSpPr>
        <p:spPr>
          <a:xfrm>
            <a:off x="731520" y="1623060"/>
            <a:ext cx="82296" cy="82296"/>
          </a:xfrm>
          <a:prstGeom prst="ellipse">
            <a:avLst/>
          </a:prstGeom>
          <a:solidFill>
            <a:srgbClr val="FF6159"/>
          </a:solidFill>
        </p:spPr>
      </p:sp>
      <p:sp>
        <p:nvSpPr>
          <p:cNvPr id="8" name="Shape 6"/>
          <p:cNvSpPr/>
          <p:nvPr/>
        </p:nvSpPr>
        <p:spPr>
          <a:xfrm>
            <a:off x="914400" y="1623060"/>
            <a:ext cx="82296" cy="82296"/>
          </a:xfrm>
          <a:prstGeom prst="ellipse">
            <a:avLst/>
          </a:prstGeom>
          <a:solidFill>
            <a:srgbClr val="FFBD2E"/>
          </a:solidFill>
        </p:spPr>
      </p:sp>
      <p:sp>
        <p:nvSpPr>
          <p:cNvPr id="9" name="Shape 7"/>
          <p:cNvSpPr/>
          <p:nvPr/>
        </p:nvSpPr>
        <p:spPr>
          <a:xfrm>
            <a:off x="1097280" y="1623060"/>
            <a:ext cx="82296" cy="82296"/>
          </a:xfrm>
          <a:prstGeom prst="ellipse">
            <a:avLst/>
          </a:prstGeom>
          <a:solidFill>
            <a:srgbClr val="28C840"/>
          </a:solidFill>
        </p:spPr>
      </p:sp>
      <p:sp>
        <p:nvSpPr>
          <p:cNvPr id="10" name="Text 8"/>
          <p:cNvSpPr/>
          <p:nvPr/>
        </p:nvSpPr>
        <p:spPr>
          <a:xfrm>
            <a:off x="1325880" y="1508760"/>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Enum.kt</a:t>
            </a:r>
            <a:endParaRPr lang="en-US" sz="1050" dirty="0"/>
          </a:p>
        </p:txBody>
      </p:sp>
      <p:sp>
        <p:nvSpPr>
          <p:cNvPr id="11" name="Text 9"/>
          <p:cNvSpPr/>
          <p:nvPr/>
        </p:nvSpPr>
        <p:spPr>
          <a:xfrm>
            <a:off x="694944" y="1911096"/>
            <a:ext cx="365760" cy="4087368"/>
          </a:xfrm>
          <a:prstGeom prst="rect">
            <a:avLst/>
          </a:prstGeom>
          <a:noFill/>
        </p:spPr>
        <p:txBody>
          <a:bodyPr wrap="square" lIns="0" tIns="0" rIns="0" bIns="0" rtlCol="0" anchor="t"/>
          <a:lstStyle/>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700" dirty="0"/>
          </a:p>
        </p:txBody>
      </p:sp>
      <p:sp>
        <p:nvSpPr>
          <p:cNvPr id="12" name="Text 10"/>
          <p:cNvSpPr/>
          <p:nvPr/>
        </p:nvSpPr>
        <p:spPr>
          <a:xfrm>
            <a:off x="1170432" y="1911096"/>
            <a:ext cx="10326319" cy="4087368"/>
          </a:xfrm>
          <a:prstGeom prst="rect">
            <a:avLst/>
          </a:prstGeom>
          <a:noFill/>
        </p:spPr>
        <p:txBody>
          <a:bodyPr wrap="square" lIns="0" tIns="0" rIns="0" bIns="0" rtlCol="0" anchor="t"/>
          <a:lstStyle/>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enum</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SUCCESS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"thành công"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ERROR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"thất bại"</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PENDING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"đang chờ"</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PENDING</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ordinal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for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entries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"status: ${s.name} -&gt; ${s.status}"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p:txBody>
      </p:sp>
      <p:sp>
        <p:nvSpPr>
          <p:cNvPr id="13" name="Text 11"/>
          <p:cNvSpPr/>
          <p:nvPr/>
        </p:nvSpPr>
        <p:spPr>
          <a:xfrm>
            <a:off x="694944" y="612648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Enum.kt — enum có thuộc tính riêng, duyệt bằng Status.entries.</a:t>
            </a:r>
            <a:endParaRPr lang="en-US" sz="950" dirty="0"/>
          </a:p>
        </p:txBody>
      </p:sp>
      <p:sp>
        <p:nvSpPr>
          <p:cNvPr id="14" name="Text 1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5" name="Text 1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21</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TỔNG KẾT</a:t>
            </a:r>
            <a:endParaRPr lang="en-US" sz="1250" dirty="0"/>
          </a:p>
        </p:txBody>
      </p:sp>
      <p:sp>
        <p:nvSpPr>
          <p:cNvPr id="3" name="Text 1"/>
          <p:cNvSpPr/>
          <p:nvPr/>
        </p:nvSpPr>
        <p:spPr>
          <a:xfrm>
            <a:off x="548640" y="868680"/>
            <a:ext cx="10058400" cy="594360"/>
          </a:xfrm>
          <a:prstGeom prst="rect">
            <a:avLst/>
          </a:prstGeom>
          <a:noFill/>
        </p:spPr>
        <p:txBody>
          <a:bodyPr wrap="square" lIns="0" tIns="0" rIns="0" bIns="0" rtlCol="0" anchor="ctr"/>
          <a:lstStyle/>
          <a:p>
            <a:pPr marL="0" indent="0">
              <a:buNone/>
            </a:pPr>
            <a:r>
              <a:rPr lang="en-US" sz="2800" b="1" dirty="0">
                <a:solidFill>
                  <a:srgbClr val="241B3D"/>
                </a:solidFill>
                <a:latin typeface="Calibri" panose="020F0502020204030204" pitchFamily="34" charset="0"/>
                <a:ea typeface="Calibri" panose="020F0502020204030204" pitchFamily="34" charset="-122"/>
                <a:cs typeface="Calibri" panose="020F0502020204030204" pitchFamily="34" charset="-120"/>
              </a:rPr>
              <a:t>So sánh nhanh — Phần 1</a:t>
            </a:r>
            <a:endParaRPr lang="en-US" sz="2800" dirty="0"/>
          </a:p>
        </p:txBody>
      </p:sp>
      <p:graphicFrame>
        <p:nvGraphicFramePr>
          <p:cNvPr id="23" name="Table 0"/>
          <p:cNvGraphicFramePr>
            <a:graphicFrameLocks noGrp="1"/>
          </p:cNvGraphicFramePr>
          <p:nvPr/>
        </p:nvGraphicFramePr>
        <p:xfrm>
          <a:off x="548640" y="1691640"/>
          <a:ext cx="11094415" cy="3968496"/>
        </p:xfrm>
        <a:graphic>
          <a:graphicData uri="http://schemas.openxmlformats.org/drawingml/2006/table">
            <a:tbl>
              <a:tblPr/>
              <a:tblGrid>
                <a:gridCol w="3108960"/>
                <a:gridCol w="3291840"/>
                <a:gridCol w="4693615"/>
              </a:tblGrid>
              <a:tr h="566928">
                <a:tc>
                  <a:txBody>
                    <a:bodyPr/>
                    <a:lstStyle/>
                    <a:p>
                      <a:pPr marL="0" indent="0" algn="l">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Khái niệm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c>
                  <a:txBody>
                    <a:bodyPr/>
                    <a:lstStyle/>
                    <a:p>
                      <a:pPr marL="0" indent="0" algn="l">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Từ khoá / cú pháp chính</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c>
                  <a:txBody>
                    <a:bodyPr/>
                    <a:lstStyle/>
                    <a:p>
                      <a:pPr marL="0" indent="0" algn="l">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Khi nào dùng</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r>
              <a:tr h="566928">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Variables &amp; Constants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val · var · const val</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Khai báo dữ liệu — ưu tiên val</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566928">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Conditionals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if-else · when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Rẽ nhánh; khi nhiều điều kiện dùng when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566928">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Collections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List · Set · Map</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Lưu danh sách, tập hợp, cặp khoá-giá trị</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566928">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Class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class · open · override · init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Đóng gói dữ liệu + hành vi, có kế thừa</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566928">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Data class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data class · copy()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Model dữ liệu thuần, so sánh theo giá trị</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566928">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Enum class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enum class · entries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250" dirty="0">
                          <a:solidFill>
                            <a:srgbClr val="241B3D"/>
                          </a:solidFill>
                          <a:latin typeface="Calibri" panose="020F0502020204030204" pitchFamily="34" charset="0"/>
                          <a:ea typeface="Calibri" panose="020F0502020204030204" pitchFamily="34" charset="-122"/>
                          <a:cs typeface="Calibri" panose="020F0502020204030204" pitchFamily="34" charset="-120"/>
                        </a:rPr>
                        <a:t>Tập giá trị cố định, an toàn kiểu</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127000" marR="127000" marT="76200" marB="762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bl>
          </a:graphicData>
        </a:graphic>
      </p:graphicFrame>
      <p:sp>
        <p:nvSpPr>
          <p:cNvPr id="5" name="Text 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6" name="Text 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22</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PHẦN 2 · NỘI DUNG</a:t>
            </a:r>
            <a:endParaRPr lang="en-US" sz="1250" dirty="0"/>
          </a:p>
        </p:txBody>
      </p:sp>
      <p:sp>
        <p:nvSpPr>
          <p:cNvPr id="3" name="Text 1"/>
          <p:cNvSpPr/>
          <p:nvPr/>
        </p:nvSpPr>
        <p:spPr>
          <a:xfrm>
            <a:off x="548640" y="804672"/>
            <a:ext cx="10515600" cy="594360"/>
          </a:xfrm>
          <a:prstGeom prst="rect">
            <a:avLst/>
          </a:prstGeom>
          <a:noFill/>
        </p:spPr>
        <p:txBody>
          <a:bodyPr wrap="square" lIns="0" tIns="0" rIns="0" bIns="0" rtlCol="0" anchor="ctr"/>
          <a:lstStyle/>
          <a:p>
            <a:pPr marL="0" indent="0">
              <a:buNone/>
            </a:pPr>
            <a:r>
              <a:rPr lang="en-US" sz="2700" b="1" dirty="0">
                <a:solidFill>
                  <a:srgbClr val="241B3D"/>
                </a:solidFill>
                <a:latin typeface="Calibri" panose="020F0502020204030204" pitchFamily="34" charset="0"/>
                <a:ea typeface="Calibri" panose="020F0502020204030204" pitchFamily="34" charset="-122"/>
                <a:cs typeface="Calibri" panose="020F0502020204030204" pitchFamily="34" charset="-120"/>
              </a:rPr>
              <a:t>Kotlin nâng cao — 22 chủ đề</a:t>
            </a:r>
            <a:endParaRPr lang="en-US" sz="2700" dirty="0"/>
          </a:p>
        </p:txBody>
      </p:sp>
      <p:sp>
        <p:nvSpPr>
          <p:cNvPr id="4" name="Shape 2"/>
          <p:cNvSpPr/>
          <p:nvPr/>
        </p:nvSpPr>
        <p:spPr>
          <a:xfrm>
            <a:off x="548640" y="1691640"/>
            <a:ext cx="5074920" cy="2331720"/>
          </a:xfrm>
          <a:prstGeom prst="roundRect">
            <a:avLst>
              <a:gd name="adj" fmla="val 3922"/>
            </a:avLst>
          </a:prstGeom>
          <a:solidFill>
            <a:srgbClr val="F4F1FC"/>
          </a:solidFill>
        </p:spPr>
      </p:sp>
      <p:sp>
        <p:nvSpPr>
          <p:cNvPr id="5" name="Shape 3"/>
          <p:cNvSpPr/>
          <p:nvPr/>
        </p:nvSpPr>
        <p:spPr>
          <a:xfrm>
            <a:off x="804672" y="1929384"/>
            <a:ext cx="530352" cy="530352"/>
          </a:xfrm>
          <a:prstGeom prst="ellipse">
            <a:avLst/>
          </a:prstGeom>
          <a:solidFill>
            <a:srgbClr val="2D1B69"/>
          </a:solidFill>
        </p:spPr>
      </p:sp>
      <p:pic>
        <p:nvPicPr>
          <p:cNvPr id="6" name="Image 0" descr="/home/claude/kotlin_slides/icons/box.png"/>
          <p:cNvPicPr>
            <a:picLocks noChangeAspect="1"/>
          </p:cNvPicPr>
          <p:nvPr/>
        </p:nvPicPr>
        <p:blipFill>
          <a:blip r:embed="rId1"/>
          <a:stretch>
            <a:fillRect/>
          </a:stretch>
        </p:blipFill>
        <p:spPr>
          <a:xfrm>
            <a:off x="937260" y="2061972"/>
            <a:ext cx="265176" cy="265176"/>
          </a:xfrm>
          <a:prstGeom prst="rect">
            <a:avLst/>
          </a:prstGeom>
        </p:spPr>
      </p:pic>
      <p:sp>
        <p:nvSpPr>
          <p:cNvPr id="7" name="Text 4"/>
          <p:cNvSpPr/>
          <p:nvPr/>
        </p:nvSpPr>
        <p:spPr>
          <a:xfrm>
            <a:off x="4846320" y="1837944"/>
            <a:ext cx="59436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A</a:t>
            </a:r>
            <a:endParaRPr lang="en-US" sz="2200" dirty="0"/>
          </a:p>
        </p:txBody>
      </p:sp>
      <p:sp>
        <p:nvSpPr>
          <p:cNvPr id="8" name="Text 5"/>
          <p:cNvSpPr/>
          <p:nvPr/>
        </p:nvSpPr>
        <p:spPr>
          <a:xfrm>
            <a:off x="1508760" y="191109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OOP nâng cao</a:t>
            </a:r>
            <a:endParaRPr lang="en-US" sz="1600" dirty="0"/>
          </a:p>
        </p:txBody>
      </p:sp>
      <p:sp>
        <p:nvSpPr>
          <p:cNvPr id="9" name="Text 6"/>
          <p:cNvSpPr/>
          <p:nvPr/>
        </p:nvSpPr>
        <p:spPr>
          <a:xfrm>
            <a:off x="1508760" y="2295144"/>
            <a:ext cx="3886200" cy="274320"/>
          </a:xfrm>
          <a:prstGeom prst="rect">
            <a:avLst/>
          </a:prstGeom>
          <a:noFill/>
        </p:spPr>
        <p:txBody>
          <a:bodyPr wrap="square" lIns="0" tIns="0" rIns="0" bIns="0" rtlCol="0" anchor="ctr"/>
          <a:lstStyle/>
          <a:p>
            <a:pPr marL="0" indent="0">
              <a:buNone/>
            </a:pPr>
            <a:r>
              <a:rPr lang="en-US" sz="1100" b="1" dirty="0">
                <a:solidFill>
                  <a:srgbClr val="C65D00"/>
                </a:solidFill>
                <a:latin typeface="Calibri" panose="020F0502020204030204" pitchFamily="34" charset="0"/>
                <a:ea typeface="Calibri" panose="020F0502020204030204" pitchFamily="34" charset="-122"/>
                <a:cs typeface="Calibri" panose="020F0502020204030204" pitchFamily="34" charset="-120"/>
              </a:rPr>
              <a:t>6 chủ đề</a:t>
            </a:r>
            <a:endParaRPr lang="en-US" sz="1100" dirty="0"/>
          </a:p>
        </p:txBody>
      </p:sp>
      <p:sp>
        <p:nvSpPr>
          <p:cNvPr id="10" name="Text 7"/>
          <p:cNvSpPr/>
          <p:nvPr/>
        </p:nvSpPr>
        <p:spPr>
          <a:xfrm>
            <a:off x="804672" y="2651760"/>
            <a:ext cx="4562856" cy="1234440"/>
          </a:xfrm>
          <a:prstGeom prst="rect">
            <a:avLst/>
          </a:prstGeom>
          <a:noFill/>
        </p:spPr>
        <p:txBody>
          <a:bodyPr wrap="square" lIns="0" tIns="0" rIns="0" bIns="0" rtlCol="0" anchor="ctr"/>
          <a:lstStyle/>
          <a:p>
            <a:pPr marL="0" indent="0">
              <a:lnSpc>
                <a:spcPct val="125000"/>
              </a:lnSpc>
              <a:buNone/>
            </a:pPr>
            <a:r>
              <a:rPr lang="en-US" sz="1150" dirty="0">
                <a:solidFill>
                  <a:srgbClr val="6B6483"/>
                </a:solidFill>
                <a:latin typeface="Calibri" panose="020F0502020204030204" pitchFamily="34" charset="0"/>
                <a:ea typeface="Calibri" panose="020F0502020204030204" pitchFamily="34" charset="-122"/>
                <a:cs typeface="Calibri" panose="020F0502020204030204" pitchFamily="34" charset="-120"/>
              </a:rPr>
              <a:t>Object &amp; Companion  ·  Abstract class  ·  Interface  ·  Inheritance  ·  Hiding constructor  ·  Sealed classes</a:t>
            </a:r>
            <a:endParaRPr lang="en-US" sz="1150" dirty="0"/>
          </a:p>
        </p:txBody>
      </p:sp>
      <p:sp>
        <p:nvSpPr>
          <p:cNvPr id="11" name="Shape 8"/>
          <p:cNvSpPr/>
          <p:nvPr/>
        </p:nvSpPr>
        <p:spPr>
          <a:xfrm>
            <a:off x="6080760" y="1691640"/>
            <a:ext cx="5074920" cy="2331720"/>
          </a:xfrm>
          <a:prstGeom prst="roundRect">
            <a:avLst>
              <a:gd name="adj" fmla="val 3922"/>
            </a:avLst>
          </a:prstGeom>
          <a:solidFill>
            <a:srgbClr val="F4F1FC"/>
          </a:solidFill>
        </p:spPr>
      </p:sp>
      <p:sp>
        <p:nvSpPr>
          <p:cNvPr id="12" name="Shape 9"/>
          <p:cNvSpPr/>
          <p:nvPr/>
        </p:nvSpPr>
        <p:spPr>
          <a:xfrm>
            <a:off x="6336792" y="1929384"/>
            <a:ext cx="530352" cy="530352"/>
          </a:xfrm>
          <a:prstGeom prst="ellipse">
            <a:avLst/>
          </a:prstGeom>
          <a:solidFill>
            <a:srgbClr val="2D1B69"/>
          </a:solidFill>
        </p:spPr>
      </p:sp>
      <p:pic>
        <p:nvPicPr>
          <p:cNvPr id="13" name="Image 1" descr="/home/claude/kotlin_slides/icons/shield.png"/>
          <p:cNvPicPr>
            <a:picLocks noChangeAspect="1"/>
          </p:cNvPicPr>
          <p:nvPr/>
        </p:nvPicPr>
        <p:blipFill>
          <a:blip r:embed="rId2"/>
          <a:stretch>
            <a:fillRect/>
          </a:stretch>
        </p:blipFill>
        <p:spPr>
          <a:xfrm>
            <a:off x="6469380" y="2061972"/>
            <a:ext cx="265176" cy="265176"/>
          </a:xfrm>
          <a:prstGeom prst="rect">
            <a:avLst/>
          </a:prstGeom>
        </p:spPr>
      </p:pic>
      <p:sp>
        <p:nvSpPr>
          <p:cNvPr id="14" name="Text 10"/>
          <p:cNvSpPr/>
          <p:nvPr/>
        </p:nvSpPr>
        <p:spPr>
          <a:xfrm>
            <a:off x="10378440" y="1837944"/>
            <a:ext cx="59436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B</a:t>
            </a:r>
            <a:endParaRPr lang="en-US" sz="2200" dirty="0"/>
          </a:p>
        </p:txBody>
      </p:sp>
      <p:sp>
        <p:nvSpPr>
          <p:cNvPr id="15" name="Text 11"/>
          <p:cNvSpPr/>
          <p:nvPr/>
        </p:nvSpPr>
        <p:spPr>
          <a:xfrm>
            <a:off x="7040880" y="191109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An toàn dữ liệu &amp; Casting</a:t>
            </a:r>
            <a:endParaRPr lang="en-US" sz="1600" dirty="0"/>
          </a:p>
        </p:txBody>
      </p:sp>
      <p:sp>
        <p:nvSpPr>
          <p:cNvPr id="16" name="Text 12"/>
          <p:cNvSpPr/>
          <p:nvPr/>
        </p:nvSpPr>
        <p:spPr>
          <a:xfrm>
            <a:off x="7040880" y="2295144"/>
            <a:ext cx="3886200" cy="274320"/>
          </a:xfrm>
          <a:prstGeom prst="rect">
            <a:avLst/>
          </a:prstGeom>
          <a:noFill/>
        </p:spPr>
        <p:txBody>
          <a:bodyPr wrap="square" lIns="0" tIns="0" rIns="0" bIns="0" rtlCol="0" anchor="ctr"/>
          <a:lstStyle/>
          <a:p>
            <a:pPr marL="0" indent="0">
              <a:buNone/>
            </a:pPr>
            <a:r>
              <a:rPr lang="en-US" sz="1100" b="1" dirty="0">
                <a:solidFill>
                  <a:srgbClr val="C65D00"/>
                </a:solidFill>
                <a:latin typeface="Calibri" panose="020F0502020204030204" pitchFamily="34" charset="0"/>
                <a:ea typeface="Calibri" panose="020F0502020204030204" pitchFamily="34" charset="-122"/>
                <a:cs typeface="Calibri" panose="020F0502020204030204" pitchFamily="34" charset="-120"/>
              </a:rPr>
              <a:t>5 chủ đề</a:t>
            </a:r>
            <a:endParaRPr lang="en-US" sz="1100" dirty="0"/>
          </a:p>
        </p:txBody>
      </p:sp>
      <p:sp>
        <p:nvSpPr>
          <p:cNvPr id="17" name="Text 13"/>
          <p:cNvSpPr/>
          <p:nvPr/>
        </p:nvSpPr>
        <p:spPr>
          <a:xfrm>
            <a:off x="6336792" y="2651760"/>
            <a:ext cx="4562856" cy="1234440"/>
          </a:xfrm>
          <a:prstGeom prst="rect">
            <a:avLst/>
          </a:prstGeom>
          <a:noFill/>
        </p:spPr>
        <p:txBody>
          <a:bodyPr wrap="square" lIns="0" tIns="0" rIns="0" bIns="0" rtlCol="0" anchor="ctr"/>
          <a:lstStyle/>
          <a:p>
            <a:pPr marL="0" indent="0">
              <a:lnSpc>
                <a:spcPct val="125000"/>
              </a:lnSpc>
              <a:buNone/>
            </a:pPr>
            <a:r>
              <a:rPr lang="en-US" sz="1150" dirty="0">
                <a:solidFill>
                  <a:srgbClr val="6B6483"/>
                </a:solidFill>
                <a:latin typeface="Calibri" panose="020F0502020204030204" pitchFamily="34" charset="0"/>
                <a:ea typeface="Calibri" panose="020F0502020204030204" pitchFamily="34" charset="-122"/>
                <a:cs typeface="Calibri" panose="020F0502020204030204" pitchFamily="34" charset="-120"/>
              </a:rPr>
              <a:t>Null safety  ·  Type casting  ·  Deconstructing  ·  Late initialization  ·  Type aliases</a:t>
            </a:r>
            <a:endParaRPr lang="en-US" sz="1150" dirty="0"/>
          </a:p>
        </p:txBody>
      </p:sp>
      <p:sp>
        <p:nvSpPr>
          <p:cNvPr id="18" name="Shape 14"/>
          <p:cNvSpPr/>
          <p:nvPr/>
        </p:nvSpPr>
        <p:spPr>
          <a:xfrm>
            <a:off x="548640" y="4251960"/>
            <a:ext cx="5074920" cy="2331720"/>
          </a:xfrm>
          <a:prstGeom prst="roundRect">
            <a:avLst>
              <a:gd name="adj" fmla="val 3922"/>
            </a:avLst>
          </a:prstGeom>
          <a:solidFill>
            <a:srgbClr val="F4F1FC"/>
          </a:solidFill>
        </p:spPr>
      </p:sp>
      <p:sp>
        <p:nvSpPr>
          <p:cNvPr id="19" name="Shape 15"/>
          <p:cNvSpPr/>
          <p:nvPr/>
        </p:nvSpPr>
        <p:spPr>
          <a:xfrm>
            <a:off x="804672" y="4489704"/>
            <a:ext cx="530352" cy="530352"/>
          </a:xfrm>
          <a:prstGeom prst="ellipse">
            <a:avLst/>
          </a:prstGeom>
          <a:solidFill>
            <a:srgbClr val="2D1B69"/>
          </a:solidFill>
        </p:spPr>
      </p:sp>
      <p:pic>
        <p:nvPicPr>
          <p:cNvPr id="20" name="Image 2" descr="/home/claude/kotlin_slides/icons/code.png"/>
          <p:cNvPicPr>
            <a:picLocks noChangeAspect="1"/>
          </p:cNvPicPr>
          <p:nvPr/>
        </p:nvPicPr>
        <p:blipFill>
          <a:blip r:embed="rId3"/>
          <a:stretch>
            <a:fillRect/>
          </a:stretch>
        </p:blipFill>
        <p:spPr>
          <a:xfrm>
            <a:off x="937260" y="4622292"/>
            <a:ext cx="265176" cy="265176"/>
          </a:xfrm>
          <a:prstGeom prst="rect">
            <a:avLst/>
          </a:prstGeom>
        </p:spPr>
      </p:pic>
      <p:sp>
        <p:nvSpPr>
          <p:cNvPr id="21" name="Text 16"/>
          <p:cNvSpPr/>
          <p:nvPr/>
        </p:nvSpPr>
        <p:spPr>
          <a:xfrm>
            <a:off x="4846320" y="4398264"/>
            <a:ext cx="59436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C</a:t>
            </a:r>
            <a:endParaRPr lang="en-US" sz="2200" dirty="0"/>
          </a:p>
        </p:txBody>
      </p:sp>
      <p:sp>
        <p:nvSpPr>
          <p:cNvPr id="22" name="Text 17"/>
          <p:cNvSpPr/>
          <p:nvPr/>
        </p:nvSpPr>
        <p:spPr>
          <a:xfrm>
            <a:off x="1508760" y="447141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Lập trình hàm</a:t>
            </a:r>
            <a:endParaRPr lang="en-US" sz="1600" dirty="0"/>
          </a:p>
        </p:txBody>
      </p:sp>
      <p:sp>
        <p:nvSpPr>
          <p:cNvPr id="23" name="Text 18"/>
          <p:cNvSpPr/>
          <p:nvPr/>
        </p:nvSpPr>
        <p:spPr>
          <a:xfrm>
            <a:off x="1508760" y="4855464"/>
            <a:ext cx="3886200" cy="274320"/>
          </a:xfrm>
          <a:prstGeom prst="rect">
            <a:avLst/>
          </a:prstGeom>
          <a:noFill/>
        </p:spPr>
        <p:txBody>
          <a:bodyPr wrap="square" lIns="0" tIns="0" rIns="0" bIns="0" rtlCol="0" anchor="ctr"/>
          <a:lstStyle/>
          <a:p>
            <a:pPr marL="0" indent="0">
              <a:buNone/>
            </a:pPr>
            <a:r>
              <a:rPr lang="en-US" sz="1100" b="1" dirty="0">
                <a:solidFill>
                  <a:srgbClr val="C65D00"/>
                </a:solidFill>
                <a:latin typeface="Calibri" panose="020F0502020204030204" pitchFamily="34" charset="0"/>
                <a:ea typeface="Calibri" panose="020F0502020204030204" pitchFamily="34" charset="-122"/>
                <a:cs typeface="Calibri" panose="020F0502020204030204" pitchFamily="34" charset="-120"/>
              </a:rPr>
              <a:t>8 chủ đề</a:t>
            </a:r>
            <a:endParaRPr lang="en-US" sz="1100" dirty="0"/>
          </a:p>
        </p:txBody>
      </p:sp>
      <p:sp>
        <p:nvSpPr>
          <p:cNvPr id="24" name="Text 19"/>
          <p:cNvSpPr/>
          <p:nvPr/>
        </p:nvSpPr>
        <p:spPr>
          <a:xfrm>
            <a:off x="804672" y="5212080"/>
            <a:ext cx="4562856" cy="1234440"/>
          </a:xfrm>
          <a:prstGeom prst="rect">
            <a:avLst/>
          </a:prstGeom>
          <a:noFill/>
        </p:spPr>
        <p:txBody>
          <a:bodyPr wrap="square" lIns="0" tIns="0" rIns="0" bIns="0" rtlCol="0" anchor="ctr"/>
          <a:lstStyle/>
          <a:p>
            <a:pPr marL="0" indent="0">
              <a:lnSpc>
                <a:spcPct val="125000"/>
              </a:lnSpc>
              <a:buNone/>
            </a:pPr>
            <a:r>
              <a:rPr lang="en-US" sz="1150" dirty="0">
                <a:solidFill>
                  <a:srgbClr val="6B6483"/>
                </a:solidFill>
                <a:latin typeface="Calibri" panose="020F0502020204030204" pitchFamily="34" charset="0"/>
                <a:ea typeface="Calibri" panose="020F0502020204030204" pitchFamily="34" charset="-122"/>
                <a:cs typeface="Calibri" panose="020F0502020204030204" pitchFamily="34" charset="-120"/>
              </a:rPr>
              <a:t>Higher-order function  ·  Lambda expression  ·  Extension function  ·  Infix function  ·  Inline function  ·  Return &amp; local return  ·  Tail recursion  ·  Lambda extension</a:t>
            </a:r>
            <a:endParaRPr lang="en-US" sz="1150" dirty="0"/>
          </a:p>
        </p:txBody>
      </p:sp>
      <p:sp>
        <p:nvSpPr>
          <p:cNvPr id="25" name="Shape 20"/>
          <p:cNvSpPr/>
          <p:nvPr/>
        </p:nvSpPr>
        <p:spPr>
          <a:xfrm>
            <a:off x="6080760" y="4251960"/>
            <a:ext cx="5074920" cy="2331720"/>
          </a:xfrm>
          <a:prstGeom prst="roundRect">
            <a:avLst>
              <a:gd name="adj" fmla="val 3922"/>
            </a:avLst>
          </a:prstGeom>
          <a:solidFill>
            <a:srgbClr val="F4F1FC"/>
          </a:solidFill>
        </p:spPr>
      </p:sp>
      <p:sp>
        <p:nvSpPr>
          <p:cNvPr id="26" name="Shape 21"/>
          <p:cNvSpPr/>
          <p:nvPr/>
        </p:nvSpPr>
        <p:spPr>
          <a:xfrm>
            <a:off x="6336792" y="4489704"/>
            <a:ext cx="530352" cy="530352"/>
          </a:xfrm>
          <a:prstGeom prst="ellipse">
            <a:avLst/>
          </a:prstGeom>
          <a:solidFill>
            <a:srgbClr val="2D1B69"/>
          </a:solidFill>
        </p:spPr>
      </p:sp>
      <p:pic>
        <p:nvPicPr>
          <p:cNvPr id="27" name="Image 3" descr="/home/claude/kotlin_slides/icons/sliders.png"/>
          <p:cNvPicPr>
            <a:picLocks noChangeAspect="1"/>
          </p:cNvPicPr>
          <p:nvPr/>
        </p:nvPicPr>
        <p:blipFill>
          <a:blip r:embed="rId4"/>
          <a:stretch>
            <a:fillRect/>
          </a:stretch>
        </p:blipFill>
        <p:spPr>
          <a:xfrm>
            <a:off x="6469380" y="4622292"/>
            <a:ext cx="265176" cy="265176"/>
          </a:xfrm>
          <a:prstGeom prst="rect">
            <a:avLst/>
          </a:prstGeom>
        </p:spPr>
      </p:pic>
      <p:sp>
        <p:nvSpPr>
          <p:cNvPr id="28" name="Text 22"/>
          <p:cNvSpPr/>
          <p:nvPr/>
        </p:nvSpPr>
        <p:spPr>
          <a:xfrm>
            <a:off x="10378440" y="4398264"/>
            <a:ext cx="594360" cy="457200"/>
          </a:xfrm>
          <a:prstGeom prst="rect">
            <a:avLst/>
          </a:prstGeom>
          <a:noFill/>
        </p:spPr>
        <p:txBody>
          <a:bodyPr wrap="square" lIns="0" tIns="0" rIns="0" bIns="0" rtlCol="0" anchor="ctr"/>
          <a:lstStyle/>
          <a:p>
            <a:pPr marL="0" indent="0" algn="r">
              <a:buNone/>
            </a:pPr>
            <a:r>
              <a:rPr lang="en-US" sz="2200" b="1" dirty="0">
                <a:solidFill>
                  <a:srgbClr val="E3DAF5"/>
                </a:solidFill>
                <a:latin typeface="Calibri" panose="020F0502020204030204" pitchFamily="34" charset="0"/>
                <a:ea typeface="Calibri" panose="020F0502020204030204" pitchFamily="34" charset="-122"/>
                <a:cs typeface="Calibri" panose="020F0502020204030204" pitchFamily="34" charset="-120"/>
              </a:rPr>
              <a:t>D</a:t>
            </a:r>
            <a:endParaRPr lang="en-US" sz="2200" dirty="0"/>
          </a:p>
        </p:txBody>
      </p:sp>
      <p:sp>
        <p:nvSpPr>
          <p:cNvPr id="29" name="Text 23"/>
          <p:cNvSpPr/>
          <p:nvPr/>
        </p:nvSpPr>
        <p:spPr>
          <a:xfrm>
            <a:off x="7040880" y="4471416"/>
            <a:ext cx="3886200" cy="411480"/>
          </a:xfrm>
          <a:prstGeom prst="rect">
            <a:avLst/>
          </a:prstGeom>
          <a:noFill/>
        </p:spPr>
        <p:txBody>
          <a:bodyPr wrap="square" lIns="0" tIns="0" rIns="0" bIns="0" rtlCol="0" anchor="ctr"/>
          <a:lstStyle/>
          <a:p>
            <a:pPr marL="0" indent="0">
              <a:buNone/>
            </a:pPr>
            <a:r>
              <a:rPr lang="en-US" sz="1600" b="1" dirty="0">
                <a:solidFill>
                  <a:srgbClr val="241B3D"/>
                </a:solidFill>
                <a:latin typeface="Calibri" panose="020F0502020204030204" pitchFamily="34" charset="0"/>
                <a:ea typeface="Calibri" panose="020F0502020204030204" pitchFamily="34" charset="-122"/>
                <a:cs typeface="Calibri" panose="020F0502020204030204" pitchFamily="34" charset="-120"/>
              </a:rPr>
              <a:t>Nâng cao khác</a:t>
            </a:r>
            <a:endParaRPr lang="en-US" sz="1600" dirty="0"/>
          </a:p>
        </p:txBody>
      </p:sp>
      <p:sp>
        <p:nvSpPr>
          <p:cNvPr id="30" name="Text 24"/>
          <p:cNvSpPr/>
          <p:nvPr/>
        </p:nvSpPr>
        <p:spPr>
          <a:xfrm>
            <a:off x="7040880" y="4855464"/>
            <a:ext cx="3886200" cy="274320"/>
          </a:xfrm>
          <a:prstGeom prst="rect">
            <a:avLst/>
          </a:prstGeom>
          <a:noFill/>
        </p:spPr>
        <p:txBody>
          <a:bodyPr wrap="square" lIns="0" tIns="0" rIns="0" bIns="0" rtlCol="0" anchor="ctr"/>
          <a:lstStyle/>
          <a:p>
            <a:pPr marL="0" indent="0">
              <a:buNone/>
            </a:pPr>
            <a:r>
              <a:rPr lang="en-US" sz="1100" b="1" dirty="0">
                <a:solidFill>
                  <a:srgbClr val="C65D00"/>
                </a:solidFill>
                <a:latin typeface="Calibri" panose="020F0502020204030204" pitchFamily="34" charset="0"/>
                <a:ea typeface="Calibri" panose="020F0502020204030204" pitchFamily="34" charset="-122"/>
                <a:cs typeface="Calibri" panose="020F0502020204030204" pitchFamily="34" charset="-120"/>
              </a:rPr>
              <a:t>3 chủ đề</a:t>
            </a:r>
            <a:endParaRPr lang="en-US" sz="1100" dirty="0"/>
          </a:p>
        </p:txBody>
      </p:sp>
      <p:sp>
        <p:nvSpPr>
          <p:cNvPr id="31" name="Text 25"/>
          <p:cNvSpPr/>
          <p:nvPr/>
        </p:nvSpPr>
        <p:spPr>
          <a:xfrm>
            <a:off x="6336792" y="5212080"/>
            <a:ext cx="4562856" cy="1234440"/>
          </a:xfrm>
          <a:prstGeom prst="rect">
            <a:avLst/>
          </a:prstGeom>
          <a:noFill/>
        </p:spPr>
        <p:txBody>
          <a:bodyPr wrap="square" lIns="0" tIns="0" rIns="0" bIns="0" rtlCol="0" anchor="ctr"/>
          <a:lstStyle/>
          <a:p>
            <a:pPr marL="0" indent="0">
              <a:lnSpc>
                <a:spcPct val="125000"/>
              </a:lnSpc>
              <a:buNone/>
            </a:pPr>
            <a:r>
              <a:rPr lang="en-US" sz="1150" dirty="0">
                <a:solidFill>
                  <a:srgbClr val="6B6483"/>
                </a:solidFill>
                <a:latin typeface="Calibri" panose="020F0502020204030204" pitchFamily="34" charset="0"/>
                <a:ea typeface="Calibri" panose="020F0502020204030204" pitchFamily="34" charset="-122"/>
                <a:cs typeface="Calibri" panose="020F0502020204030204" pitchFamily="34" charset="-120"/>
              </a:rPr>
              <a:t>Operator overloading  ·  Delegation (func &amp; property)  ·  Generic</a:t>
            </a:r>
            <a:endParaRPr lang="en-US" sz="1150" dirty="0"/>
          </a:p>
        </p:txBody>
      </p:sp>
      <p:sp>
        <p:nvSpPr>
          <p:cNvPr id="32" name="Text 2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33" name="Text 2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23</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A</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box.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200" b="1" dirty="0">
                <a:solidFill>
                  <a:srgbClr val="FFFFFF"/>
                </a:solidFill>
                <a:latin typeface="Calibri" panose="020F0502020204030204" pitchFamily="34" charset="0"/>
                <a:ea typeface="Calibri" panose="020F0502020204030204" pitchFamily="34" charset="-122"/>
                <a:cs typeface="Calibri" panose="020F0502020204030204" pitchFamily="34" charset="-120"/>
              </a:rPr>
              <a:t>OOP nâng cao</a:t>
            </a:r>
            <a:endParaRPr lang="en-US" sz="3200" dirty="0"/>
          </a:p>
        </p:txBody>
      </p:sp>
      <p:sp>
        <p:nvSpPr>
          <p:cNvPr id="8" name="Text 5"/>
          <p:cNvSpPr/>
          <p:nvPr/>
        </p:nvSpPr>
        <p:spPr>
          <a:xfrm>
            <a:off x="548640" y="4983480"/>
            <a:ext cx="10241280" cy="640080"/>
          </a:xfrm>
          <a:prstGeom prst="rect">
            <a:avLst/>
          </a:prstGeom>
          <a:noFill/>
        </p:spPr>
        <p:txBody>
          <a:bodyPr wrap="square" lIns="0" tIns="0" rIns="0" bIns="0" rtlCol="0" anchor="ctr"/>
          <a:lstStyle/>
          <a:p>
            <a:pPr marL="0" indent="0">
              <a:lnSpc>
                <a:spcPct val="120000"/>
              </a:lnSpc>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Object &amp; Companion · Abstract class · Interface · Inheritance · Hiding constructor · Sealed classes</a:t>
            </a:r>
            <a:endParaRPr lang="en-US" sz="135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24</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box.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A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Object &amp; Companion object</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object khai báo một singleton — chỉ tồn tại đúng một instance trong toàn ứng dụng. companion object gắn các thành viên "tĩnh" vào bên trong một class, thay cho từ khoá static mà Kotlin không có.</a:t>
            </a:r>
            <a:endParaRPr lang="en-US" sz="1200" dirty="0"/>
          </a:p>
        </p:txBody>
      </p:sp>
      <p:sp>
        <p:nvSpPr>
          <p:cNvPr id="9" name="Shape 6"/>
          <p:cNvSpPr/>
          <p:nvPr/>
        </p:nvSpPr>
        <p:spPr>
          <a:xfrm>
            <a:off x="548640" y="1737360"/>
            <a:ext cx="912571" cy="292608"/>
          </a:xfrm>
          <a:prstGeom prst="roundRect">
            <a:avLst>
              <a:gd name="adj" fmla="val 50000"/>
            </a:avLst>
          </a:prstGeom>
          <a:solidFill>
            <a:srgbClr val="3A2A78"/>
          </a:solidFill>
        </p:spPr>
      </p:sp>
      <p:sp>
        <p:nvSpPr>
          <p:cNvPr id="10" name="Text 7"/>
          <p:cNvSpPr/>
          <p:nvPr/>
        </p:nvSpPr>
        <p:spPr>
          <a:xfrm>
            <a:off x="548640" y="1737360"/>
            <a:ext cx="912571"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singleton</a:t>
            </a:r>
            <a:endParaRPr lang="en-US" sz="1050" dirty="0"/>
          </a:p>
        </p:txBody>
      </p:sp>
      <p:sp>
        <p:nvSpPr>
          <p:cNvPr id="11" name="Shape 8"/>
          <p:cNvSpPr/>
          <p:nvPr/>
        </p:nvSpPr>
        <p:spPr>
          <a:xfrm>
            <a:off x="1589227" y="1737360"/>
            <a:ext cx="1062533" cy="292608"/>
          </a:xfrm>
          <a:prstGeom prst="roundRect">
            <a:avLst>
              <a:gd name="adj" fmla="val 50000"/>
            </a:avLst>
          </a:prstGeom>
          <a:solidFill>
            <a:srgbClr val="3A2A78"/>
          </a:solidFill>
        </p:spPr>
      </p:sp>
      <p:sp>
        <p:nvSpPr>
          <p:cNvPr id="12" name="Text 9"/>
          <p:cNvSpPr/>
          <p:nvPr/>
        </p:nvSpPr>
        <p:spPr>
          <a:xfrm>
            <a:off x="1589227" y="1737360"/>
            <a:ext cx="1062533"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static-like</a:t>
            </a:r>
            <a:endParaRPr lang="en-US" sz="1050" dirty="0"/>
          </a:p>
        </p:txBody>
      </p:sp>
      <p:sp>
        <p:nvSpPr>
          <p:cNvPr id="13" name="Shape 10"/>
          <p:cNvSpPr/>
          <p:nvPr/>
        </p:nvSpPr>
        <p:spPr>
          <a:xfrm>
            <a:off x="2779776" y="1737360"/>
            <a:ext cx="1437437" cy="292608"/>
          </a:xfrm>
          <a:prstGeom prst="roundRect">
            <a:avLst>
              <a:gd name="adj" fmla="val 50000"/>
            </a:avLst>
          </a:prstGeom>
          <a:solidFill>
            <a:srgbClr val="3A2A78"/>
          </a:solidFill>
        </p:spPr>
      </p:sp>
      <p:sp>
        <p:nvSpPr>
          <p:cNvPr id="14" name="Text 11"/>
          <p:cNvSpPr/>
          <p:nvPr/>
        </p:nvSpPr>
        <p:spPr>
          <a:xfrm>
            <a:off x="2779776" y="1737360"/>
            <a:ext cx="1437437"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companion object</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Object.kt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6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object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AppConfig</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appName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AppConfig2</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companion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object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appName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 2"</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AppConfig</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appName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AppConfig2</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appName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Object.kt — object AppConfig (singleton) và AppConfig2 (companion object).</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25</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layout.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A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Abstract class</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abstract class không thể khởi tạo trực tiếp, dùng làm khuôn chung cho các lớp con. Có thể chứa cả method đã cài đặt sẵn lẫn method trừu tượng (abstract fun) bắt buộc lớp con phải override.</a:t>
            </a:r>
            <a:endParaRPr lang="en-US" sz="1200" dirty="0"/>
          </a:p>
        </p:txBody>
      </p:sp>
      <p:sp>
        <p:nvSpPr>
          <p:cNvPr id="9" name="Shape 6"/>
          <p:cNvSpPr/>
          <p:nvPr/>
        </p:nvSpPr>
        <p:spPr>
          <a:xfrm>
            <a:off x="548640" y="1737360"/>
            <a:ext cx="1287475" cy="292608"/>
          </a:xfrm>
          <a:prstGeom prst="roundRect">
            <a:avLst>
              <a:gd name="adj" fmla="val 50000"/>
            </a:avLst>
          </a:prstGeom>
          <a:solidFill>
            <a:srgbClr val="3A2A78"/>
          </a:solidFill>
        </p:spPr>
      </p:sp>
      <p:sp>
        <p:nvSpPr>
          <p:cNvPr id="10" name="Text 7"/>
          <p:cNvSpPr/>
          <p:nvPr/>
        </p:nvSpPr>
        <p:spPr>
          <a:xfrm>
            <a:off x="548640" y="1737360"/>
            <a:ext cx="128747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không new được</a:t>
            </a:r>
            <a:endParaRPr lang="en-US" sz="1050" dirty="0"/>
          </a:p>
        </p:txBody>
      </p:sp>
      <p:sp>
        <p:nvSpPr>
          <p:cNvPr id="11" name="Shape 8"/>
          <p:cNvSpPr/>
          <p:nvPr/>
        </p:nvSpPr>
        <p:spPr>
          <a:xfrm>
            <a:off x="1964131" y="1737360"/>
            <a:ext cx="1437437" cy="292608"/>
          </a:xfrm>
          <a:prstGeom prst="roundRect">
            <a:avLst>
              <a:gd name="adj" fmla="val 50000"/>
            </a:avLst>
          </a:prstGeom>
          <a:solidFill>
            <a:srgbClr val="3A2A78"/>
          </a:solidFill>
        </p:spPr>
      </p:sp>
      <p:sp>
        <p:nvSpPr>
          <p:cNvPr id="12" name="Text 9"/>
          <p:cNvSpPr/>
          <p:nvPr/>
        </p:nvSpPr>
        <p:spPr>
          <a:xfrm>
            <a:off x="1964131" y="1737360"/>
            <a:ext cx="1437437"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có method cụ thể</a:t>
            </a:r>
            <a:endParaRPr lang="en-US" sz="1050" dirty="0"/>
          </a:p>
        </p:txBody>
      </p:sp>
      <p:sp>
        <p:nvSpPr>
          <p:cNvPr id="13" name="Shape 10"/>
          <p:cNvSpPr/>
          <p:nvPr/>
        </p:nvSpPr>
        <p:spPr>
          <a:xfrm>
            <a:off x="3529584" y="1737360"/>
            <a:ext cx="1512418" cy="292608"/>
          </a:xfrm>
          <a:prstGeom prst="roundRect">
            <a:avLst>
              <a:gd name="adj" fmla="val 50000"/>
            </a:avLst>
          </a:prstGeom>
          <a:solidFill>
            <a:srgbClr val="3A2A78"/>
          </a:solidFill>
        </p:spPr>
      </p:sp>
      <p:sp>
        <p:nvSpPr>
          <p:cNvPr id="14" name="Text 11"/>
          <p:cNvSpPr/>
          <p:nvPr/>
        </p:nvSpPr>
        <p:spPr>
          <a:xfrm>
            <a:off x="3529584" y="1737360"/>
            <a:ext cx="151241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bắt buộc override</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Abstract.kt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3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abstract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Shape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abstract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area</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describe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 có diện tích ${area()}"</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Circle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radius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Shape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"Circle"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override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area</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Math</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PI</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radius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radius</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Square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side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Shape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"Square"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override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area</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side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side</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shapes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listOf</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Circle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(2.0),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Square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(3.0))</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shapes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forEach</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describe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26</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link.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A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Interface</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interface định nghĩa một hợp đồng (contract) mà class phải tuân theo; có thể chứa method đã có sẵn thân (default method), và một class có thể implement nhiều interface cùng lúc.</a:t>
            </a:r>
            <a:endParaRPr lang="en-US" sz="1200" dirty="0"/>
          </a:p>
        </p:txBody>
      </p:sp>
      <p:sp>
        <p:nvSpPr>
          <p:cNvPr id="9" name="Shape 6"/>
          <p:cNvSpPr/>
          <p:nvPr/>
        </p:nvSpPr>
        <p:spPr>
          <a:xfrm>
            <a:off x="548640" y="1737360"/>
            <a:ext cx="1587398" cy="292608"/>
          </a:xfrm>
          <a:prstGeom prst="roundRect">
            <a:avLst>
              <a:gd name="adj" fmla="val 50000"/>
            </a:avLst>
          </a:prstGeom>
          <a:solidFill>
            <a:srgbClr val="3A2A78"/>
          </a:solidFill>
        </p:spPr>
      </p:sp>
      <p:sp>
        <p:nvSpPr>
          <p:cNvPr id="10" name="Text 7"/>
          <p:cNvSpPr/>
          <p:nvPr/>
        </p:nvSpPr>
        <p:spPr>
          <a:xfrm>
            <a:off x="548640" y="1737360"/>
            <a:ext cx="158739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đa kế thừa hành vi</a:t>
            </a:r>
            <a:endParaRPr lang="en-US" sz="1050" dirty="0"/>
          </a:p>
        </p:txBody>
      </p:sp>
      <p:sp>
        <p:nvSpPr>
          <p:cNvPr id="11" name="Shape 8"/>
          <p:cNvSpPr/>
          <p:nvPr/>
        </p:nvSpPr>
        <p:spPr>
          <a:xfrm>
            <a:off x="2264054" y="1737360"/>
            <a:ext cx="1287475" cy="292608"/>
          </a:xfrm>
          <a:prstGeom prst="roundRect">
            <a:avLst>
              <a:gd name="adj" fmla="val 50000"/>
            </a:avLst>
          </a:prstGeom>
          <a:solidFill>
            <a:srgbClr val="3A2A78"/>
          </a:solidFill>
        </p:spPr>
      </p:sp>
      <p:sp>
        <p:nvSpPr>
          <p:cNvPr id="12" name="Text 9"/>
          <p:cNvSpPr/>
          <p:nvPr/>
        </p:nvSpPr>
        <p:spPr>
          <a:xfrm>
            <a:off x="2264054" y="1737360"/>
            <a:ext cx="128747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default method</a:t>
            </a:r>
            <a:endParaRPr lang="en-US" sz="1050" dirty="0"/>
          </a:p>
        </p:txBody>
      </p:sp>
      <p:sp>
        <p:nvSpPr>
          <p:cNvPr id="13" name="Shape 10"/>
          <p:cNvSpPr/>
          <p:nvPr/>
        </p:nvSpPr>
        <p:spPr>
          <a:xfrm>
            <a:off x="3679546" y="1737360"/>
            <a:ext cx="1587398" cy="292608"/>
          </a:xfrm>
          <a:prstGeom prst="roundRect">
            <a:avLst>
              <a:gd name="adj" fmla="val 50000"/>
            </a:avLst>
          </a:prstGeom>
          <a:solidFill>
            <a:srgbClr val="3A2A78"/>
          </a:solidFill>
        </p:spPr>
      </p:sp>
      <p:sp>
        <p:nvSpPr>
          <p:cNvPr id="14" name="Text 11"/>
          <p:cNvSpPr/>
          <p:nvPr/>
        </p:nvSpPr>
        <p:spPr>
          <a:xfrm>
            <a:off x="3679546" y="1737360"/>
            <a:ext cx="158739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implement bằng ':'</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Interface.kt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6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interface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Flyable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fly</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"Đang bay bằng cánh"</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interface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Swimmable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swim</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"Đang bơi"</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Duck</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Flyable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Swimmable</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duck</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Duck</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duck</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fly</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duck</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swim</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27</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gitmerge.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A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Inheritance (kế thừa class)</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Class và hàm mặc định là final trong Kotlin; phải khai báo open mới cho phép kế thừa. Dùng ':' để kế thừa lớp cha, override để ghi đè, và super để gọi lại logic của lớp cha.</a:t>
            </a:r>
            <a:endParaRPr lang="en-US" sz="1200" dirty="0"/>
          </a:p>
        </p:txBody>
      </p:sp>
      <p:sp>
        <p:nvSpPr>
          <p:cNvPr id="9" name="Shape 6"/>
          <p:cNvSpPr/>
          <p:nvPr/>
        </p:nvSpPr>
        <p:spPr>
          <a:xfrm>
            <a:off x="548640" y="1737360"/>
            <a:ext cx="1212494" cy="292608"/>
          </a:xfrm>
          <a:prstGeom prst="roundRect">
            <a:avLst>
              <a:gd name="adj" fmla="val 50000"/>
            </a:avLst>
          </a:prstGeom>
          <a:solidFill>
            <a:srgbClr val="3A2A78"/>
          </a:solidFill>
        </p:spPr>
      </p:sp>
      <p:sp>
        <p:nvSpPr>
          <p:cNvPr id="10" name="Text 7"/>
          <p:cNvSpPr/>
          <p:nvPr/>
        </p:nvSpPr>
        <p:spPr>
          <a:xfrm>
            <a:off x="548640" y="1737360"/>
            <a:ext cx="1212494"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open bắt buộc</a:t>
            </a:r>
            <a:endParaRPr lang="en-US" sz="1050" dirty="0"/>
          </a:p>
        </p:txBody>
      </p:sp>
      <p:sp>
        <p:nvSpPr>
          <p:cNvPr id="11" name="Shape 8"/>
          <p:cNvSpPr/>
          <p:nvPr/>
        </p:nvSpPr>
        <p:spPr>
          <a:xfrm>
            <a:off x="1889150" y="1737360"/>
            <a:ext cx="1287475" cy="292608"/>
          </a:xfrm>
          <a:prstGeom prst="roundRect">
            <a:avLst>
              <a:gd name="adj" fmla="val 50000"/>
            </a:avLst>
          </a:prstGeom>
          <a:solidFill>
            <a:srgbClr val="3A2A78"/>
          </a:solidFill>
        </p:spPr>
      </p:sp>
      <p:sp>
        <p:nvSpPr>
          <p:cNvPr id="12" name="Text 9"/>
          <p:cNvSpPr/>
          <p:nvPr/>
        </p:nvSpPr>
        <p:spPr>
          <a:xfrm>
            <a:off x="1889150" y="1737360"/>
            <a:ext cx="128747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 để kế thừa</a:t>
            </a:r>
            <a:endParaRPr lang="en-US" sz="1050" dirty="0"/>
          </a:p>
        </p:txBody>
      </p:sp>
      <p:sp>
        <p:nvSpPr>
          <p:cNvPr id="13" name="Shape 10"/>
          <p:cNvSpPr/>
          <p:nvPr/>
        </p:nvSpPr>
        <p:spPr>
          <a:xfrm>
            <a:off x="3304642" y="1737360"/>
            <a:ext cx="1287475" cy="292608"/>
          </a:xfrm>
          <a:prstGeom prst="roundRect">
            <a:avLst>
              <a:gd name="adj" fmla="val 50000"/>
            </a:avLst>
          </a:prstGeom>
          <a:solidFill>
            <a:srgbClr val="3A2A78"/>
          </a:solidFill>
        </p:spPr>
      </p:sp>
      <p:sp>
        <p:nvSpPr>
          <p:cNvPr id="14" name="Text 11"/>
          <p:cNvSpPr/>
          <p:nvPr/>
        </p:nvSpPr>
        <p:spPr>
          <a:xfrm>
            <a:off x="3304642" y="1737360"/>
            <a:ext cx="128747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super.method()</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Inheritance.kt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19</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20</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21</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22</a:t>
            </a:r>
            <a:endParaRPr lang="en-US" sz="9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Film</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init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"Film init"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trim</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 $name"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Marvel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Film</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init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"Marvel init"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override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super</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"This film is from Marvel"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marvel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Marvel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 Avengers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marvel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showNameFilm</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Inheritance.kt — Film (lớp cha) và Marvel (lớp con) override showNameFilm().</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28</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eyeoff.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A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Hiding constructor (private constructor)</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Ẩn constructor chính bằng private constructor để bắt buộc bên ngoài phải tạo object qua một hàm factory (thường đặt trong companion object) — kiểm soát chặt việc khởi tạo, ví dụ validate dữ liệu.</a:t>
            </a:r>
            <a:endParaRPr lang="en-US" sz="1200" dirty="0"/>
          </a:p>
        </p:txBody>
      </p:sp>
      <p:sp>
        <p:nvSpPr>
          <p:cNvPr id="9" name="Shape 6"/>
          <p:cNvSpPr/>
          <p:nvPr/>
        </p:nvSpPr>
        <p:spPr>
          <a:xfrm>
            <a:off x="548640" y="1737360"/>
            <a:ext cx="1662379" cy="292608"/>
          </a:xfrm>
          <a:prstGeom prst="roundRect">
            <a:avLst>
              <a:gd name="adj" fmla="val 50000"/>
            </a:avLst>
          </a:prstGeom>
          <a:solidFill>
            <a:srgbClr val="3A2A78"/>
          </a:solidFill>
        </p:spPr>
      </p:sp>
      <p:sp>
        <p:nvSpPr>
          <p:cNvPr id="10" name="Text 7"/>
          <p:cNvSpPr/>
          <p:nvPr/>
        </p:nvSpPr>
        <p:spPr>
          <a:xfrm>
            <a:off x="548640" y="1737360"/>
            <a:ext cx="1662379"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private constructor</a:t>
            </a:r>
            <a:endParaRPr lang="en-US" sz="1050" dirty="0"/>
          </a:p>
        </p:txBody>
      </p:sp>
      <p:sp>
        <p:nvSpPr>
          <p:cNvPr id="11" name="Shape 8"/>
          <p:cNvSpPr/>
          <p:nvPr/>
        </p:nvSpPr>
        <p:spPr>
          <a:xfrm>
            <a:off x="2339035" y="1737360"/>
            <a:ext cx="1287475" cy="292608"/>
          </a:xfrm>
          <a:prstGeom prst="roundRect">
            <a:avLst>
              <a:gd name="adj" fmla="val 50000"/>
            </a:avLst>
          </a:prstGeom>
          <a:solidFill>
            <a:srgbClr val="3A2A78"/>
          </a:solidFill>
        </p:spPr>
      </p:sp>
      <p:sp>
        <p:nvSpPr>
          <p:cNvPr id="12" name="Text 9"/>
          <p:cNvSpPr/>
          <p:nvPr/>
        </p:nvSpPr>
        <p:spPr>
          <a:xfrm>
            <a:off x="2339035" y="1737360"/>
            <a:ext cx="128747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factory method</a:t>
            </a:r>
            <a:endParaRPr lang="en-US" sz="1050" dirty="0"/>
          </a:p>
        </p:txBody>
      </p:sp>
      <p:sp>
        <p:nvSpPr>
          <p:cNvPr id="13" name="Shape 10"/>
          <p:cNvSpPr/>
          <p:nvPr/>
        </p:nvSpPr>
        <p:spPr>
          <a:xfrm>
            <a:off x="3754526" y="1737360"/>
            <a:ext cx="1587398" cy="292608"/>
          </a:xfrm>
          <a:prstGeom prst="roundRect">
            <a:avLst>
              <a:gd name="adj" fmla="val 50000"/>
            </a:avLst>
          </a:prstGeom>
          <a:solidFill>
            <a:srgbClr val="3A2A78"/>
          </a:solidFill>
        </p:spPr>
      </p:sp>
      <p:sp>
        <p:nvSpPr>
          <p:cNvPr id="14" name="Text 11"/>
          <p:cNvSpPr/>
          <p:nvPr/>
        </p:nvSpPr>
        <p:spPr>
          <a:xfrm>
            <a:off x="3754526" y="1737360"/>
            <a:ext cx="158739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kiểm soát khởi tạo</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HidingConstructor.kt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150" dirty="0"/>
          </a:p>
          <a:p>
            <a:pPr marL="0" indent="0" algn="r">
              <a:lnSpc>
                <a:spcPct val="115000"/>
              </a:lnSpc>
              <a:buNone/>
            </a:pPr>
            <a:r>
              <a:rPr lang="en-US" sz="11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115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private</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constructor</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email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companion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object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create</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email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email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contains</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"Email không hợp lệ: $email"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null</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email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ct val="115000"/>
              </a:lnSpc>
              <a:buNone/>
            </a:pP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user1</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1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create</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"dev@lutech.ltd"</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user2</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1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create</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"khong-hop-le"</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user1</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email</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user2</a:t>
            </a: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ct val="115000"/>
              </a:lnSpc>
              <a:buNone/>
            </a:pPr>
            <a:r>
              <a:rPr lang="en-US" sz="11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29</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lock.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A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Sealed classes</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sealed class giới hạn tập hợp các lớp con được phép kế thừa (khai báo cùng file/module). Khi dùng when trên sealed class, compiler tự kiểm tra đã bao phủ hết trường hợp, không bắt buộc nhánh else.</a:t>
            </a:r>
            <a:endParaRPr lang="en-US" sz="1200" dirty="0"/>
          </a:p>
        </p:txBody>
      </p:sp>
      <p:sp>
        <p:nvSpPr>
          <p:cNvPr id="9" name="Shape 6"/>
          <p:cNvSpPr/>
          <p:nvPr/>
        </p:nvSpPr>
        <p:spPr>
          <a:xfrm>
            <a:off x="548640" y="1737360"/>
            <a:ext cx="1437437" cy="292608"/>
          </a:xfrm>
          <a:prstGeom prst="roundRect">
            <a:avLst>
              <a:gd name="adj" fmla="val 50000"/>
            </a:avLst>
          </a:prstGeom>
          <a:solidFill>
            <a:srgbClr val="3A2A78"/>
          </a:solidFill>
        </p:spPr>
      </p:sp>
      <p:sp>
        <p:nvSpPr>
          <p:cNvPr id="10" name="Text 7"/>
          <p:cNvSpPr/>
          <p:nvPr/>
        </p:nvSpPr>
        <p:spPr>
          <a:xfrm>
            <a:off x="548640" y="1737360"/>
            <a:ext cx="1437437"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tập con giới hạn</a:t>
            </a:r>
            <a:endParaRPr lang="en-US" sz="1050" dirty="0"/>
          </a:p>
        </p:txBody>
      </p:sp>
      <p:sp>
        <p:nvSpPr>
          <p:cNvPr id="11" name="Shape 8"/>
          <p:cNvSpPr/>
          <p:nvPr/>
        </p:nvSpPr>
        <p:spPr>
          <a:xfrm>
            <a:off x="2114093" y="1737360"/>
            <a:ext cx="1662379" cy="292608"/>
          </a:xfrm>
          <a:prstGeom prst="roundRect">
            <a:avLst>
              <a:gd name="adj" fmla="val 50000"/>
            </a:avLst>
          </a:prstGeom>
          <a:solidFill>
            <a:srgbClr val="3A2A78"/>
          </a:solidFill>
        </p:spPr>
      </p:sp>
      <p:sp>
        <p:nvSpPr>
          <p:cNvPr id="12" name="Text 9"/>
          <p:cNvSpPr/>
          <p:nvPr/>
        </p:nvSpPr>
        <p:spPr>
          <a:xfrm>
            <a:off x="2114093" y="1737360"/>
            <a:ext cx="1662379"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when không cần else</a:t>
            </a:r>
            <a:endParaRPr lang="en-US" sz="1050" dirty="0"/>
          </a:p>
        </p:txBody>
      </p:sp>
      <p:sp>
        <p:nvSpPr>
          <p:cNvPr id="13" name="Shape 10"/>
          <p:cNvSpPr/>
          <p:nvPr/>
        </p:nvSpPr>
        <p:spPr>
          <a:xfrm>
            <a:off x="3904488" y="1737360"/>
            <a:ext cx="2112264" cy="292608"/>
          </a:xfrm>
          <a:prstGeom prst="roundRect">
            <a:avLst>
              <a:gd name="adj" fmla="val 50000"/>
            </a:avLst>
          </a:prstGeom>
          <a:solidFill>
            <a:srgbClr val="3A2A78"/>
          </a:solidFill>
        </p:spPr>
      </p:sp>
      <p:sp>
        <p:nvSpPr>
          <p:cNvPr id="14" name="Text 11"/>
          <p:cNvSpPr/>
          <p:nvPr/>
        </p:nvSpPr>
        <p:spPr>
          <a:xfrm>
            <a:off x="3904488" y="1737360"/>
            <a:ext cx="2112264"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hay đi kèm data class con</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SealedClass.kt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105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when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callApi</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Success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Error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message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sealed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Success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Error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message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callApi</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resp</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(0..1).</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random</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resp</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0)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Error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"404"</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else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ApiResult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Success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"200"</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30</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B</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shield.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200" b="1" dirty="0">
                <a:solidFill>
                  <a:srgbClr val="FFFFFF"/>
                </a:solidFill>
                <a:latin typeface="Calibri" panose="020F0502020204030204" pitchFamily="34" charset="0"/>
                <a:ea typeface="Calibri" panose="020F0502020204030204" pitchFamily="34" charset="-122"/>
                <a:cs typeface="Calibri" panose="020F0502020204030204" pitchFamily="34" charset="-120"/>
              </a:rPr>
              <a:t>An toàn dữ liệu &amp; Casting</a:t>
            </a:r>
            <a:endParaRPr lang="en-US" sz="3200" dirty="0"/>
          </a:p>
        </p:txBody>
      </p:sp>
      <p:sp>
        <p:nvSpPr>
          <p:cNvPr id="8" name="Text 5"/>
          <p:cNvSpPr/>
          <p:nvPr/>
        </p:nvSpPr>
        <p:spPr>
          <a:xfrm>
            <a:off x="548640" y="4983480"/>
            <a:ext cx="10241280" cy="640080"/>
          </a:xfrm>
          <a:prstGeom prst="rect">
            <a:avLst/>
          </a:prstGeom>
          <a:noFill/>
        </p:spPr>
        <p:txBody>
          <a:bodyPr wrap="square" lIns="0" tIns="0" rIns="0" bIns="0" rtlCol="0" anchor="ctr"/>
          <a:lstStyle/>
          <a:p>
            <a:pPr marL="0" indent="0">
              <a:lnSpc>
                <a:spcPct val="120000"/>
              </a:lnSpc>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Null safety · Type casting · Deconstructing · Late initialization · Type aliases</a:t>
            </a:r>
            <a:endParaRPr lang="en-US" sz="135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31</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shield.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B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Null safety</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Kotlin phân biệt kiểu nullable (String?) và non-null (String) ngay từ compile-time. Dùng ?. để gọi an toàn, ?: (elvis) để cho giá trị mặc định, và !! khi chắc chắn khác null (nên hạn chế dùng).</a:t>
            </a:r>
            <a:endParaRPr lang="en-US" sz="1200" dirty="0"/>
          </a:p>
        </p:txBody>
      </p:sp>
      <p:sp>
        <p:nvSpPr>
          <p:cNvPr id="9" name="Shape 6"/>
          <p:cNvSpPr/>
          <p:nvPr/>
        </p:nvSpPr>
        <p:spPr>
          <a:xfrm>
            <a:off x="548640" y="1737360"/>
            <a:ext cx="762610" cy="292608"/>
          </a:xfrm>
          <a:prstGeom prst="roundRect">
            <a:avLst>
              <a:gd name="adj" fmla="val 50000"/>
            </a:avLst>
          </a:prstGeom>
          <a:solidFill>
            <a:srgbClr val="3A2A78"/>
          </a:solidFill>
        </p:spPr>
      </p:sp>
      <p:sp>
        <p:nvSpPr>
          <p:cNvPr id="10" name="Text 7"/>
          <p:cNvSpPr/>
          <p:nvPr/>
        </p:nvSpPr>
        <p:spPr>
          <a:xfrm>
            <a:off x="548640" y="1737360"/>
            <a:ext cx="762610"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String?</a:t>
            </a:r>
            <a:endParaRPr lang="en-US" sz="1050" dirty="0"/>
          </a:p>
        </p:txBody>
      </p:sp>
      <p:sp>
        <p:nvSpPr>
          <p:cNvPr id="11" name="Shape 8"/>
          <p:cNvSpPr/>
          <p:nvPr/>
        </p:nvSpPr>
        <p:spPr>
          <a:xfrm>
            <a:off x="1439266" y="1737360"/>
            <a:ext cx="1137514" cy="292608"/>
          </a:xfrm>
          <a:prstGeom prst="roundRect">
            <a:avLst>
              <a:gd name="adj" fmla="val 50000"/>
            </a:avLst>
          </a:prstGeom>
          <a:solidFill>
            <a:srgbClr val="3A2A78"/>
          </a:solidFill>
        </p:spPr>
      </p:sp>
      <p:sp>
        <p:nvSpPr>
          <p:cNvPr id="12" name="Text 9"/>
          <p:cNvSpPr/>
          <p:nvPr/>
        </p:nvSpPr>
        <p:spPr>
          <a:xfrm>
            <a:off x="1439266" y="1737360"/>
            <a:ext cx="1137514"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 safe call</a:t>
            </a:r>
            <a:endParaRPr lang="en-US" sz="1050" dirty="0"/>
          </a:p>
        </p:txBody>
      </p:sp>
      <p:sp>
        <p:nvSpPr>
          <p:cNvPr id="13" name="Shape 10"/>
          <p:cNvSpPr/>
          <p:nvPr/>
        </p:nvSpPr>
        <p:spPr>
          <a:xfrm>
            <a:off x="2704795" y="1737360"/>
            <a:ext cx="837590" cy="292608"/>
          </a:xfrm>
          <a:prstGeom prst="roundRect">
            <a:avLst>
              <a:gd name="adj" fmla="val 50000"/>
            </a:avLst>
          </a:prstGeom>
          <a:solidFill>
            <a:srgbClr val="3A2A78"/>
          </a:solidFill>
        </p:spPr>
      </p:sp>
      <p:sp>
        <p:nvSpPr>
          <p:cNvPr id="14" name="Text 11"/>
          <p:cNvSpPr/>
          <p:nvPr/>
        </p:nvSpPr>
        <p:spPr>
          <a:xfrm>
            <a:off x="2704795" y="1737360"/>
            <a:ext cx="837590"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 elvis</a:t>
            </a:r>
            <a:endParaRPr lang="en-US" sz="1050" dirty="0"/>
          </a:p>
        </p:txBody>
      </p:sp>
      <p:sp>
        <p:nvSpPr>
          <p:cNvPr id="15" name="Shape 12"/>
          <p:cNvSpPr/>
          <p:nvPr/>
        </p:nvSpPr>
        <p:spPr>
          <a:xfrm>
            <a:off x="3670402" y="1737360"/>
            <a:ext cx="387706" cy="292608"/>
          </a:xfrm>
          <a:prstGeom prst="roundRect">
            <a:avLst>
              <a:gd name="adj" fmla="val 50000"/>
            </a:avLst>
          </a:prstGeom>
          <a:solidFill>
            <a:srgbClr val="3A2A78"/>
          </a:solidFill>
        </p:spPr>
      </p:sp>
      <p:sp>
        <p:nvSpPr>
          <p:cNvPr id="16" name="Text 13"/>
          <p:cNvSpPr/>
          <p:nvPr/>
        </p:nvSpPr>
        <p:spPr>
          <a:xfrm>
            <a:off x="3670402" y="1737360"/>
            <a:ext cx="38770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a:t>
            </a:r>
            <a:endParaRPr lang="en-US" sz="1050" dirty="0"/>
          </a:p>
        </p:txBody>
      </p:sp>
      <p:sp>
        <p:nvSpPr>
          <p:cNvPr id="17" name="Shape 14"/>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8" name="Shape 15"/>
          <p:cNvSpPr/>
          <p:nvPr/>
        </p:nvSpPr>
        <p:spPr>
          <a:xfrm>
            <a:off x="731520" y="2290572"/>
            <a:ext cx="82296" cy="82296"/>
          </a:xfrm>
          <a:prstGeom prst="ellipse">
            <a:avLst/>
          </a:prstGeom>
          <a:solidFill>
            <a:srgbClr val="FF6159"/>
          </a:solidFill>
        </p:spPr>
      </p:sp>
      <p:sp>
        <p:nvSpPr>
          <p:cNvPr id="19" name="Shape 16"/>
          <p:cNvSpPr/>
          <p:nvPr/>
        </p:nvSpPr>
        <p:spPr>
          <a:xfrm>
            <a:off x="914400" y="2290572"/>
            <a:ext cx="82296" cy="82296"/>
          </a:xfrm>
          <a:prstGeom prst="ellipse">
            <a:avLst/>
          </a:prstGeom>
          <a:solidFill>
            <a:srgbClr val="FFBD2E"/>
          </a:solidFill>
        </p:spPr>
      </p:sp>
      <p:sp>
        <p:nvSpPr>
          <p:cNvPr id="20" name="Shape 17"/>
          <p:cNvSpPr/>
          <p:nvPr/>
        </p:nvSpPr>
        <p:spPr>
          <a:xfrm>
            <a:off x="1097280" y="2290572"/>
            <a:ext cx="82296" cy="82296"/>
          </a:xfrm>
          <a:prstGeom prst="ellipse">
            <a:avLst/>
          </a:prstGeom>
          <a:solidFill>
            <a:srgbClr val="28C840"/>
          </a:solidFill>
        </p:spPr>
      </p:sp>
      <p:sp>
        <p:nvSpPr>
          <p:cNvPr id="21" name="Text 18"/>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NullSafety.kt</a:t>
            </a:r>
            <a:endParaRPr lang="en-US" sz="1050" dirty="0"/>
          </a:p>
        </p:txBody>
      </p:sp>
      <p:sp>
        <p:nvSpPr>
          <p:cNvPr id="22" name="Text 19"/>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300" dirty="0"/>
          </a:p>
        </p:txBody>
      </p:sp>
      <p:sp>
        <p:nvSpPr>
          <p:cNvPr id="23" name="Text 20"/>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null</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 safe call: trả về null thay vì crash nếu name null</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length</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 elvis: cho giá trị mặc định khi vế trái null</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length</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length</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0</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"length = $length"</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 non-null assertion: ném NullPointerException nếu thực sự null</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safeName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safeName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uppercase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let: chỉ chạy khối lệnh khi giá trị khác null</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let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"Tên là $it"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"Không có tên"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p:txBody>
      </p:sp>
      <p:sp>
        <p:nvSpPr>
          <p:cNvPr id="25" name="Text 2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6" name="Text 2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32</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shuffle.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B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Type casting</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is kiểm tra kiểu và tự động smart-cast trong nhánh if/when; as ép kiểu tường minh (ném lỗi nếu sai kiểu); as? ép kiểu an toàn, trả về null thay vì crash khi không đúng kiểu.</a:t>
            </a:r>
            <a:endParaRPr lang="en-US" sz="1200" dirty="0"/>
          </a:p>
        </p:txBody>
      </p:sp>
      <p:sp>
        <p:nvSpPr>
          <p:cNvPr id="9" name="Shape 6"/>
          <p:cNvSpPr/>
          <p:nvPr/>
        </p:nvSpPr>
        <p:spPr>
          <a:xfrm>
            <a:off x="548640" y="1737360"/>
            <a:ext cx="1362456" cy="292608"/>
          </a:xfrm>
          <a:prstGeom prst="roundRect">
            <a:avLst>
              <a:gd name="adj" fmla="val 50000"/>
            </a:avLst>
          </a:prstGeom>
          <a:solidFill>
            <a:srgbClr val="3A2A78"/>
          </a:solidFill>
        </p:spPr>
      </p:sp>
      <p:sp>
        <p:nvSpPr>
          <p:cNvPr id="10" name="Text 7"/>
          <p:cNvSpPr/>
          <p:nvPr/>
        </p:nvSpPr>
        <p:spPr>
          <a:xfrm>
            <a:off x="548640" y="1737360"/>
            <a:ext cx="136245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is + smart cast</a:t>
            </a:r>
            <a:endParaRPr lang="en-US" sz="1050" dirty="0"/>
          </a:p>
        </p:txBody>
      </p:sp>
      <p:sp>
        <p:nvSpPr>
          <p:cNvPr id="11" name="Shape 8"/>
          <p:cNvSpPr/>
          <p:nvPr/>
        </p:nvSpPr>
        <p:spPr>
          <a:xfrm>
            <a:off x="2039112" y="1737360"/>
            <a:ext cx="987552" cy="292608"/>
          </a:xfrm>
          <a:prstGeom prst="roundRect">
            <a:avLst>
              <a:gd name="adj" fmla="val 50000"/>
            </a:avLst>
          </a:prstGeom>
          <a:solidFill>
            <a:srgbClr val="3A2A78"/>
          </a:solidFill>
        </p:spPr>
      </p:sp>
      <p:sp>
        <p:nvSpPr>
          <p:cNvPr id="12" name="Text 9"/>
          <p:cNvSpPr/>
          <p:nvPr/>
        </p:nvSpPr>
        <p:spPr>
          <a:xfrm>
            <a:off x="2039112" y="1737360"/>
            <a:ext cx="987552"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as ép kiểu</a:t>
            </a:r>
            <a:endParaRPr lang="en-US" sz="1050" dirty="0"/>
          </a:p>
        </p:txBody>
      </p:sp>
      <p:sp>
        <p:nvSpPr>
          <p:cNvPr id="13" name="Shape 10"/>
          <p:cNvSpPr/>
          <p:nvPr/>
        </p:nvSpPr>
        <p:spPr>
          <a:xfrm>
            <a:off x="3154680" y="1737360"/>
            <a:ext cx="1062533" cy="292608"/>
          </a:xfrm>
          <a:prstGeom prst="roundRect">
            <a:avLst>
              <a:gd name="adj" fmla="val 50000"/>
            </a:avLst>
          </a:prstGeom>
          <a:solidFill>
            <a:srgbClr val="3A2A78"/>
          </a:solidFill>
        </p:spPr>
      </p:sp>
      <p:sp>
        <p:nvSpPr>
          <p:cNvPr id="14" name="Text 11"/>
          <p:cNvSpPr/>
          <p:nvPr/>
        </p:nvSpPr>
        <p:spPr>
          <a:xfrm>
            <a:off x="3154680" y="1737360"/>
            <a:ext cx="1062533"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as? an toàn</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Casting.kt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19</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20</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21</a:t>
            </a:r>
            <a:endParaRPr lang="en-US" sz="900" dirty="0"/>
          </a:p>
          <a:p>
            <a:pPr marL="0" indent="0" algn="r">
              <a:lnSpc>
                <a:spcPct val="115000"/>
              </a:lnSpc>
              <a:buNone/>
            </a:pPr>
            <a:r>
              <a:rPr lang="en-US" sz="9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22</a:t>
            </a:r>
            <a:endParaRPr lang="en-US" sz="9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9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Casting type &lt;=&gt; ép kiểu</a:t>
            </a:r>
            <a:endParaRPr lang="en-US" sz="900" dirty="0"/>
          </a:p>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float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3.141545</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int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float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toInt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"int =&gt; $int"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showOsPc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Window</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showWindow</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else</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showMac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pc2</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as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Mac</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pc2</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showMac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showOsPc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pc</a:t>
            </a:r>
            <a:endParaRPr lang="en-US" sz="900" dirty="0"/>
          </a:p>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PC</a:t>
            </a:r>
            <a:endParaRPr lang="en-US" sz="900" dirty="0"/>
          </a:p>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Window</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showWindow</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"show Windown"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showMac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9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"show Mac"</a:t>
            </a: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a:p>
            <a:pPr marL="0" indent="0">
              <a:lnSpc>
                <a:spcPct val="115000"/>
              </a:lnSpc>
              <a:buNone/>
            </a:pPr>
            <a:r>
              <a:rPr lang="en-US" sz="9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9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Casting.kt — kiểm tra is Window/Mac rồi ép kiểu as Mac.</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33</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layers.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B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Deconstructing (Destructuring)</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Destructuring tách nhiều giá trị từ Pair/Triple, data class, hoặc Map.Entry thành các biến riêng chỉ trong một dòng, dựa trên các hàm component1()/component2()... mà data class tự sinh sẵn.</a:t>
            </a:r>
            <a:endParaRPr lang="en-US" sz="1200" dirty="0"/>
          </a:p>
        </p:txBody>
      </p:sp>
      <p:sp>
        <p:nvSpPr>
          <p:cNvPr id="9" name="Shape 6"/>
          <p:cNvSpPr/>
          <p:nvPr/>
        </p:nvSpPr>
        <p:spPr>
          <a:xfrm>
            <a:off x="548640" y="1737360"/>
            <a:ext cx="1137514" cy="292608"/>
          </a:xfrm>
          <a:prstGeom prst="roundRect">
            <a:avLst>
              <a:gd name="adj" fmla="val 50000"/>
            </a:avLst>
          </a:prstGeom>
          <a:solidFill>
            <a:srgbClr val="3A2A78"/>
          </a:solidFill>
        </p:spPr>
      </p:sp>
      <p:sp>
        <p:nvSpPr>
          <p:cNvPr id="10" name="Text 7"/>
          <p:cNvSpPr/>
          <p:nvPr/>
        </p:nvSpPr>
        <p:spPr>
          <a:xfrm>
            <a:off x="548640" y="1737360"/>
            <a:ext cx="1137514"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componentN()</a:t>
            </a:r>
            <a:endParaRPr lang="en-US" sz="1050" dirty="0"/>
          </a:p>
        </p:txBody>
      </p:sp>
      <p:sp>
        <p:nvSpPr>
          <p:cNvPr id="11" name="Shape 8"/>
          <p:cNvSpPr/>
          <p:nvPr/>
        </p:nvSpPr>
        <p:spPr>
          <a:xfrm>
            <a:off x="1814170" y="1737360"/>
            <a:ext cx="987552" cy="292608"/>
          </a:xfrm>
          <a:prstGeom prst="roundRect">
            <a:avLst>
              <a:gd name="adj" fmla="val 50000"/>
            </a:avLst>
          </a:prstGeom>
          <a:solidFill>
            <a:srgbClr val="3A2A78"/>
          </a:solidFill>
        </p:spPr>
      </p:sp>
      <p:sp>
        <p:nvSpPr>
          <p:cNvPr id="12" name="Text 9"/>
          <p:cNvSpPr/>
          <p:nvPr/>
        </p:nvSpPr>
        <p:spPr>
          <a:xfrm>
            <a:off x="1814170" y="1737360"/>
            <a:ext cx="987552"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data class</a:t>
            </a:r>
            <a:endParaRPr lang="en-US" sz="1050" dirty="0"/>
          </a:p>
        </p:txBody>
      </p:sp>
      <p:sp>
        <p:nvSpPr>
          <p:cNvPr id="13" name="Shape 10"/>
          <p:cNvSpPr/>
          <p:nvPr/>
        </p:nvSpPr>
        <p:spPr>
          <a:xfrm>
            <a:off x="2929738" y="1737360"/>
            <a:ext cx="1812341" cy="292608"/>
          </a:xfrm>
          <a:prstGeom prst="roundRect">
            <a:avLst>
              <a:gd name="adj" fmla="val 50000"/>
            </a:avLst>
          </a:prstGeom>
          <a:solidFill>
            <a:srgbClr val="3A2A78"/>
          </a:solidFill>
        </p:spPr>
      </p:sp>
      <p:sp>
        <p:nvSpPr>
          <p:cNvPr id="14" name="Text 11"/>
          <p:cNvSpPr/>
          <p:nvPr/>
        </p:nvSpPr>
        <p:spPr>
          <a:xfrm>
            <a:off x="2929738" y="1737360"/>
            <a:ext cx="1812341"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Pair/Triple/Map.Entry</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DeconstructingValue.kt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19</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20</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21</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22</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23</a:t>
            </a:r>
            <a:endParaRPr lang="en-US" sz="800" dirty="0"/>
          </a:p>
          <a:p>
            <a:pPr marL="0" indent="0" algn="r">
              <a:lnSpc>
                <a:spcPct val="115000"/>
              </a:lnSpc>
              <a:buNone/>
            </a:pPr>
            <a:r>
              <a:rPr lang="en-US" sz="8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24</a:t>
            </a:r>
            <a:endParaRPr lang="en-US" sz="8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getUser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"John"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25) =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Pair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Animal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type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operator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component1</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operator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component2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type</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Developer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nameDev</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lang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1. Class thường: cần tự khai báo operator componentN()</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dog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Animal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"Dog"</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"Mammal"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3)</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dog</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 = $name, age = $age"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2. Nhận nhiều giá trị trả về từ function qua Pair</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getUser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"Chien"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23)</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"name2 = $name2, age2 = $age2"</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3. data class tự sinh sẵn componentN() cho mọi thuộc tính</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person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Developer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"Gauuuu"</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23,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namePerson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agePerson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langPerson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person</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"namePerson = $namePerson, age = $agePerson, lang = $langPerson"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4. Duyệt Map bằng destructuring Map.Entry</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mapOf</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"name"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"John"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"age"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25)</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for</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key</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value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8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"key = $key, value = $value"</a:t>
            </a: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800" dirty="0"/>
          </a:p>
          <a:p>
            <a:pPr marL="0" indent="0">
              <a:lnSpc>
                <a:spcPct val="115000"/>
              </a:lnSpc>
              <a:buNone/>
            </a:pPr>
            <a:r>
              <a:rPr lang="en-US" sz="8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8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DeconstructingValue.kt (đã rút gọn, bỏ đoạn try/catch không liên quan).</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34</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zap.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B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Late initialization</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lateinit var trì hoãn việc gán giá trị cho property non-null (thường dùng cho View, DI, hoặc property chỉ có giá trị sau khi khởi tạo xong) — chỉ dùng được với var và kiểu tham chiếu, không phải kiểu nguyên thuỷ.</a:t>
            </a:r>
            <a:endParaRPr lang="en-US" sz="1200" dirty="0"/>
          </a:p>
        </p:txBody>
      </p:sp>
      <p:sp>
        <p:nvSpPr>
          <p:cNvPr id="9" name="Shape 6"/>
          <p:cNvSpPr/>
          <p:nvPr/>
        </p:nvSpPr>
        <p:spPr>
          <a:xfrm>
            <a:off x="548640" y="1737360"/>
            <a:ext cx="1437437" cy="292608"/>
          </a:xfrm>
          <a:prstGeom prst="roundRect">
            <a:avLst>
              <a:gd name="adj" fmla="val 50000"/>
            </a:avLst>
          </a:prstGeom>
          <a:solidFill>
            <a:srgbClr val="3A2A78"/>
          </a:solidFill>
        </p:spPr>
      </p:sp>
      <p:sp>
        <p:nvSpPr>
          <p:cNvPr id="10" name="Text 7"/>
          <p:cNvSpPr/>
          <p:nvPr/>
        </p:nvSpPr>
        <p:spPr>
          <a:xfrm>
            <a:off x="548640" y="1737360"/>
            <a:ext cx="1437437"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chỉ dùng với var</a:t>
            </a:r>
            <a:endParaRPr lang="en-US" sz="1050" dirty="0"/>
          </a:p>
        </p:txBody>
      </p:sp>
      <p:sp>
        <p:nvSpPr>
          <p:cNvPr id="11" name="Shape 8"/>
          <p:cNvSpPr/>
          <p:nvPr/>
        </p:nvSpPr>
        <p:spPr>
          <a:xfrm>
            <a:off x="2114093" y="1737360"/>
            <a:ext cx="2262226" cy="292608"/>
          </a:xfrm>
          <a:prstGeom prst="roundRect">
            <a:avLst>
              <a:gd name="adj" fmla="val 50000"/>
            </a:avLst>
          </a:prstGeom>
          <a:solidFill>
            <a:srgbClr val="3A2A78"/>
          </a:solidFill>
        </p:spPr>
      </p:sp>
      <p:sp>
        <p:nvSpPr>
          <p:cNvPr id="12" name="Text 9"/>
          <p:cNvSpPr/>
          <p:nvPr/>
        </p:nvSpPr>
        <p:spPr>
          <a:xfrm>
            <a:off x="2114093" y="1737360"/>
            <a:ext cx="226222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không phải kiểu nguyên thuỷ</a:t>
            </a:r>
            <a:endParaRPr lang="en-US" sz="1050" dirty="0"/>
          </a:p>
        </p:txBody>
      </p:sp>
      <p:sp>
        <p:nvSpPr>
          <p:cNvPr id="13" name="Shape 10"/>
          <p:cNvSpPr/>
          <p:nvPr/>
        </p:nvSpPr>
        <p:spPr>
          <a:xfrm>
            <a:off x="4504334" y="1737360"/>
            <a:ext cx="2037283" cy="292608"/>
          </a:xfrm>
          <a:prstGeom prst="roundRect">
            <a:avLst>
              <a:gd name="adj" fmla="val 50000"/>
            </a:avLst>
          </a:prstGeom>
          <a:solidFill>
            <a:srgbClr val="3A2A78"/>
          </a:solidFill>
        </p:spPr>
      </p:sp>
      <p:sp>
        <p:nvSpPr>
          <p:cNvPr id="14" name="Text 11"/>
          <p:cNvSpPr/>
          <p:nvPr/>
        </p:nvSpPr>
        <p:spPr>
          <a:xfrm>
            <a:off x="4504334" y="1737360"/>
            <a:ext cx="2037283"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tránh phải dùng nullable</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LateInit.kt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7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late init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people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People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people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"Bears"</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people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People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lateinit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"tôi tên là $name"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LateInit.kt — lateinit var name gán sau khi object đã được tạo.</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35</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type.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B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Type aliases</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typealias đặt tên gọn hơn cho một kiểu dữ liệu phức tạp (generic dài, function type) giúp code dễ đọc hơn — chỉ là một 'bí danh', không tạo ra kiểu dữ liệu mới thực sự.</a:t>
            </a:r>
            <a:endParaRPr lang="en-US" sz="1200" dirty="0"/>
          </a:p>
        </p:txBody>
      </p:sp>
      <p:sp>
        <p:nvSpPr>
          <p:cNvPr id="9" name="Shape 6"/>
          <p:cNvSpPr/>
          <p:nvPr/>
        </p:nvSpPr>
        <p:spPr>
          <a:xfrm>
            <a:off x="548640" y="1737360"/>
            <a:ext cx="2262226" cy="292608"/>
          </a:xfrm>
          <a:prstGeom prst="roundRect">
            <a:avLst>
              <a:gd name="adj" fmla="val 50000"/>
            </a:avLst>
          </a:prstGeom>
          <a:solidFill>
            <a:srgbClr val="3A2A78"/>
          </a:solidFill>
        </p:spPr>
      </p:sp>
      <p:sp>
        <p:nvSpPr>
          <p:cNvPr id="10" name="Text 7"/>
          <p:cNvSpPr/>
          <p:nvPr/>
        </p:nvSpPr>
        <p:spPr>
          <a:xfrm>
            <a:off x="548640" y="1737360"/>
            <a:ext cx="226222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bí danh, không tạo kiểu mới</a:t>
            </a:r>
            <a:endParaRPr lang="en-US" sz="1050" dirty="0"/>
          </a:p>
        </p:txBody>
      </p:sp>
      <p:sp>
        <p:nvSpPr>
          <p:cNvPr id="11" name="Shape 8"/>
          <p:cNvSpPr/>
          <p:nvPr/>
        </p:nvSpPr>
        <p:spPr>
          <a:xfrm>
            <a:off x="2938882" y="1737360"/>
            <a:ext cx="2187245" cy="292608"/>
          </a:xfrm>
          <a:prstGeom prst="roundRect">
            <a:avLst>
              <a:gd name="adj" fmla="val 50000"/>
            </a:avLst>
          </a:prstGeom>
          <a:solidFill>
            <a:srgbClr val="3A2A78"/>
          </a:solidFill>
        </p:spPr>
      </p:sp>
      <p:sp>
        <p:nvSpPr>
          <p:cNvPr id="12" name="Text 9"/>
          <p:cNvSpPr/>
          <p:nvPr/>
        </p:nvSpPr>
        <p:spPr>
          <a:xfrm>
            <a:off x="2938882" y="1737360"/>
            <a:ext cx="218724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hay dùng cho function type</a:t>
            </a:r>
            <a:endParaRPr lang="en-US" sz="1050" dirty="0"/>
          </a:p>
        </p:txBody>
      </p:sp>
      <p:sp>
        <p:nvSpPr>
          <p:cNvPr id="13" name="Shape 10"/>
          <p:cNvSpPr/>
          <p:nvPr/>
        </p:nvSpPr>
        <p:spPr>
          <a:xfrm>
            <a:off x="5254142" y="1737360"/>
            <a:ext cx="1362456" cy="292608"/>
          </a:xfrm>
          <a:prstGeom prst="roundRect">
            <a:avLst>
              <a:gd name="adj" fmla="val 50000"/>
            </a:avLst>
          </a:prstGeom>
          <a:solidFill>
            <a:srgbClr val="3A2A78"/>
          </a:solidFill>
        </p:spPr>
      </p:sp>
      <p:sp>
        <p:nvSpPr>
          <p:cNvPr id="14" name="Text 11"/>
          <p:cNvSpPr/>
          <p:nvPr/>
        </p:nvSpPr>
        <p:spPr>
          <a:xfrm>
            <a:off x="5254142" y="1737360"/>
            <a:ext cx="136245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code dễ đọc hơn</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TypeAlias.kt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600" dirty="0"/>
          </a:p>
          <a:p>
            <a:pPr marL="0" indent="0" algn="r">
              <a:lnSpc>
                <a:spcPct val="115000"/>
              </a:lnSpc>
              <a:buNone/>
            </a:pPr>
            <a:r>
              <a:rPr lang="en-US" sz="16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6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typealias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UserScores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Map</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&lt;</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List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&lt;</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&gt;&gt;</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typealias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OnResult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Boolean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Unit</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loadScores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UserScores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mapOf</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listOf</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(8, 9, 10))</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request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onResult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OnResult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onResult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true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"Thành công"</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loadScores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request</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success</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message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6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"success=$success, message=$message"</a:t>
            </a: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600" dirty="0"/>
          </a:p>
          <a:p>
            <a:pPr marL="0" indent="0">
              <a:lnSpc>
                <a:spcPct val="115000"/>
              </a:lnSpc>
              <a:buNone/>
            </a:pPr>
            <a:r>
              <a:rPr lang="en-US" sz="16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60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36</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C</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code.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200" b="1" dirty="0">
                <a:solidFill>
                  <a:srgbClr val="FFFFFF"/>
                </a:solidFill>
                <a:latin typeface="Calibri" panose="020F0502020204030204" pitchFamily="34" charset="0"/>
                <a:ea typeface="Calibri" panose="020F0502020204030204" pitchFamily="34" charset="-122"/>
                <a:cs typeface="Calibri" panose="020F0502020204030204" pitchFamily="34" charset="-120"/>
              </a:rPr>
              <a:t>Lập trình hàm</a:t>
            </a:r>
            <a:endParaRPr lang="en-US" sz="3200" dirty="0"/>
          </a:p>
        </p:txBody>
      </p:sp>
      <p:sp>
        <p:nvSpPr>
          <p:cNvPr id="8" name="Text 5"/>
          <p:cNvSpPr/>
          <p:nvPr/>
        </p:nvSpPr>
        <p:spPr>
          <a:xfrm>
            <a:off x="548640" y="4983480"/>
            <a:ext cx="10241280" cy="640080"/>
          </a:xfrm>
          <a:prstGeom prst="rect">
            <a:avLst/>
          </a:prstGeom>
          <a:noFill/>
        </p:spPr>
        <p:txBody>
          <a:bodyPr wrap="square" lIns="0" tIns="0" rIns="0" bIns="0" rtlCol="0" anchor="ctr"/>
          <a:lstStyle/>
          <a:p>
            <a:pPr marL="0" indent="0">
              <a:lnSpc>
                <a:spcPct val="120000"/>
              </a:lnSpc>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Higher-order function · Lambda expression · Extension function · Infix function · Inline function · Return &amp; local return · Tail recursion · Lambda extension</a:t>
            </a:r>
            <a:endParaRPr lang="en-US" sz="135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37</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zap.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C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Lambda expression</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Lambda là một hàm không tên, có thể gán cho biến hoặc truyền trực tiếp. Nếu là tham số cuối cùng, có thể viết ra ngoài dấu ngoặc () — trailing lambda; tham số duy nhất có thể dùng ngầm định it.</a:t>
            </a:r>
            <a:endParaRPr lang="en-US" sz="1200" dirty="0"/>
          </a:p>
        </p:txBody>
      </p:sp>
      <p:sp>
        <p:nvSpPr>
          <p:cNvPr id="9" name="Shape 6"/>
          <p:cNvSpPr/>
          <p:nvPr/>
        </p:nvSpPr>
        <p:spPr>
          <a:xfrm>
            <a:off x="548640" y="1737360"/>
            <a:ext cx="1362456" cy="292608"/>
          </a:xfrm>
          <a:prstGeom prst="roundRect">
            <a:avLst>
              <a:gd name="adj" fmla="val 50000"/>
            </a:avLst>
          </a:prstGeom>
          <a:solidFill>
            <a:srgbClr val="3A2A78"/>
          </a:solidFill>
        </p:spPr>
      </p:sp>
      <p:sp>
        <p:nvSpPr>
          <p:cNvPr id="10" name="Text 7"/>
          <p:cNvSpPr/>
          <p:nvPr/>
        </p:nvSpPr>
        <p:spPr>
          <a:xfrm>
            <a:off x="548640" y="1737360"/>
            <a:ext cx="136245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trailing lambda</a:t>
            </a:r>
            <a:endParaRPr lang="en-US" sz="1050" dirty="0"/>
          </a:p>
        </p:txBody>
      </p:sp>
      <p:sp>
        <p:nvSpPr>
          <p:cNvPr id="11" name="Shape 8"/>
          <p:cNvSpPr/>
          <p:nvPr/>
        </p:nvSpPr>
        <p:spPr>
          <a:xfrm>
            <a:off x="2039112" y="1737360"/>
            <a:ext cx="1137514" cy="292608"/>
          </a:xfrm>
          <a:prstGeom prst="roundRect">
            <a:avLst>
              <a:gd name="adj" fmla="val 50000"/>
            </a:avLst>
          </a:prstGeom>
          <a:solidFill>
            <a:srgbClr val="3A2A78"/>
          </a:solidFill>
        </p:spPr>
      </p:sp>
      <p:sp>
        <p:nvSpPr>
          <p:cNvPr id="12" name="Text 9"/>
          <p:cNvSpPr/>
          <p:nvPr/>
        </p:nvSpPr>
        <p:spPr>
          <a:xfrm>
            <a:off x="2039112" y="1737360"/>
            <a:ext cx="1137514"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it ngầm định</a:t>
            </a:r>
            <a:endParaRPr lang="en-US" sz="1050" dirty="0"/>
          </a:p>
        </p:txBody>
      </p:sp>
      <p:sp>
        <p:nvSpPr>
          <p:cNvPr id="13" name="Shape 10"/>
          <p:cNvSpPr/>
          <p:nvPr/>
        </p:nvSpPr>
        <p:spPr>
          <a:xfrm>
            <a:off x="3304642" y="1737360"/>
            <a:ext cx="1512418" cy="292608"/>
          </a:xfrm>
          <a:prstGeom prst="roundRect">
            <a:avLst>
              <a:gd name="adj" fmla="val 50000"/>
            </a:avLst>
          </a:prstGeom>
          <a:solidFill>
            <a:srgbClr val="3A2A78"/>
          </a:solidFill>
        </p:spPr>
      </p:sp>
      <p:sp>
        <p:nvSpPr>
          <p:cNvPr id="14" name="Text 11"/>
          <p:cNvSpPr/>
          <p:nvPr/>
        </p:nvSpPr>
        <p:spPr>
          <a:xfrm>
            <a:off x="3304642" y="1737360"/>
            <a:ext cx="151241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gán cho biến được</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LambdaSyntax.kt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300" dirty="0"/>
          </a:p>
          <a:p>
            <a:pPr marL="0" indent="0" algn="r">
              <a:lnSpc>
                <a:spcPct val="115000"/>
              </a:lnSpc>
              <a:buNone/>
            </a:pPr>
            <a:r>
              <a:rPr lang="en-US" sz="13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3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Lambda gán cho biến, kiểu (Int) -&gt; Int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square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3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square</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(5))</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Trailing lambda: lambda là tham số cuối -&gt; viết ngoài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listOf</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(1, 2, 3, 4)</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doubled</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2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doubled</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Nhiều dòng lệnh trong lambda — dòng cuối là giá trị trả về</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sumSquares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map</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sumSquares</a:t>
            </a: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15000"/>
              </a:lnSpc>
              <a:buNone/>
            </a:pPr>
            <a:r>
              <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endParaRPr>
          </a:p>
          <a:p>
            <a:pPr marL="0" indent="0">
              <a:lnSpc>
                <a:spcPct val="115000"/>
              </a:lnSpc>
              <a:buNone/>
            </a:pPr>
            <a:endParaRPr lang="en-US" sz="130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39</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code.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C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Higher-order function (HOF)</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Higher-order function: tạo ra 1 function và function này chấp nhận các tham số, và tham số này có thể là 1 function   </a:t>
            </a:r>
            <a:endParaRPr lang="en-US" sz="1200" dirty="0"/>
          </a:p>
        </p:txBody>
      </p:sp>
      <p:sp>
        <p:nvSpPr>
          <p:cNvPr id="9" name="Shape 6"/>
          <p:cNvSpPr/>
          <p:nvPr/>
        </p:nvSpPr>
        <p:spPr>
          <a:xfrm>
            <a:off x="548640" y="1737360"/>
            <a:ext cx="1737360" cy="292608"/>
          </a:xfrm>
          <a:prstGeom prst="roundRect">
            <a:avLst>
              <a:gd name="adj" fmla="val 50000"/>
            </a:avLst>
          </a:prstGeom>
          <a:solidFill>
            <a:srgbClr val="3A2A78"/>
          </a:solidFill>
        </p:spPr>
      </p:sp>
      <p:sp>
        <p:nvSpPr>
          <p:cNvPr id="10" name="Text 7"/>
          <p:cNvSpPr/>
          <p:nvPr/>
        </p:nvSpPr>
        <p:spPr>
          <a:xfrm>
            <a:off x="548640" y="1737360"/>
            <a:ext cx="1737360"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nhận hàm làm tham số</a:t>
            </a:r>
            <a:endParaRPr lang="en-US" sz="1050" dirty="0"/>
          </a:p>
        </p:txBody>
      </p:sp>
      <p:sp>
        <p:nvSpPr>
          <p:cNvPr id="11" name="Shape 8"/>
          <p:cNvSpPr/>
          <p:nvPr/>
        </p:nvSpPr>
        <p:spPr>
          <a:xfrm>
            <a:off x="2414016" y="1737360"/>
            <a:ext cx="1287475" cy="292608"/>
          </a:xfrm>
          <a:prstGeom prst="roundRect">
            <a:avLst>
              <a:gd name="adj" fmla="val 50000"/>
            </a:avLst>
          </a:prstGeom>
          <a:solidFill>
            <a:srgbClr val="3A2A78"/>
          </a:solidFill>
        </p:spPr>
      </p:sp>
      <p:sp>
        <p:nvSpPr>
          <p:cNvPr id="12" name="Text 9"/>
          <p:cNvSpPr/>
          <p:nvPr/>
        </p:nvSpPr>
        <p:spPr>
          <a:xfrm>
            <a:off x="2414016" y="1737360"/>
            <a:ext cx="128747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trả về một hàm</a:t>
            </a:r>
            <a:endParaRPr lang="en-US" sz="1050" dirty="0"/>
          </a:p>
        </p:txBody>
      </p:sp>
      <p:sp>
        <p:nvSpPr>
          <p:cNvPr id="13" name="Shape 10"/>
          <p:cNvSpPr/>
          <p:nvPr/>
        </p:nvSpPr>
        <p:spPr>
          <a:xfrm>
            <a:off x="3829507" y="1737360"/>
            <a:ext cx="2187245" cy="292608"/>
          </a:xfrm>
          <a:prstGeom prst="roundRect">
            <a:avLst>
              <a:gd name="adj" fmla="val 50000"/>
            </a:avLst>
          </a:prstGeom>
          <a:solidFill>
            <a:srgbClr val="3A2A78"/>
          </a:solidFill>
        </p:spPr>
      </p:sp>
      <p:sp>
        <p:nvSpPr>
          <p:cNvPr id="14" name="Text 11"/>
          <p:cNvSpPr/>
          <p:nvPr/>
        </p:nvSpPr>
        <p:spPr>
          <a:xfrm>
            <a:off x="3829507" y="1737360"/>
            <a:ext cx="218724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(Double, Double) -&gt; Double</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HOF.kt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19</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20</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21</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22</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23</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24</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25</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26</a:t>
            </a:r>
            <a:endParaRPr lang="en-US" sz="750" dirty="0"/>
          </a:p>
          <a:p>
            <a:pPr marL="0" indent="0" algn="r">
              <a:lnSpc>
                <a:spcPct val="115000"/>
              </a:lnSpc>
              <a:buNone/>
            </a:pPr>
            <a:r>
              <a:rPr lang="en-US" sz="7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27</a:t>
            </a:r>
            <a:endParaRPr lang="en-US" sz="75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calculate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(2.0, 3.0,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"result = $result"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result2</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calculate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(3.0, 7.0, </a:t>
            </a: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y</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y</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result2</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result3</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calculate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(4.0, 6.5)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y</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y</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result3</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Lambda expression</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var</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acc1</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restApi</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_</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_</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getUsername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acc1</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"url = ${acc1.first}, method = ${acc1.second}, user = ${acc1.third}"</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calculate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y</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func</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func</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y</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y</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x</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y</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Username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firstName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lastName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getUsername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Username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return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Username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"John"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"Doe"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restApi</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url</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https</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//api.vnexpress.net",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method</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7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"GET"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success</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Username</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Triple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&lt;</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Username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&gt; {</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return</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Triple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url</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method</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Username</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7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"Bear"</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7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"Dev"</a:t>
            </a: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a:p>
            <a:pPr marL="0" indent="0">
              <a:lnSpc>
                <a:spcPct val="115000"/>
              </a:lnSpc>
              <a:buNone/>
            </a:pPr>
            <a:r>
              <a:rPr lang="en-US" sz="7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75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HOF.kt — calculate() nhận tham số kiểu hàm, restApi() nhận callback.</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38</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star.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C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Extension function</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Extension function cho phép 'gắn thêm' hàm mới vào một class có sẵn — kể cả class trong thư viện chuẩn — mà không cần sửa hay kế thừa class đó.</a:t>
            </a:r>
            <a:endParaRPr lang="en-US" sz="1200" dirty="0"/>
          </a:p>
        </p:txBody>
      </p:sp>
      <p:sp>
        <p:nvSpPr>
          <p:cNvPr id="9" name="Shape 6"/>
          <p:cNvSpPr/>
          <p:nvPr/>
        </p:nvSpPr>
        <p:spPr>
          <a:xfrm>
            <a:off x="548640" y="1737360"/>
            <a:ext cx="1737360" cy="292608"/>
          </a:xfrm>
          <a:prstGeom prst="roundRect">
            <a:avLst>
              <a:gd name="adj" fmla="val 50000"/>
            </a:avLst>
          </a:prstGeom>
          <a:solidFill>
            <a:srgbClr val="3A2A78"/>
          </a:solidFill>
        </p:spPr>
      </p:sp>
      <p:sp>
        <p:nvSpPr>
          <p:cNvPr id="10" name="Text 7"/>
          <p:cNvSpPr/>
          <p:nvPr/>
        </p:nvSpPr>
        <p:spPr>
          <a:xfrm>
            <a:off x="548640" y="1737360"/>
            <a:ext cx="1737360"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mở rộng class có sẵn</a:t>
            </a:r>
            <a:endParaRPr lang="en-US" sz="1050" dirty="0"/>
          </a:p>
        </p:txBody>
      </p:sp>
      <p:sp>
        <p:nvSpPr>
          <p:cNvPr id="11" name="Shape 8"/>
          <p:cNvSpPr/>
          <p:nvPr/>
        </p:nvSpPr>
        <p:spPr>
          <a:xfrm>
            <a:off x="2414016" y="1737360"/>
            <a:ext cx="1512418" cy="292608"/>
          </a:xfrm>
          <a:prstGeom prst="roundRect">
            <a:avLst>
              <a:gd name="adj" fmla="val 50000"/>
            </a:avLst>
          </a:prstGeom>
          <a:solidFill>
            <a:srgbClr val="3A2A78"/>
          </a:solidFill>
        </p:spPr>
      </p:sp>
      <p:sp>
        <p:nvSpPr>
          <p:cNvPr id="12" name="Text 9"/>
          <p:cNvSpPr/>
          <p:nvPr/>
        </p:nvSpPr>
        <p:spPr>
          <a:xfrm>
            <a:off x="2414016" y="1737360"/>
            <a:ext cx="151241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không cần kế thừa</a:t>
            </a:r>
            <a:endParaRPr lang="en-US" sz="1050" dirty="0"/>
          </a:p>
        </p:txBody>
      </p:sp>
      <p:sp>
        <p:nvSpPr>
          <p:cNvPr id="13" name="Shape 10"/>
          <p:cNvSpPr/>
          <p:nvPr/>
        </p:nvSpPr>
        <p:spPr>
          <a:xfrm>
            <a:off x="4054450" y="1737360"/>
            <a:ext cx="1962302" cy="292608"/>
          </a:xfrm>
          <a:prstGeom prst="roundRect">
            <a:avLst>
              <a:gd name="adj" fmla="val 50000"/>
            </a:avLst>
          </a:prstGeom>
          <a:solidFill>
            <a:srgbClr val="3A2A78"/>
          </a:solidFill>
        </p:spPr>
      </p:sp>
      <p:sp>
        <p:nvSpPr>
          <p:cNvPr id="14" name="Text 11"/>
          <p:cNvSpPr/>
          <p:nvPr/>
        </p:nvSpPr>
        <p:spPr>
          <a:xfrm>
            <a:off x="4054450" y="1737360"/>
            <a:ext cx="1962302"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cú pháp fun Type.name()</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Extension.kt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105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password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"13@pass"</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password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validatePassword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password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"password is valid = $result"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lib</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Library</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lib</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exFunc</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100</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result1</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200</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result1</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(200))</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Extension function</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validatePassword</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Boolean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length</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8</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Library</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 Extension Demo"</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Library</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exFunc</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"exFunc called on $name"</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Infix function</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infix</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this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plus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Extension.kt — String.validatePassword() và Library.exFunc().</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40</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gitmerge.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C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Infix function</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infix cho phép gọi một hàm đúng-1-tham-số theo kiểu toán tử trung tố: a cong b thay vì a.cong(b) — áp dụng cho hàm hoặc extension function.</a:t>
            </a:r>
            <a:endParaRPr lang="en-US" sz="1200" dirty="0"/>
          </a:p>
        </p:txBody>
      </p:sp>
      <p:sp>
        <p:nvSpPr>
          <p:cNvPr id="9" name="Shape 6"/>
          <p:cNvSpPr/>
          <p:nvPr/>
        </p:nvSpPr>
        <p:spPr>
          <a:xfrm>
            <a:off x="548640" y="1737360"/>
            <a:ext cx="1362456" cy="292608"/>
          </a:xfrm>
          <a:prstGeom prst="roundRect">
            <a:avLst>
              <a:gd name="adj" fmla="val 50000"/>
            </a:avLst>
          </a:prstGeom>
          <a:solidFill>
            <a:srgbClr val="3A2A78"/>
          </a:solidFill>
        </p:spPr>
      </p:sp>
      <p:sp>
        <p:nvSpPr>
          <p:cNvPr id="10" name="Text 7"/>
          <p:cNvSpPr/>
          <p:nvPr/>
        </p:nvSpPr>
        <p:spPr>
          <a:xfrm>
            <a:off x="548640" y="1737360"/>
            <a:ext cx="136245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gọi kiểu a op b</a:t>
            </a:r>
            <a:endParaRPr lang="en-US" sz="1050" dirty="0"/>
          </a:p>
        </p:txBody>
      </p:sp>
      <p:sp>
        <p:nvSpPr>
          <p:cNvPr id="11" name="Shape 8"/>
          <p:cNvSpPr/>
          <p:nvPr/>
        </p:nvSpPr>
        <p:spPr>
          <a:xfrm>
            <a:off x="2039112" y="1737360"/>
            <a:ext cx="1287475" cy="292608"/>
          </a:xfrm>
          <a:prstGeom prst="roundRect">
            <a:avLst>
              <a:gd name="adj" fmla="val 50000"/>
            </a:avLst>
          </a:prstGeom>
          <a:solidFill>
            <a:srgbClr val="3A2A78"/>
          </a:solidFill>
        </p:spPr>
      </p:sp>
      <p:sp>
        <p:nvSpPr>
          <p:cNvPr id="12" name="Text 9"/>
          <p:cNvSpPr/>
          <p:nvPr/>
        </p:nvSpPr>
        <p:spPr>
          <a:xfrm>
            <a:off x="2039112" y="1737360"/>
            <a:ext cx="128747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đúng 1 tham số</a:t>
            </a:r>
            <a:endParaRPr lang="en-US" sz="1050" dirty="0"/>
          </a:p>
        </p:txBody>
      </p:sp>
      <p:sp>
        <p:nvSpPr>
          <p:cNvPr id="13" name="Shape 10"/>
          <p:cNvSpPr/>
          <p:nvPr/>
        </p:nvSpPr>
        <p:spPr>
          <a:xfrm>
            <a:off x="3454603" y="1737360"/>
            <a:ext cx="2487168" cy="292608"/>
          </a:xfrm>
          <a:prstGeom prst="roundRect">
            <a:avLst>
              <a:gd name="adj" fmla="val 50000"/>
            </a:avLst>
          </a:prstGeom>
          <a:solidFill>
            <a:srgbClr val="3A2A78"/>
          </a:solidFill>
        </p:spPr>
      </p:sp>
      <p:sp>
        <p:nvSpPr>
          <p:cNvPr id="14" name="Text 11"/>
          <p:cNvSpPr/>
          <p:nvPr/>
        </p:nvSpPr>
        <p:spPr>
          <a:xfrm>
            <a:off x="3454603" y="1737360"/>
            <a:ext cx="248716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hay kết hợp extension function</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Extension.kt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17</a:t>
            </a:r>
            <a:endParaRPr lang="en-US" sz="1050" dirty="0"/>
          </a:p>
          <a:p>
            <a:pPr marL="0" indent="0" algn="r">
              <a:lnSpc>
                <a:spcPct val="115000"/>
              </a:lnSpc>
              <a:buNone/>
            </a:pPr>
            <a:r>
              <a:rPr lang="en-US" sz="105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18</a:t>
            </a:r>
            <a:endParaRPr lang="en-US" sz="1050" dirty="0"/>
          </a:p>
        </p:txBody>
      </p:sp>
      <p:sp>
        <p:nvSpPr>
          <p:cNvPr id="21" name="Text 18"/>
          <p:cNvSpPr/>
          <p:nvPr/>
        </p:nvSpPr>
        <p:spPr>
          <a:xfrm>
            <a:off x="1170305" y="2578735"/>
            <a:ext cx="10326370" cy="1930400"/>
          </a:xfrm>
          <a:prstGeom prst="rect">
            <a:avLst/>
          </a:prstGeom>
          <a:noFill/>
        </p:spPr>
        <p:txBody>
          <a:bodyPr wrap="square" lIns="0" tIns="0" rIns="0" bIns="0" rtlCol="0" anchor="t"/>
          <a:lstStyle/>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100</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result1</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200</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result1</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(200))</a:t>
            </a:r>
            <a:endParaRPr lang="en-US" sz="1050" dirty="0"/>
          </a:p>
          <a:p>
            <a:pPr marL="0" indent="0">
              <a:lnSpc>
                <a:spcPct val="115000"/>
              </a:lnSpc>
              <a:buNone/>
            </a:pP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a:p>
            <a:pPr marL="0" indent="0">
              <a:lnSpc>
                <a:spcPct val="115000"/>
              </a:lnSpc>
              <a:buNone/>
            </a:pPr>
            <a:r>
              <a:rPr lang="en-US" sz="105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Infix function</a:t>
            </a:r>
            <a:endParaRPr lang="en-US" sz="1050" dirty="0"/>
          </a:p>
          <a:p>
            <a:pPr marL="0" indent="0">
              <a:lnSpc>
                <a:spcPct val="115000"/>
              </a:lnSpc>
              <a:buNone/>
            </a:pP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infix</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cong</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05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this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plus</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number</a:t>
            </a:r>
            <a:r>
              <a:rPr lang="en-US" sz="105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05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Extension.kt — infix fun Int.cong(number: Int), gọi bằng number cong 200.</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41</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target.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C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Inline function</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inline yêu cầu compiler chèn thẳng thân hàm (và lambda truyền vào) vào ngay nơi gọi thay vì tạo object lambda thật sự — giảm chi phí (overhead) khi dùng lambda nhiều lần.</a:t>
            </a:r>
            <a:endParaRPr lang="en-US" sz="1200" dirty="0"/>
          </a:p>
        </p:txBody>
      </p:sp>
      <p:sp>
        <p:nvSpPr>
          <p:cNvPr id="9" name="Shape 6"/>
          <p:cNvSpPr/>
          <p:nvPr/>
        </p:nvSpPr>
        <p:spPr>
          <a:xfrm>
            <a:off x="548640" y="1737360"/>
            <a:ext cx="1812341" cy="292608"/>
          </a:xfrm>
          <a:prstGeom prst="roundRect">
            <a:avLst>
              <a:gd name="adj" fmla="val 50000"/>
            </a:avLst>
          </a:prstGeom>
          <a:solidFill>
            <a:srgbClr val="3A2A78"/>
          </a:solidFill>
        </p:spPr>
      </p:sp>
      <p:sp>
        <p:nvSpPr>
          <p:cNvPr id="10" name="Text 7"/>
          <p:cNvSpPr/>
          <p:nvPr/>
        </p:nvSpPr>
        <p:spPr>
          <a:xfrm>
            <a:off x="548640" y="1737360"/>
            <a:ext cx="1812341"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chèn code tại nơi gọi</a:t>
            </a:r>
            <a:endParaRPr lang="en-US" sz="1050" dirty="0"/>
          </a:p>
        </p:txBody>
      </p:sp>
      <p:sp>
        <p:nvSpPr>
          <p:cNvPr id="11" name="Shape 8"/>
          <p:cNvSpPr/>
          <p:nvPr/>
        </p:nvSpPr>
        <p:spPr>
          <a:xfrm>
            <a:off x="2488997" y="1737360"/>
            <a:ext cx="2037283" cy="292608"/>
          </a:xfrm>
          <a:prstGeom prst="roundRect">
            <a:avLst>
              <a:gd name="adj" fmla="val 50000"/>
            </a:avLst>
          </a:prstGeom>
          <a:solidFill>
            <a:srgbClr val="3A2A78"/>
          </a:solidFill>
        </p:spPr>
      </p:sp>
      <p:sp>
        <p:nvSpPr>
          <p:cNvPr id="12" name="Text 9"/>
          <p:cNvSpPr/>
          <p:nvPr/>
        </p:nvSpPr>
        <p:spPr>
          <a:xfrm>
            <a:off x="2488997" y="1737360"/>
            <a:ext cx="2037283"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giảm overhead của lambda</a:t>
            </a:r>
            <a:endParaRPr lang="en-US" sz="1050" dirty="0"/>
          </a:p>
        </p:txBody>
      </p:sp>
      <p:sp>
        <p:nvSpPr>
          <p:cNvPr id="13" name="Shape 10"/>
          <p:cNvSpPr/>
          <p:nvPr/>
        </p:nvSpPr>
        <p:spPr>
          <a:xfrm>
            <a:off x="4654296" y="1737360"/>
            <a:ext cx="2337206" cy="292608"/>
          </a:xfrm>
          <a:prstGeom prst="roundRect">
            <a:avLst>
              <a:gd name="adj" fmla="val 50000"/>
            </a:avLst>
          </a:prstGeom>
          <a:solidFill>
            <a:srgbClr val="3A2A78"/>
          </a:solidFill>
        </p:spPr>
      </p:sp>
      <p:sp>
        <p:nvSpPr>
          <p:cNvPr id="14" name="Text 11"/>
          <p:cNvSpPr/>
          <p:nvPr/>
        </p:nvSpPr>
        <p:spPr>
          <a:xfrm>
            <a:off x="4654296" y="1737360"/>
            <a:ext cx="233720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hay dùng cho hàm nhận lambda</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145"/>
            <a:ext cx="2195830" cy="320675"/>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InlineFunc.kt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7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import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kotlin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math</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sqrt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total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sum</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(1, 2)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total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sqrt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sqrt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(4.0)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sqrt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sqrt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inline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sum</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action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Int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action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sqrt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action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action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InlineFunc.kt — inline fun sum(a, b, action).</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42</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hash.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C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Return &amp; Local return</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return thường thoát khỏi cả hàm chứa nó. Trong lambda truyền cho hàm khác, return@label (local return) chỉ thoát khỏi lambda đó — hàm bên ngoài vẫn tiếp tục chạy bình thường.</a:t>
            </a:r>
            <a:endParaRPr lang="en-US" sz="1200" dirty="0"/>
          </a:p>
        </p:txBody>
      </p:sp>
      <p:sp>
        <p:nvSpPr>
          <p:cNvPr id="9" name="Shape 6"/>
          <p:cNvSpPr/>
          <p:nvPr/>
        </p:nvSpPr>
        <p:spPr>
          <a:xfrm>
            <a:off x="548640" y="1737360"/>
            <a:ext cx="1662379" cy="292608"/>
          </a:xfrm>
          <a:prstGeom prst="roundRect">
            <a:avLst>
              <a:gd name="adj" fmla="val 50000"/>
            </a:avLst>
          </a:prstGeom>
          <a:solidFill>
            <a:srgbClr val="3A2A78"/>
          </a:solidFill>
        </p:spPr>
      </p:sp>
      <p:sp>
        <p:nvSpPr>
          <p:cNvPr id="10" name="Text 7"/>
          <p:cNvSpPr/>
          <p:nvPr/>
        </p:nvSpPr>
        <p:spPr>
          <a:xfrm>
            <a:off x="548640" y="1737360"/>
            <a:ext cx="1662379"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return thoát cả hàm</a:t>
            </a:r>
            <a:endParaRPr lang="en-US" sz="1050" dirty="0"/>
          </a:p>
        </p:txBody>
      </p:sp>
      <p:sp>
        <p:nvSpPr>
          <p:cNvPr id="11" name="Shape 8"/>
          <p:cNvSpPr/>
          <p:nvPr/>
        </p:nvSpPr>
        <p:spPr>
          <a:xfrm>
            <a:off x="2339035" y="1737360"/>
            <a:ext cx="2412187" cy="292608"/>
          </a:xfrm>
          <a:prstGeom prst="roundRect">
            <a:avLst>
              <a:gd name="adj" fmla="val 50000"/>
            </a:avLst>
          </a:prstGeom>
          <a:solidFill>
            <a:srgbClr val="3A2A78"/>
          </a:solidFill>
        </p:spPr>
      </p:sp>
      <p:sp>
        <p:nvSpPr>
          <p:cNvPr id="12" name="Text 9"/>
          <p:cNvSpPr/>
          <p:nvPr/>
        </p:nvSpPr>
        <p:spPr>
          <a:xfrm>
            <a:off x="2339035" y="1737360"/>
            <a:ext cx="2412187"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return@label chỉ thoát lambda</a:t>
            </a:r>
            <a:endParaRPr lang="en-US" sz="1050" dirty="0"/>
          </a:p>
        </p:txBody>
      </p:sp>
      <p:sp>
        <p:nvSpPr>
          <p:cNvPr id="13" name="Shape 10"/>
          <p:cNvSpPr/>
          <p:nvPr/>
        </p:nvSpPr>
        <p:spPr>
          <a:xfrm>
            <a:off x="4879238" y="1737360"/>
            <a:ext cx="1812341" cy="292608"/>
          </a:xfrm>
          <a:prstGeom prst="roundRect">
            <a:avLst>
              <a:gd name="adj" fmla="val 50000"/>
            </a:avLst>
          </a:prstGeom>
          <a:solidFill>
            <a:srgbClr val="3A2A78"/>
          </a:solidFill>
        </p:spPr>
      </p:sp>
      <p:sp>
        <p:nvSpPr>
          <p:cNvPr id="14" name="Text 11"/>
          <p:cNvSpPr/>
          <p:nvPr/>
        </p:nvSpPr>
        <p:spPr>
          <a:xfrm>
            <a:off x="4879238" y="1737360"/>
            <a:ext cx="1812341"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nhãn đặt theo tên hàm</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LocalReturn.kt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200" dirty="0"/>
          </a:p>
          <a:p>
            <a:pPr marL="0" indent="0" algn="r">
              <a:lnSpc>
                <a:spcPct val="115000"/>
              </a:lnSpc>
              <a:buNone/>
            </a:pPr>
            <a:r>
              <a:rPr lang="en-US" sz="12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2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printNumber</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15000"/>
              </a:lnSpc>
              <a:buNone/>
            </a:pP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&lt;</a:t>
            </a:r>
            <a:r>
              <a:rPr lang="en-US" sz="12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&gt; </a:t>
            </a:r>
            <a:r>
              <a:rPr lang="en-US" sz="12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Iterable</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&lt;</a:t>
            </a:r>
            <a:r>
              <a:rPr lang="en-US" sz="12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customForEach</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action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2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Unit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Unit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for</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element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this</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action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element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15000"/>
              </a:lnSpc>
              <a:buNone/>
            </a:pP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printNumber</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range</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1..10</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range</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customForEach</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customForEach</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5) {</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return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customForEach</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ct val="115000"/>
              </a:lnSpc>
              <a:buNone/>
            </a:pPr>
            <a:r>
              <a:rPr lang="en-US" sz="12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LocalReturn.kt — return@customForEach bỏ qua phần tử số 5, vòng lặp vẫn tiếp tục.</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43</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repeat.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C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Tail recursion</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tailrec đánh dấu một hàm đệ quy mà lời gọi đệ quy là thao tác CUỐI CÙNG trong hàm — compiler tối ưu thành một vòng lặp thực sự, tránh StackOverflowError khi đệ quy sâu.</a:t>
            </a:r>
            <a:endParaRPr lang="en-US" sz="1200" dirty="0"/>
          </a:p>
        </p:txBody>
      </p:sp>
      <p:sp>
        <p:nvSpPr>
          <p:cNvPr id="9" name="Shape 6"/>
          <p:cNvSpPr/>
          <p:nvPr/>
        </p:nvSpPr>
        <p:spPr>
          <a:xfrm>
            <a:off x="548640" y="1737360"/>
            <a:ext cx="2187245" cy="292608"/>
          </a:xfrm>
          <a:prstGeom prst="roundRect">
            <a:avLst>
              <a:gd name="adj" fmla="val 50000"/>
            </a:avLst>
          </a:prstGeom>
          <a:solidFill>
            <a:srgbClr val="3A2A78"/>
          </a:solidFill>
        </p:spPr>
      </p:sp>
      <p:sp>
        <p:nvSpPr>
          <p:cNvPr id="10" name="Text 7"/>
          <p:cNvSpPr/>
          <p:nvPr/>
        </p:nvSpPr>
        <p:spPr>
          <a:xfrm>
            <a:off x="548640" y="1737360"/>
            <a:ext cx="218724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lời gọi đệ quy phải ở cuối</a:t>
            </a:r>
            <a:endParaRPr lang="en-US" sz="1050" dirty="0"/>
          </a:p>
        </p:txBody>
      </p:sp>
      <p:sp>
        <p:nvSpPr>
          <p:cNvPr id="11" name="Shape 8"/>
          <p:cNvSpPr/>
          <p:nvPr/>
        </p:nvSpPr>
        <p:spPr>
          <a:xfrm>
            <a:off x="2863901" y="1737360"/>
            <a:ext cx="2187245" cy="292608"/>
          </a:xfrm>
          <a:prstGeom prst="roundRect">
            <a:avLst>
              <a:gd name="adj" fmla="val 50000"/>
            </a:avLst>
          </a:prstGeom>
          <a:solidFill>
            <a:srgbClr val="3A2A78"/>
          </a:solidFill>
        </p:spPr>
      </p:sp>
      <p:sp>
        <p:nvSpPr>
          <p:cNvPr id="12" name="Text 9"/>
          <p:cNvSpPr/>
          <p:nvPr/>
        </p:nvSpPr>
        <p:spPr>
          <a:xfrm>
            <a:off x="2863901" y="1737360"/>
            <a:ext cx="2187245"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compiler tối ưu thành loop</a:t>
            </a:r>
            <a:endParaRPr lang="en-US" sz="1050" dirty="0"/>
          </a:p>
        </p:txBody>
      </p:sp>
      <p:sp>
        <p:nvSpPr>
          <p:cNvPr id="13" name="Shape 10"/>
          <p:cNvSpPr/>
          <p:nvPr/>
        </p:nvSpPr>
        <p:spPr>
          <a:xfrm>
            <a:off x="5179162" y="1737360"/>
            <a:ext cx="2037283" cy="292608"/>
          </a:xfrm>
          <a:prstGeom prst="roundRect">
            <a:avLst>
              <a:gd name="adj" fmla="val 50000"/>
            </a:avLst>
          </a:prstGeom>
          <a:solidFill>
            <a:srgbClr val="3A2A78"/>
          </a:solidFill>
        </p:spPr>
      </p:sp>
      <p:sp>
        <p:nvSpPr>
          <p:cNvPr id="14" name="Text 11"/>
          <p:cNvSpPr/>
          <p:nvPr/>
        </p:nvSpPr>
        <p:spPr>
          <a:xfrm>
            <a:off x="5179162" y="1737360"/>
            <a:ext cx="2037283"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tránh StackOverflowError</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TailRecursion.kt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700" dirty="0"/>
          </a:p>
        </p:txBody>
      </p:sp>
      <p:sp>
        <p:nvSpPr>
          <p:cNvPr id="21" name="Text 18"/>
          <p:cNvSpPr/>
          <p:nvPr/>
        </p:nvSpPr>
        <p:spPr>
          <a:xfrm>
            <a:off x="1170305" y="2578735"/>
            <a:ext cx="10326370" cy="2124710"/>
          </a:xfrm>
          <a:prstGeom prst="rect">
            <a:avLst/>
          </a:prstGeom>
          <a:noFill/>
        </p:spPr>
        <p:txBody>
          <a:bodyPr wrap="square" lIns="0" tIns="0" rIns="0" bIns="0" rtlCol="0" anchor="t"/>
          <a:lstStyle/>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tailrec</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factorial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Long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acc</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Long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1):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Long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&lt;= 1)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acc</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else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factorial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- 1,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acc</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factorial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factorial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(20))</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44</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Text 2"/>
          <p:cNvSpPr/>
          <p:nvPr/>
        </p:nvSpPr>
        <p:spPr>
          <a:xfrm>
            <a:off x="548640" y="1965960"/>
            <a:ext cx="4572000" cy="2011680"/>
          </a:xfrm>
          <a:prstGeom prst="rect">
            <a:avLst/>
          </a:prstGeom>
          <a:noFill/>
        </p:spPr>
        <p:txBody>
          <a:bodyPr wrap="square" lIns="0" tIns="0" rIns="0" bIns="0" rtlCol="0" anchor="ctr"/>
          <a:lstStyle/>
          <a:p>
            <a:pPr marL="0" indent="0">
              <a:buNone/>
            </a:pPr>
            <a:r>
              <a:rPr lang="en-US" sz="13000" b="1" dirty="0">
                <a:solidFill>
                  <a:srgbClr val="4A2F94"/>
                </a:solidFill>
                <a:latin typeface="Calibri" panose="020F0502020204030204" pitchFamily="34" charset="0"/>
                <a:ea typeface="Calibri" panose="020F0502020204030204" pitchFamily="34" charset="-122"/>
                <a:cs typeface="Calibri" panose="020F0502020204030204" pitchFamily="34" charset="-120"/>
              </a:rPr>
              <a:t>D</a:t>
            </a:r>
            <a:endParaRPr lang="en-US" sz="13000" dirty="0"/>
          </a:p>
        </p:txBody>
      </p:sp>
      <p:sp>
        <p:nvSpPr>
          <p:cNvPr id="5" name="Shape 3"/>
          <p:cNvSpPr/>
          <p:nvPr/>
        </p:nvSpPr>
        <p:spPr>
          <a:xfrm>
            <a:off x="594360" y="4160520"/>
            <a:ext cx="658368" cy="658368"/>
          </a:xfrm>
          <a:prstGeom prst="ellipse">
            <a:avLst/>
          </a:prstGeom>
          <a:solidFill>
            <a:srgbClr val="F5890B"/>
          </a:solidFill>
        </p:spPr>
      </p:sp>
      <p:pic>
        <p:nvPicPr>
          <p:cNvPr id="6" name="Image 0" descr="/home/claude/kotlin_slides/icons/sliders.png"/>
          <p:cNvPicPr>
            <a:picLocks noChangeAspect="1"/>
          </p:cNvPicPr>
          <p:nvPr/>
        </p:nvPicPr>
        <p:blipFill>
          <a:blip r:embed="rId1"/>
          <a:stretch>
            <a:fillRect/>
          </a:stretch>
        </p:blipFill>
        <p:spPr>
          <a:xfrm>
            <a:off x="752368" y="4318528"/>
            <a:ext cx="342351" cy="342351"/>
          </a:xfrm>
          <a:prstGeom prst="rect">
            <a:avLst/>
          </a:prstGeom>
        </p:spPr>
      </p:pic>
      <p:sp>
        <p:nvSpPr>
          <p:cNvPr id="7" name="Text 4"/>
          <p:cNvSpPr/>
          <p:nvPr/>
        </p:nvSpPr>
        <p:spPr>
          <a:xfrm>
            <a:off x="1463040" y="4114800"/>
            <a:ext cx="8686800" cy="777240"/>
          </a:xfrm>
          <a:prstGeom prst="rect">
            <a:avLst/>
          </a:prstGeom>
          <a:noFill/>
        </p:spPr>
        <p:txBody>
          <a:bodyPr wrap="square" lIns="0" tIns="0" rIns="0" bIns="0" rtlCol="0" anchor="ctr"/>
          <a:lstStyle/>
          <a:p>
            <a:pPr marL="0" indent="0">
              <a:buNone/>
            </a:pPr>
            <a:r>
              <a:rPr lang="en-US" sz="3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Nâng cao khác</a:t>
            </a:r>
            <a:endParaRPr lang="en-US" sz="3200" dirty="0"/>
          </a:p>
        </p:txBody>
      </p:sp>
      <p:sp>
        <p:nvSpPr>
          <p:cNvPr id="8" name="Text 5"/>
          <p:cNvSpPr/>
          <p:nvPr/>
        </p:nvSpPr>
        <p:spPr>
          <a:xfrm>
            <a:off x="548640" y="4983480"/>
            <a:ext cx="10241280" cy="640080"/>
          </a:xfrm>
          <a:prstGeom prst="rect">
            <a:avLst/>
          </a:prstGeom>
          <a:noFill/>
        </p:spPr>
        <p:txBody>
          <a:bodyPr wrap="square" lIns="0" tIns="0" rIns="0" bIns="0" rtlCol="0" anchor="ctr"/>
          <a:lstStyle/>
          <a:p>
            <a:pPr marL="0" indent="0">
              <a:lnSpc>
                <a:spcPct val="120000"/>
              </a:lnSpc>
              <a:buNone/>
            </a:pPr>
            <a:r>
              <a:rPr lang="en-US" sz="1350" dirty="0">
                <a:solidFill>
                  <a:srgbClr val="CADCFC"/>
                </a:solidFill>
                <a:latin typeface="Calibri" panose="020F0502020204030204" pitchFamily="34" charset="0"/>
                <a:ea typeface="Calibri" panose="020F0502020204030204" pitchFamily="34" charset="-122"/>
                <a:cs typeface="Calibri" panose="020F0502020204030204" pitchFamily="34" charset="-120"/>
              </a:rPr>
              <a:t>Operator overloading · Delegation (func &amp; property) · Generic</a:t>
            </a:r>
            <a:endParaRPr lang="en-US" sz="1350" dirty="0"/>
          </a:p>
        </p:txBody>
      </p:sp>
      <p:sp>
        <p:nvSpPr>
          <p:cNvPr id="9" name="Text 6"/>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10" name="Text 7"/>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46</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sliders.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D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Operator overloading</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Kotlin cho phép định nghĩa lại ý nghĩa của các toán tử (+, -, ==, []...) cho kiểu dữ liệu tự tạo bằng từ khoá operator, giúp code viết tự nhiên hơn — a + b thay vì a.plus(b).</a:t>
            </a:r>
            <a:endParaRPr lang="en-US" sz="1200" dirty="0"/>
          </a:p>
        </p:txBody>
      </p:sp>
      <p:sp>
        <p:nvSpPr>
          <p:cNvPr id="9" name="Shape 6"/>
          <p:cNvSpPr/>
          <p:nvPr/>
        </p:nvSpPr>
        <p:spPr>
          <a:xfrm>
            <a:off x="548640" y="1737360"/>
            <a:ext cx="2262226" cy="292608"/>
          </a:xfrm>
          <a:prstGeom prst="roundRect">
            <a:avLst>
              <a:gd name="adj" fmla="val 50000"/>
            </a:avLst>
          </a:prstGeom>
          <a:solidFill>
            <a:srgbClr val="3A2A78"/>
          </a:solidFill>
        </p:spPr>
      </p:sp>
      <p:sp>
        <p:nvSpPr>
          <p:cNvPr id="10" name="Text 7"/>
          <p:cNvSpPr/>
          <p:nvPr/>
        </p:nvSpPr>
        <p:spPr>
          <a:xfrm>
            <a:off x="548640" y="1737360"/>
            <a:ext cx="2262226"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operator fun plus/minus/...</a:t>
            </a:r>
            <a:endParaRPr lang="en-US" sz="1050" dirty="0"/>
          </a:p>
        </p:txBody>
      </p:sp>
      <p:sp>
        <p:nvSpPr>
          <p:cNvPr id="11" name="Shape 8"/>
          <p:cNvSpPr/>
          <p:nvPr/>
        </p:nvSpPr>
        <p:spPr>
          <a:xfrm>
            <a:off x="2938882" y="1737360"/>
            <a:ext cx="2037283" cy="292608"/>
          </a:xfrm>
          <a:prstGeom prst="roundRect">
            <a:avLst>
              <a:gd name="adj" fmla="val 50000"/>
            </a:avLst>
          </a:prstGeom>
          <a:solidFill>
            <a:srgbClr val="3A2A78"/>
          </a:solidFill>
        </p:spPr>
      </p:sp>
      <p:sp>
        <p:nvSpPr>
          <p:cNvPr id="12" name="Text 9"/>
          <p:cNvSpPr/>
          <p:nvPr/>
        </p:nvSpPr>
        <p:spPr>
          <a:xfrm>
            <a:off x="2938882" y="1737360"/>
            <a:ext cx="2037283"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a + b thay cho a.plus(b)</a:t>
            </a:r>
            <a:endParaRPr lang="en-US" sz="1050" dirty="0"/>
          </a:p>
        </p:txBody>
      </p:sp>
      <p:sp>
        <p:nvSpPr>
          <p:cNvPr id="13" name="Shape 10"/>
          <p:cNvSpPr/>
          <p:nvPr/>
        </p:nvSpPr>
        <p:spPr>
          <a:xfrm>
            <a:off x="5104181" y="1737360"/>
            <a:ext cx="2562149" cy="292608"/>
          </a:xfrm>
          <a:prstGeom prst="roundRect">
            <a:avLst>
              <a:gd name="adj" fmla="val 50000"/>
            </a:avLst>
          </a:prstGeom>
          <a:solidFill>
            <a:srgbClr val="3A2A78"/>
          </a:solidFill>
        </p:spPr>
      </p:sp>
      <p:sp>
        <p:nvSpPr>
          <p:cNvPr id="14" name="Text 11"/>
          <p:cNvSpPr/>
          <p:nvPr/>
        </p:nvSpPr>
        <p:spPr>
          <a:xfrm>
            <a:off x="5104181" y="1737360"/>
            <a:ext cx="2562149"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tên hàm theo quy ước của Kotlin</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OperatorOverloading.kt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700" dirty="0"/>
          </a:p>
          <a:p>
            <a:pPr marL="0" indent="0" algn="r">
              <a:lnSpc>
                <a:spcPct val="115000"/>
              </a:lnSpc>
              <a:buNone/>
            </a:pPr>
            <a:r>
              <a:rPr lang="en-US" sz="17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7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o1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OperatorOverloading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"ABC"</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o2</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OperatorOverloading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"XYZ"</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o1</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o2</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result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a:p>
            <a:pPr marL="0" indent="0">
              <a:lnSpc>
                <a:spcPct val="115000"/>
              </a:lnSpc>
              <a:buNone/>
            </a:pP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data</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OperatorOverloading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operator</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plus</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7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OperatorOverloading</a:t>
            </a: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7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"${this.name} and ${p.name}"</a:t>
            </a:r>
            <a:endParaRPr lang="en-US" sz="1700" dirty="0"/>
          </a:p>
          <a:p>
            <a:pPr marL="0" indent="0">
              <a:lnSpc>
                <a:spcPct val="115000"/>
              </a:lnSpc>
              <a:buNone/>
            </a:pPr>
            <a:r>
              <a:rPr lang="en-US" sz="17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700" dirty="0"/>
          </a:p>
        </p:txBody>
      </p:sp>
      <p:sp>
        <p:nvSpPr>
          <p:cNvPr id="22" name="Text 19"/>
          <p:cNvSpPr/>
          <p:nvPr/>
        </p:nvSpPr>
        <p:spPr>
          <a:xfrm>
            <a:off x="694944" y="6080760"/>
            <a:ext cx="10801807" cy="237744"/>
          </a:xfrm>
          <a:prstGeom prst="rect">
            <a:avLst/>
          </a:prstGeom>
          <a:noFill/>
        </p:spPr>
        <p:txBody>
          <a:bodyPr wrap="square" lIns="0" tIns="0" rIns="0" bIns="0" rtlCol="0" anchor="ctr"/>
          <a:lstStyle/>
          <a:p>
            <a:pPr marL="0" indent="0" algn="l">
              <a:buNone/>
            </a:pPr>
            <a:r>
              <a:rPr lang="en-US" sz="950" i="1" dirty="0">
                <a:solidFill>
                  <a:srgbClr val="9089B0"/>
                </a:solidFill>
                <a:latin typeface="Calibri" panose="020F0502020204030204" pitchFamily="34" charset="0"/>
                <a:ea typeface="Calibri" panose="020F0502020204030204" pitchFamily="34" charset="-122"/>
                <a:cs typeface="Calibri" panose="020F0502020204030204" pitchFamily="34" charset="-120"/>
              </a:rPr>
              <a:t>Nguồn: OperatorOverloading.kt — operator fun plus(p: OperatorOverloading).</a:t>
            </a:r>
            <a:endParaRPr lang="en-US" sz="95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47</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E1440"/>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384048"/>
            <a:ext cx="457200" cy="457200"/>
          </a:xfrm>
          <a:prstGeom prst="ellipse">
            <a:avLst/>
          </a:prstGeom>
          <a:solidFill>
            <a:srgbClr val="F5890B"/>
          </a:solidFill>
        </p:spPr>
      </p:sp>
      <p:pic>
        <p:nvPicPr>
          <p:cNvPr id="5" name="Image 0" descr="/home/claude/kotlin_slides/icons/package.png"/>
          <p:cNvPicPr>
            <a:picLocks noChangeAspect="1"/>
          </p:cNvPicPr>
          <p:nvPr/>
        </p:nvPicPr>
        <p:blipFill>
          <a:blip r:embed="rId1"/>
          <a:stretch>
            <a:fillRect/>
          </a:stretch>
        </p:blipFill>
        <p:spPr>
          <a:xfrm>
            <a:off x="658368" y="493776"/>
            <a:ext cx="237744" cy="237744"/>
          </a:xfrm>
          <a:prstGeom prst="rect">
            <a:avLst/>
          </a:prstGeom>
        </p:spPr>
      </p:pic>
      <p:sp>
        <p:nvSpPr>
          <p:cNvPr id="6" name="Text 3"/>
          <p:cNvSpPr/>
          <p:nvPr/>
        </p:nvSpPr>
        <p:spPr>
          <a:xfrm>
            <a:off x="1143000" y="384048"/>
            <a:ext cx="7315200" cy="256032"/>
          </a:xfrm>
          <a:prstGeom prst="rect">
            <a:avLst/>
          </a:prstGeom>
          <a:noFill/>
        </p:spPr>
        <p:txBody>
          <a:bodyPr wrap="square" lIns="0" tIns="0" rIns="0" bIns="0" rtlCol="0" anchor="ctr"/>
          <a:lstStyle/>
          <a:p>
            <a:pPr marL="0" indent="0">
              <a:buNone/>
            </a:pPr>
            <a:r>
              <a:rPr lang="en-US" sz="1050" b="1" kern="0" spc="150" dirty="0">
                <a:solidFill>
                  <a:srgbClr val="F5890B"/>
                </a:solidFill>
                <a:latin typeface="Calibri" panose="020F0502020204030204" pitchFamily="34" charset="0"/>
                <a:ea typeface="Calibri" panose="020F0502020204030204" pitchFamily="34" charset="-122"/>
                <a:cs typeface="Calibri" panose="020F0502020204030204" pitchFamily="34" charset="-120"/>
              </a:rPr>
              <a:t>NHÓM D · KOTLIN NÂNG CAO</a:t>
            </a:r>
            <a:endParaRPr lang="en-US" sz="1050" dirty="0"/>
          </a:p>
        </p:txBody>
      </p:sp>
      <p:sp>
        <p:nvSpPr>
          <p:cNvPr id="7" name="Text 4"/>
          <p:cNvSpPr/>
          <p:nvPr/>
        </p:nvSpPr>
        <p:spPr>
          <a:xfrm>
            <a:off x="1143000" y="621792"/>
            <a:ext cx="9692640" cy="457200"/>
          </a:xfrm>
          <a:prstGeom prst="rect">
            <a:avLst/>
          </a:prstGeom>
          <a:noFill/>
        </p:spPr>
        <p:txBody>
          <a:bodyPr wrap="square" lIns="0" tIns="0" rIns="0" bIns="0" rtlCol="0" anchor="ctr"/>
          <a:lstStyle/>
          <a:p>
            <a:pPr marL="0" indent="0">
              <a:buNone/>
            </a:pPr>
            <a:r>
              <a:rPr lang="en-US" sz="2300" b="1" dirty="0">
                <a:solidFill>
                  <a:srgbClr val="FFFFFF"/>
                </a:solidFill>
                <a:latin typeface="Calibri" panose="020F0502020204030204" pitchFamily="34" charset="0"/>
                <a:ea typeface="Calibri" panose="020F0502020204030204" pitchFamily="34" charset="-122"/>
                <a:cs typeface="Calibri" panose="020F0502020204030204" pitchFamily="34" charset="-120"/>
              </a:rPr>
              <a:t>Generic</a:t>
            </a:r>
            <a:endParaRPr lang="en-US" sz="2300" dirty="0"/>
          </a:p>
        </p:txBody>
      </p:sp>
      <p:sp>
        <p:nvSpPr>
          <p:cNvPr id="8" name="Text 5"/>
          <p:cNvSpPr/>
          <p:nvPr/>
        </p:nvSpPr>
        <p:spPr>
          <a:xfrm>
            <a:off x="548640" y="1133856"/>
            <a:ext cx="11094415" cy="566928"/>
          </a:xfrm>
          <a:prstGeom prst="rect">
            <a:avLst/>
          </a:prstGeom>
          <a:noFill/>
        </p:spPr>
        <p:txBody>
          <a:bodyPr wrap="square" lIns="0" tIns="0" rIns="0" bIns="0" rtlCol="0" anchor="ctr"/>
          <a:lstStyle/>
          <a:p>
            <a:pPr marL="0" indent="0">
              <a:lnSpc>
                <a:spcPct val="118000"/>
              </a:lnSpc>
              <a:buNone/>
            </a:pPr>
            <a:r>
              <a:rPr lang="en-US" sz="1200" dirty="0">
                <a:solidFill>
                  <a:srgbClr val="CADCFC"/>
                </a:solidFill>
                <a:latin typeface="Calibri" panose="020F0502020204030204" pitchFamily="34" charset="0"/>
                <a:ea typeface="Calibri" panose="020F0502020204030204" pitchFamily="34" charset="-122"/>
                <a:cs typeface="Calibri" panose="020F0502020204030204" pitchFamily="34" charset="-120"/>
              </a:rPr>
              <a:t>Generic cho phép viết class/hàm dùng chung cho nhiều kiểu dữ liệu mà vẫn giữ an toàn kiểu tại compile-time, tránh phải ép kiểu thủ công. Có thể giới hạn kiểu bằng cú pháp &lt;T : Bound&gt;.</a:t>
            </a:r>
            <a:endParaRPr lang="en-US" sz="1200" dirty="0"/>
          </a:p>
        </p:txBody>
      </p:sp>
      <p:sp>
        <p:nvSpPr>
          <p:cNvPr id="9" name="Shape 6"/>
          <p:cNvSpPr/>
          <p:nvPr/>
        </p:nvSpPr>
        <p:spPr>
          <a:xfrm>
            <a:off x="548640" y="1737360"/>
            <a:ext cx="1587398" cy="292608"/>
          </a:xfrm>
          <a:prstGeom prst="roundRect">
            <a:avLst>
              <a:gd name="adj" fmla="val 50000"/>
            </a:avLst>
          </a:prstGeom>
          <a:solidFill>
            <a:srgbClr val="3A2A78"/>
          </a:solidFill>
        </p:spPr>
      </p:sp>
      <p:sp>
        <p:nvSpPr>
          <p:cNvPr id="10" name="Text 7"/>
          <p:cNvSpPr/>
          <p:nvPr/>
        </p:nvSpPr>
        <p:spPr>
          <a:xfrm>
            <a:off x="548640" y="1737360"/>
            <a:ext cx="1587398"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&lt;T&gt; kiểu tổng quát</a:t>
            </a:r>
            <a:endParaRPr lang="en-US" sz="1050" dirty="0"/>
          </a:p>
        </p:txBody>
      </p:sp>
      <p:sp>
        <p:nvSpPr>
          <p:cNvPr id="11" name="Shape 8"/>
          <p:cNvSpPr/>
          <p:nvPr/>
        </p:nvSpPr>
        <p:spPr>
          <a:xfrm>
            <a:off x="2264054" y="1737360"/>
            <a:ext cx="2112264" cy="292608"/>
          </a:xfrm>
          <a:prstGeom prst="roundRect">
            <a:avLst>
              <a:gd name="adj" fmla="val 50000"/>
            </a:avLst>
          </a:prstGeom>
          <a:solidFill>
            <a:srgbClr val="3A2A78"/>
          </a:solidFill>
        </p:spPr>
      </p:sp>
      <p:sp>
        <p:nvSpPr>
          <p:cNvPr id="12" name="Text 9"/>
          <p:cNvSpPr/>
          <p:nvPr/>
        </p:nvSpPr>
        <p:spPr>
          <a:xfrm>
            <a:off x="2264054" y="1737360"/>
            <a:ext cx="2112264"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an toàn kiểu compile-time</a:t>
            </a:r>
            <a:endParaRPr lang="en-US" sz="1050" dirty="0"/>
          </a:p>
        </p:txBody>
      </p:sp>
      <p:sp>
        <p:nvSpPr>
          <p:cNvPr id="13" name="Shape 10"/>
          <p:cNvSpPr/>
          <p:nvPr/>
        </p:nvSpPr>
        <p:spPr>
          <a:xfrm>
            <a:off x="4504334" y="1737360"/>
            <a:ext cx="1962302" cy="292608"/>
          </a:xfrm>
          <a:prstGeom prst="roundRect">
            <a:avLst>
              <a:gd name="adj" fmla="val 50000"/>
            </a:avLst>
          </a:prstGeom>
          <a:solidFill>
            <a:srgbClr val="3A2A78"/>
          </a:solidFill>
        </p:spPr>
      </p:sp>
      <p:sp>
        <p:nvSpPr>
          <p:cNvPr id="14" name="Text 11"/>
          <p:cNvSpPr/>
          <p:nvPr/>
        </p:nvSpPr>
        <p:spPr>
          <a:xfrm>
            <a:off x="4504334" y="1737360"/>
            <a:ext cx="1962302" cy="292608"/>
          </a:xfrm>
          <a:prstGeom prst="rect">
            <a:avLst/>
          </a:prstGeom>
          <a:noFill/>
        </p:spPr>
        <p:txBody>
          <a:bodyPr wrap="square" lIns="0" tIns="0" rIns="0" bIns="0" rtlCol="0" anchor="ctr"/>
          <a:lstStyle/>
          <a:p>
            <a:pPr marL="0" indent="0" algn="ctr">
              <a:buNone/>
            </a:pPr>
            <a:r>
              <a:rPr lang="en-US" sz="1050" dirty="0">
                <a:solidFill>
                  <a:srgbClr val="CADCFC"/>
                </a:solidFill>
                <a:latin typeface="Calibri" panose="020F0502020204030204" pitchFamily="34" charset="0"/>
                <a:ea typeface="Calibri" panose="020F0502020204030204" pitchFamily="34" charset="-122"/>
                <a:cs typeface="Calibri" panose="020F0502020204030204" pitchFamily="34" charset="-120"/>
              </a:rPr>
              <a:t>giới hạn bằng T : Bound</a:t>
            </a:r>
            <a:endParaRPr lang="en-US" sz="1050" dirty="0"/>
          </a:p>
        </p:txBody>
      </p:sp>
      <p:sp>
        <p:nvSpPr>
          <p:cNvPr id="15" name="Shape 12"/>
          <p:cNvSpPr/>
          <p:nvPr/>
        </p:nvSpPr>
        <p:spPr>
          <a:xfrm>
            <a:off x="548640" y="2176272"/>
            <a:ext cx="11094415" cy="4178808"/>
          </a:xfrm>
          <a:prstGeom prst="roundRect">
            <a:avLst>
              <a:gd name="adj" fmla="val 1969"/>
            </a:avLst>
          </a:prstGeom>
          <a:solidFill>
            <a:srgbClr val="1E1440"/>
          </a:solidFill>
          <a:effectLst>
            <a:outerShdw blurRad="101600" dist="38100" dir="5400000" algn="bl" rotWithShape="0">
              <a:srgbClr val="1A1030">
                <a:alpha val="35000"/>
              </a:srgbClr>
            </a:outerShdw>
          </a:effectLst>
        </p:spPr>
      </p:sp>
      <p:sp>
        <p:nvSpPr>
          <p:cNvPr id="16" name="Shape 13"/>
          <p:cNvSpPr/>
          <p:nvPr/>
        </p:nvSpPr>
        <p:spPr>
          <a:xfrm>
            <a:off x="731520" y="2290572"/>
            <a:ext cx="82296" cy="82296"/>
          </a:xfrm>
          <a:prstGeom prst="ellipse">
            <a:avLst/>
          </a:prstGeom>
          <a:solidFill>
            <a:srgbClr val="FF6159"/>
          </a:solidFill>
        </p:spPr>
      </p:sp>
      <p:sp>
        <p:nvSpPr>
          <p:cNvPr id="17" name="Shape 14"/>
          <p:cNvSpPr/>
          <p:nvPr/>
        </p:nvSpPr>
        <p:spPr>
          <a:xfrm>
            <a:off x="914400" y="2290572"/>
            <a:ext cx="82296" cy="82296"/>
          </a:xfrm>
          <a:prstGeom prst="ellipse">
            <a:avLst/>
          </a:prstGeom>
          <a:solidFill>
            <a:srgbClr val="FFBD2E"/>
          </a:solidFill>
        </p:spPr>
      </p:sp>
      <p:sp>
        <p:nvSpPr>
          <p:cNvPr id="18" name="Shape 15"/>
          <p:cNvSpPr/>
          <p:nvPr/>
        </p:nvSpPr>
        <p:spPr>
          <a:xfrm>
            <a:off x="1097280" y="2290572"/>
            <a:ext cx="82296" cy="82296"/>
          </a:xfrm>
          <a:prstGeom prst="ellipse">
            <a:avLst/>
          </a:prstGeom>
          <a:solidFill>
            <a:srgbClr val="28C840"/>
          </a:solidFill>
        </p:spPr>
      </p:sp>
      <p:sp>
        <p:nvSpPr>
          <p:cNvPr id="19" name="Text 16"/>
          <p:cNvSpPr/>
          <p:nvPr/>
        </p:nvSpPr>
        <p:spPr>
          <a:xfrm>
            <a:off x="1325880" y="2176272"/>
            <a:ext cx="10134295" cy="310896"/>
          </a:xfrm>
          <a:prstGeom prst="rect">
            <a:avLst/>
          </a:prstGeom>
          <a:noFill/>
        </p:spPr>
        <p:txBody>
          <a:bodyPr wrap="square" lIns="0" tIns="0" rIns="0" bIns="0" rtlCol="0" anchor="ctr"/>
          <a:lstStyle/>
          <a:p>
            <a:pPr marL="0" indent="0" algn="l">
              <a:buNone/>
            </a:pPr>
            <a:r>
              <a:rPr lang="en-US" sz="1050"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Generic.kt</a:t>
            </a:r>
            <a:endParaRPr lang="en-US" sz="1050" dirty="0"/>
          </a:p>
        </p:txBody>
      </p:sp>
      <p:sp>
        <p:nvSpPr>
          <p:cNvPr id="20" name="Text 17"/>
          <p:cNvSpPr/>
          <p:nvPr/>
        </p:nvSpPr>
        <p:spPr>
          <a:xfrm>
            <a:off x="694944" y="2578608"/>
            <a:ext cx="365760" cy="3374136"/>
          </a:xfrm>
          <a:prstGeom prst="rect">
            <a:avLst/>
          </a:prstGeom>
          <a:noFill/>
        </p:spPr>
        <p:txBody>
          <a:bodyPr wrap="square" lIns="0" tIns="0" rIns="0" bIns="0" rtlCol="0" anchor="t"/>
          <a:lstStyle/>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2</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3</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4</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5</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6</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7</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8</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9</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400" dirty="0"/>
          </a:p>
          <a:p>
            <a:pPr marL="0" indent="0" algn="r">
              <a:lnSpc>
                <a:spcPct val="115000"/>
              </a:lnSpc>
              <a:buNone/>
            </a:pPr>
            <a:r>
              <a:rPr lang="en-US" sz="1400" dirty="0">
                <a:solidFill>
                  <a:srgbClr val="5B5285"/>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400" dirty="0"/>
          </a:p>
        </p:txBody>
      </p:sp>
      <p:sp>
        <p:nvSpPr>
          <p:cNvPr id="21" name="Text 18"/>
          <p:cNvSpPr/>
          <p:nvPr/>
        </p:nvSpPr>
        <p:spPr>
          <a:xfrm>
            <a:off x="1170432" y="2578608"/>
            <a:ext cx="10326319" cy="3374136"/>
          </a:xfrm>
          <a:prstGeom prst="rect">
            <a:avLst/>
          </a:prstGeom>
          <a:noFill/>
        </p:spPr>
        <p:txBody>
          <a:bodyPr wrap="square" lIns="0" tIns="0" rIns="0" bIns="0" rtlCol="0" anchor="t"/>
          <a:lstStyle/>
          <a:p>
            <a:pPr marL="0" indent="0">
              <a:lnSpc>
                <a:spcPct val="115000"/>
              </a:lnSpc>
              <a:buNone/>
            </a:pP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class</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Box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&lt;</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&gt;(</a:t>
            </a: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value</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"Box chứa: $value"</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nSpc>
                <a:spcPct val="115000"/>
              </a:lnSpc>
              <a:buNone/>
            </a:pPr>
            <a:r>
              <a:rPr lang="en-US" sz="1400" i="1" dirty="0">
                <a:solidFill>
                  <a:srgbClr val="9089B0"/>
                </a:solidFill>
                <a:latin typeface="Courier New" panose="02070309020205020404" pitchFamily="34" charset="0"/>
                <a:ea typeface="Courier New" panose="02070309020205020404" pitchFamily="34" charset="-122"/>
                <a:cs typeface="Courier New" panose="02070309020205020404" pitchFamily="34" charset="-120"/>
              </a:rPr>
              <a:t>// Giới hạn kiểu: T phải so sánh được (Comparable)</a:t>
            </a:r>
            <a:endParaRPr lang="en-US" sz="1400" dirty="0"/>
          </a:p>
          <a:p>
            <a:pPr marL="0" indent="0">
              <a:lnSpc>
                <a:spcPct val="115000"/>
              </a:lnSpc>
              <a:buNone/>
            </a:pP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&lt;</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Comparable</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&lt;</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&gt;&gt;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if</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&gt;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else</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b</a:t>
            </a:r>
            <a:endParaRPr lang="en-US" sz="1400" dirty="0"/>
          </a:p>
          <a:p>
            <a:pPr marL="0" indent="0">
              <a:lnSpc>
                <a:spcPct val="115000"/>
              </a:lnSpc>
              <a:buNone/>
            </a:pP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fun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main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intBox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Box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FF9E42"/>
                </a:solidFill>
                <a:latin typeface="Courier New" panose="02070309020205020404" pitchFamily="34" charset="0"/>
                <a:ea typeface="Courier New" panose="02070309020205020404" pitchFamily="34" charset="-122"/>
                <a:cs typeface="Courier New" panose="02070309020205020404" pitchFamily="34" charset="-120"/>
              </a:rPr>
              <a:t>val</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stringBox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 </a:t>
            </a:r>
            <a:r>
              <a:rPr lang="en-US" sz="1400" dirty="0">
                <a:solidFill>
                  <a:srgbClr val="8FC6FF"/>
                </a:solidFill>
                <a:latin typeface="Courier New" panose="02070309020205020404" pitchFamily="34" charset="0"/>
                <a:ea typeface="Courier New" panose="02070309020205020404" pitchFamily="34" charset="-122"/>
                <a:cs typeface="Courier New" panose="02070309020205020404" pitchFamily="34" charset="-120"/>
              </a:rPr>
              <a:t>Box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intBox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stringBox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show</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(3, 7))</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println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max</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r>
              <a:rPr lang="en-US" sz="14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"Kotlin"</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7EE3B0"/>
                </a:solidFill>
                <a:latin typeface="Courier New" panose="02070309020205020404" pitchFamily="34" charset="0"/>
                <a:ea typeface="Courier New" panose="02070309020205020404" pitchFamily="34" charset="-122"/>
                <a:cs typeface="Courier New" panose="02070309020205020404" pitchFamily="34" charset="-120"/>
              </a:rPr>
              <a:t>"Java"</a:t>
            </a: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nSpc>
                <a:spcPct val="115000"/>
              </a:lnSpc>
              <a:buNone/>
            </a:pPr>
            <a:r>
              <a:rPr lang="en-US" sz="1400" dirty="0">
                <a:solidFill>
                  <a:srgbClr val="E8E3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p:txBody>
      </p:sp>
      <p:sp>
        <p:nvSpPr>
          <p:cNvPr id="23" name="Text 20"/>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C9C1EA"/>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24" name="Text 21"/>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C9C1EA"/>
                </a:solidFill>
                <a:latin typeface="Calibri" panose="020F0502020204030204" pitchFamily="34" charset="0"/>
                <a:ea typeface="Calibri" panose="020F0502020204030204" pitchFamily="34" charset="-122"/>
                <a:cs typeface="Calibri" panose="020F0502020204030204" pitchFamily="34" charset="-120"/>
              </a:rPr>
              <a:t>49</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TỔNG KẾT</a:t>
            </a:r>
            <a:endParaRPr lang="en-US" sz="1250" dirty="0"/>
          </a:p>
        </p:txBody>
      </p:sp>
      <p:sp>
        <p:nvSpPr>
          <p:cNvPr id="3" name="Text 1"/>
          <p:cNvSpPr/>
          <p:nvPr/>
        </p:nvSpPr>
        <p:spPr>
          <a:xfrm>
            <a:off x="548640" y="786384"/>
            <a:ext cx="10515600" cy="548640"/>
          </a:xfrm>
          <a:prstGeom prst="rect">
            <a:avLst/>
          </a:prstGeom>
          <a:noFill/>
        </p:spPr>
        <p:txBody>
          <a:bodyPr wrap="square" lIns="0" tIns="0" rIns="0" bIns="0" rtlCol="0" anchor="ctr"/>
          <a:lstStyle/>
          <a:p>
            <a:pPr marL="0" indent="0">
              <a:buNone/>
            </a:pPr>
            <a:r>
              <a:rPr lang="en-US" sz="2500" b="1" dirty="0">
                <a:solidFill>
                  <a:srgbClr val="241B3D"/>
                </a:solidFill>
                <a:latin typeface="Calibri" panose="020F0502020204030204" pitchFamily="34" charset="0"/>
                <a:ea typeface="Calibri" panose="020F0502020204030204" pitchFamily="34" charset="-122"/>
                <a:cs typeface="Calibri" panose="020F0502020204030204" pitchFamily="34" charset="-120"/>
              </a:rPr>
              <a:t>So sánh nhanh — Nhóm A &amp; B</a:t>
            </a:r>
            <a:endParaRPr lang="en-US" sz="2500" dirty="0"/>
          </a:p>
        </p:txBody>
      </p:sp>
      <p:graphicFrame>
        <p:nvGraphicFramePr>
          <p:cNvPr id="51" name="Table 0"/>
          <p:cNvGraphicFramePr>
            <a:graphicFrameLocks noGrp="1"/>
          </p:cNvGraphicFramePr>
          <p:nvPr/>
        </p:nvGraphicFramePr>
        <p:xfrm>
          <a:off x="548640" y="1371600"/>
          <a:ext cx="11094415" cy="4828032"/>
        </p:xfrm>
        <a:graphic>
          <a:graphicData uri="http://schemas.openxmlformats.org/drawingml/2006/table">
            <a:tbl>
              <a:tblPr/>
              <a:tblGrid>
                <a:gridCol w="2743200"/>
                <a:gridCol w="3291840"/>
                <a:gridCol w="5059375"/>
              </a:tblGrid>
              <a:tr h="402336">
                <a:tc>
                  <a:txBody>
                    <a:bodyPr/>
                    <a:lstStyle/>
                    <a:p>
                      <a:pPr marL="0" indent="0" algn="l">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Khái niệm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c>
                  <a:txBody>
                    <a:bodyPr/>
                    <a:lstStyle/>
                    <a:p>
                      <a:pPr marL="0" indent="0" algn="l">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Từ khoá / cú pháp chính</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c>
                  <a:txBody>
                    <a:bodyPr/>
                    <a:lstStyle/>
                    <a:p>
                      <a:pPr marL="0" indent="0" algn="l">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Khi nào dùng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Object &amp; Companion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object · companion object</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Singleton, thành viên "tĩnh"</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Abstract class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abstract class/fun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Khuôn chung, ép lớp con override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Interface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interface, đa kế thừa</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Định nghĩa hợp đồng dùng chung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Inheritance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open · ':' · override · super</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Tái sử dụng &amp; mở rộng lớp cha</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Hiding constructor</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private constructor + factory</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Kiểm soát chặt việc khởi tạo</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Sealed classes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sealed class, when đủ case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Tập kết quả/trạng thái giới hạn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Null safety</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 · ?: · !!</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Tránh NullPointerException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Type casting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is · as · as?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Kiểm tra &amp; ép kiểu an toàn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Deconstructing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componentN(), val (a, b) =</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Tách nhiều giá trị 1 dòng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Late initialization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lateinit var</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Property gán trễ, không nullable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Type aliases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typealias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Đặt tên gọn cho kiểu phức tạp</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6" name="Text 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50</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38912"/>
            <a:ext cx="9601200" cy="329184"/>
          </a:xfrm>
          <a:prstGeom prst="rect">
            <a:avLst/>
          </a:prstGeom>
          <a:noFill/>
        </p:spPr>
        <p:txBody>
          <a:bodyPr wrap="square" lIns="0" tIns="0" rIns="0" bIns="0" rtlCol="0" anchor="ctr"/>
          <a:lstStyle/>
          <a:p>
            <a:pPr marL="0" indent="0">
              <a:buNone/>
            </a:pPr>
            <a:r>
              <a:rPr lang="en-US" sz="1250" b="1" kern="0" spc="150" dirty="0">
                <a:solidFill>
                  <a:srgbClr val="C65D00"/>
                </a:solidFill>
                <a:latin typeface="Calibri" panose="020F0502020204030204" pitchFamily="34" charset="0"/>
                <a:ea typeface="Calibri" panose="020F0502020204030204" pitchFamily="34" charset="-122"/>
                <a:cs typeface="Calibri" panose="020F0502020204030204" pitchFamily="34" charset="-120"/>
              </a:rPr>
              <a:t>TỔNG KẾT</a:t>
            </a:r>
            <a:endParaRPr lang="en-US" sz="1250" dirty="0"/>
          </a:p>
        </p:txBody>
      </p:sp>
      <p:sp>
        <p:nvSpPr>
          <p:cNvPr id="3" name="Text 1"/>
          <p:cNvSpPr/>
          <p:nvPr/>
        </p:nvSpPr>
        <p:spPr>
          <a:xfrm>
            <a:off x="548640" y="786384"/>
            <a:ext cx="10515600" cy="548640"/>
          </a:xfrm>
          <a:prstGeom prst="rect">
            <a:avLst/>
          </a:prstGeom>
          <a:noFill/>
        </p:spPr>
        <p:txBody>
          <a:bodyPr wrap="square" lIns="0" tIns="0" rIns="0" bIns="0" rtlCol="0" anchor="ctr"/>
          <a:lstStyle/>
          <a:p>
            <a:pPr marL="0" indent="0">
              <a:buNone/>
            </a:pPr>
            <a:r>
              <a:rPr lang="en-US" sz="2500" b="1" dirty="0">
                <a:solidFill>
                  <a:srgbClr val="241B3D"/>
                </a:solidFill>
                <a:latin typeface="Calibri" panose="020F0502020204030204" pitchFamily="34" charset="0"/>
                <a:ea typeface="Calibri" panose="020F0502020204030204" pitchFamily="34" charset="-122"/>
                <a:cs typeface="Calibri" panose="020F0502020204030204" pitchFamily="34" charset="-120"/>
              </a:rPr>
              <a:t>So sánh nhanh — Nhóm C &amp; D</a:t>
            </a:r>
            <a:endParaRPr lang="en-US" sz="2500" dirty="0"/>
          </a:p>
        </p:txBody>
      </p:sp>
      <p:graphicFrame>
        <p:nvGraphicFramePr>
          <p:cNvPr id="52" name="Table 0"/>
          <p:cNvGraphicFramePr>
            <a:graphicFrameLocks noGrp="1"/>
          </p:cNvGraphicFramePr>
          <p:nvPr/>
        </p:nvGraphicFramePr>
        <p:xfrm>
          <a:off x="548640" y="1371600"/>
          <a:ext cx="11094415" cy="4828032"/>
        </p:xfrm>
        <a:graphic>
          <a:graphicData uri="http://schemas.openxmlformats.org/drawingml/2006/table">
            <a:tbl>
              <a:tblPr/>
              <a:tblGrid>
                <a:gridCol w="2743200"/>
                <a:gridCol w="3291840"/>
                <a:gridCol w="5059375"/>
              </a:tblGrid>
              <a:tr h="402336">
                <a:tc>
                  <a:txBody>
                    <a:bodyPr/>
                    <a:lstStyle/>
                    <a:p>
                      <a:pPr marL="0" indent="0" algn="l">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Khái niệm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c>
                  <a:txBody>
                    <a:bodyPr/>
                    <a:lstStyle/>
                    <a:p>
                      <a:pPr marL="0" indent="0" algn="l">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Từ khoá / cú pháp chính</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c>
                  <a:txBody>
                    <a:bodyPr/>
                    <a:lstStyle/>
                    <a:p>
                      <a:pPr marL="0" indent="0" algn="l">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Khi nào dùng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2D1B69"/>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Higher-order function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(A, B) -&gt; C làm tham số</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Truyền hành vi như dữ liệu</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Lambda expression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 x -&gt; ... }, trailing lambda, it</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Viết hàm không tên gọn gàng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Extension function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fun Type.name()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Thêm hàm cho class có sẵn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Infix function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infix fun, gọi kiểu a op b</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Cú pháp tự nhiên, dễ đọc</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Inline function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inline fun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Giảm overhead khi dùng lambda</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Return &amp; local return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return · return@label</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Kiểm soát điểm thoát trong lambda</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Tail recursion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tailrec fun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Đệ quy sâu, tránh StackOverflow</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Lambda extension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Type.() -&gt; R</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Xây dựng DSL, builder pattern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Operator overloading</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operator fun plus/minus/...</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Toán tử tự nhiên cho kiểu tự tạo</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Delegation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by · by lazy</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Uỷ quyền hàm/property, hết boilerplate</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4F1FC"/>
                    </a:solidFill>
                  </a:tcPr>
                </a:tc>
              </a:tr>
              <a:tr h="402336">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Generic</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&lt;T&gt;, &lt;T : Bound&gt;</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41B3D"/>
                          </a:solidFill>
                          <a:latin typeface="Calibri" panose="020F0502020204030204" pitchFamily="34" charset="0"/>
                          <a:ea typeface="Calibri" panose="020F0502020204030204" pitchFamily="34" charset="-122"/>
                          <a:cs typeface="Calibri" panose="020F0502020204030204" pitchFamily="34" charset="-120"/>
                        </a:rPr>
                        <a:t>Code dùng chung nhiều kiểu, an toàn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101600" marR="101600" marT="50800" marB="50800" anchor="ctr">
                    <a:lnL w="9525" cap="flat" cmpd="sng" algn="ctr">
                      <a:solidFill>
                        <a:srgbClr val="E4DDF7"/>
                      </a:solidFill>
                      <a:prstDash val="solid"/>
                      <a:round/>
                      <a:headEnd type="none" w="med" len="med"/>
                      <a:tailEnd type="none" w="med" len="med"/>
                    </a:lnL>
                    <a:lnR w="9525" cap="flat" cmpd="sng" algn="ctr">
                      <a:solidFill>
                        <a:srgbClr val="E4DDF7"/>
                      </a:solidFill>
                      <a:prstDash val="solid"/>
                      <a:round/>
                      <a:headEnd type="none" w="med" len="med"/>
                      <a:tailEnd type="none" w="med" len="med"/>
                    </a:lnR>
                    <a:lnT w="9525" cap="flat" cmpd="sng" algn="ctr">
                      <a:solidFill>
                        <a:srgbClr val="E4DDF7"/>
                      </a:solidFill>
                      <a:prstDash val="solid"/>
                      <a:round/>
                      <a:headEnd type="none" w="med" len="med"/>
                      <a:tailEnd type="none" w="med" len="med"/>
                    </a:lnT>
                    <a:lnB w="9525" cap="flat" cmpd="sng" algn="ctr">
                      <a:solidFill>
                        <a:srgbClr val="E4DDF7"/>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92240"/>
            <a:ext cx="6400800" cy="256032"/>
          </a:xfrm>
          <a:prstGeom prst="rect">
            <a:avLst/>
          </a:prstGeom>
          <a:noFill/>
        </p:spPr>
        <p:txBody>
          <a:bodyPr wrap="square" lIns="0" tIns="0" rIns="0" bIns="0" rtlCol="0" anchor="ctr"/>
          <a:lstStyle/>
          <a:p>
            <a:pPr marL="0" indent="0">
              <a:buNone/>
            </a:pPr>
            <a:r>
              <a:rPr lang="en-US" sz="900" kern="0" spc="100" dirty="0">
                <a:solidFill>
                  <a:srgbClr val="6B6483"/>
                </a:solidFill>
                <a:latin typeface="Calibri" panose="020F0502020204030204" pitchFamily="34" charset="0"/>
                <a:ea typeface="Calibri" panose="020F0502020204030204" pitchFamily="34" charset="-122"/>
                <a:cs typeface="Calibri" panose="020F0502020204030204" pitchFamily="34" charset="-120"/>
              </a:rPr>
              <a:t>KOTLIN FUNDAMENTALS  ·  LUTECH</a:t>
            </a:r>
            <a:endParaRPr lang="en-US" sz="900" dirty="0"/>
          </a:p>
        </p:txBody>
      </p:sp>
      <p:sp>
        <p:nvSpPr>
          <p:cNvPr id="6" name="Text 3"/>
          <p:cNvSpPr/>
          <p:nvPr/>
        </p:nvSpPr>
        <p:spPr>
          <a:xfrm>
            <a:off x="11094415" y="6492240"/>
            <a:ext cx="548640" cy="256032"/>
          </a:xfrm>
          <a:prstGeom prst="rect">
            <a:avLst/>
          </a:prstGeom>
          <a:noFill/>
        </p:spPr>
        <p:txBody>
          <a:bodyPr wrap="square" lIns="0" tIns="0" rIns="0" bIns="0" rtlCol="0" anchor="ctr"/>
          <a:lstStyle/>
          <a:p>
            <a:pPr marL="0" indent="0" algn="r">
              <a:buNone/>
            </a:pPr>
            <a:r>
              <a:rPr lang="en-US" sz="900" dirty="0">
                <a:solidFill>
                  <a:srgbClr val="6B6483"/>
                </a:solidFill>
                <a:latin typeface="Calibri" panose="020F0502020204030204" pitchFamily="34" charset="0"/>
                <a:ea typeface="Calibri" panose="020F0502020204030204" pitchFamily="34" charset="-122"/>
                <a:cs typeface="Calibri" panose="020F0502020204030204" pitchFamily="34" charset="-120"/>
              </a:rPr>
              <a:t>51</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9082735" y="-1828800"/>
            <a:ext cx="5120640" cy="5120640"/>
          </a:xfrm>
          <a:prstGeom prst="ellipse">
            <a:avLst/>
          </a:prstGeom>
          <a:solidFill>
            <a:srgbClr val="4A2F94">
              <a:alpha val="45000"/>
            </a:srgbClr>
          </a:solidFill>
        </p:spPr>
      </p:sp>
      <p:sp>
        <p:nvSpPr>
          <p:cNvPr id="3" name="Shape 1"/>
          <p:cNvSpPr/>
          <p:nvPr/>
        </p:nvSpPr>
        <p:spPr>
          <a:xfrm>
            <a:off x="-2011680" y="4480560"/>
            <a:ext cx="4206240" cy="4206240"/>
          </a:xfrm>
          <a:prstGeom prst="ellipse">
            <a:avLst/>
          </a:prstGeom>
          <a:solidFill>
            <a:srgbClr val="F5890B">
              <a:alpha val="18000"/>
            </a:srgbClr>
          </a:solidFill>
        </p:spPr>
      </p:sp>
      <p:sp>
        <p:nvSpPr>
          <p:cNvPr id="4" name="Shape 2"/>
          <p:cNvSpPr/>
          <p:nvPr/>
        </p:nvSpPr>
        <p:spPr>
          <a:xfrm>
            <a:off x="548640" y="822960"/>
            <a:ext cx="640080" cy="640080"/>
          </a:xfrm>
          <a:prstGeom prst="ellipse">
            <a:avLst/>
          </a:prstGeom>
          <a:solidFill>
            <a:srgbClr val="F5890B"/>
          </a:solidFill>
        </p:spPr>
      </p:sp>
      <p:pic>
        <p:nvPicPr>
          <p:cNvPr id="5" name="Image 0" descr="/home/claude/kotlin_slides/icons/checkcircle.png"/>
          <p:cNvPicPr>
            <a:picLocks noChangeAspect="1"/>
          </p:cNvPicPr>
          <p:nvPr/>
        </p:nvPicPr>
        <p:blipFill>
          <a:blip r:embed="rId1"/>
          <a:stretch>
            <a:fillRect/>
          </a:stretch>
        </p:blipFill>
        <p:spPr>
          <a:xfrm>
            <a:off x="692658" y="966978"/>
            <a:ext cx="352044" cy="352044"/>
          </a:xfrm>
          <a:prstGeom prst="rect">
            <a:avLst/>
          </a:prstGeom>
        </p:spPr>
      </p:pic>
      <p:sp>
        <p:nvSpPr>
          <p:cNvPr id="6" name="Text 3"/>
          <p:cNvSpPr/>
          <p:nvPr/>
        </p:nvSpPr>
        <p:spPr>
          <a:xfrm>
            <a:off x="548640" y="2011680"/>
            <a:ext cx="10058400" cy="1005840"/>
          </a:xfrm>
          <a:prstGeom prst="rect">
            <a:avLst/>
          </a:prstGeom>
          <a:noFill/>
        </p:spPr>
        <p:txBody>
          <a:bodyPr wrap="square" lIns="0" tIns="0" rIns="0" bIns="0" rtlCol="0" anchor="ctr"/>
          <a:lstStyle/>
          <a:p>
            <a:pPr marL="0" indent="0">
              <a:buNone/>
            </a:pPr>
            <a:r>
              <a:rPr lang="en-US" sz="3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Cảm ơn! Hoàn thành 28 chủ đề Kotlin</a:t>
            </a:r>
            <a:endParaRPr lang="en-US" sz="3400" dirty="0"/>
          </a:p>
        </p:txBody>
      </p:sp>
      <p:sp>
        <p:nvSpPr>
          <p:cNvPr id="7" name="Text 4"/>
          <p:cNvSpPr/>
          <p:nvPr/>
        </p:nvSpPr>
        <p:spPr>
          <a:xfrm>
            <a:off x="548640" y="3017520"/>
            <a:ext cx="10058400" cy="594360"/>
          </a:xfrm>
          <a:prstGeom prst="rect">
            <a:avLst/>
          </a:prstGeom>
          <a:noFill/>
        </p:spPr>
        <p:txBody>
          <a:bodyPr wrap="square" lIns="0" tIns="0" rIns="0" bIns="0" rtlCol="0" anchor="ctr"/>
          <a:lstStyle/>
          <a:p>
            <a:pPr marL="0" indent="0">
              <a:lnSpc>
                <a:spcPct val="120000"/>
              </a:lnSpc>
              <a:buNone/>
            </a:pPr>
            <a:r>
              <a:rPr lang="en-US" sz="1400" dirty="0">
                <a:solidFill>
                  <a:srgbClr val="CADCFC"/>
                </a:solidFill>
                <a:latin typeface="Calibri" panose="020F0502020204030204" pitchFamily="34" charset="0"/>
                <a:ea typeface="Calibri" panose="020F0502020204030204" pitchFamily="34" charset="-122"/>
                <a:cs typeface="Calibri" panose="020F0502020204030204" pitchFamily="34" charset="-120"/>
              </a:rPr>
              <a:t>6 chủ đề nền tảng + 22 chủ đề nâng cao — đủ để tự tin đọc và viết phần lớn code Kotlin thực tế. </a:t>
            </a:r>
            <a:endParaRPr lang="en-US" sz="1400" dirty="0"/>
          </a:p>
        </p:txBody>
      </p:sp>
      <p:sp>
        <p:nvSpPr>
          <p:cNvPr id="8" name="Shape 5"/>
          <p:cNvSpPr/>
          <p:nvPr/>
        </p:nvSpPr>
        <p:spPr>
          <a:xfrm>
            <a:off x="548640" y="3977640"/>
            <a:ext cx="457200" cy="457200"/>
          </a:xfrm>
          <a:prstGeom prst="ellipse">
            <a:avLst/>
          </a:prstGeom>
          <a:solidFill>
            <a:srgbClr val="4A2F94"/>
          </a:solidFill>
        </p:spPr>
      </p:sp>
      <p:pic>
        <p:nvPicPr>
          <p:cNvPr id="9" name="Image 1" descr="/home/claude/kotlin_slides/icons/github.png"/>
          <p:cNvPicPr>
            <a:picLocks noChangeAspect="1"/>
          </p:cNvPicPr>
          <p:nvPr/>
        </p:nvPicPr>
        <p:blipFill>
          <a:blip r:embed="rId2"/>
          <a:stretch>
            <a:fillRect/>
          </a:stretch>
        </p:blipFill>
        <p:spPr>
          <a:xfrm>
            <a:off x="651510" y="4080510"/>
            <a:ext cx="251460" cy="251460"/>
          </a:xfrm>
          <a:prstGeom prst="rect">
            <a:avLst/>
          </a:prstGeom>
        </p:spPr>
      </p:pic>
      <p:sp>
        <p:nvSpPr>
          <p:cNvPr id="10" name="Text 6"/>
          <p:cNvSpPr/>
          <p:nvPr/>
        </p:nvSpPr>
        <p:spPr>
          <a:xfrm>
            <a:off x="1188720" y="3931920"/>
            <a:ext cx="8229600" cy="640080"/>
          </a:xfrm>
          <a:prstGeom prst="rect">
            <a:avLst/>
          </a:prstGeom>
          <a:noFill/>
        </p:spPr>
        <p:txBody>
          <a:bodyPr wrap="square" lIns="0" tIns="0" rIns="0" bIns="0"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github.com/ChienDev03/research_kotlin</a:t>
            </a:r>
            <a:endParaRPr lang="en-US" sz="1400" dirty="0"/>
          </a:p>
          <a:p>
            <a:pPr marL="0" indent="0">
              <a:buNone/>
            </a:pPr>
            <a:r>
              <a:rPr lang="en-US" sz="1150" dirty="0">
                <a:solidFill>
                  <a:srgbClr val="9C93C2"/>
                </a:solidFill>
                <a:latin typeface="Calibri" panose="020F0502020204030204" pitchFamily="34" charset="0"/>
                <a:ea typeface="Calibri" panose="020F0502020204030204" pitchFamily="34" charset="-122"/>
                <a:cs typeface="Calibri" panose="020F0502020204030204" pitchFamily="34" charset="-120"/>
              </a:rPr>
              <a:t>Nhánh dev · app/src/main/kotlin/com/example/hellokotlin</a:t>
            </a:r>
            <a:endParaRPr lang="en-US" sz="1400" dirty="0"/>
          </a:p>
        </p:txBody>
      </p:sp>
      <p:sp>
        <p:nvSpPr>
          <p:cNvPr id="14" name="Text 9"/>
          <p:cNvSpPr/>
          <p:nvPr/>
        </p:nvSpPr>
        <p:spPr>
          <a:xfrm>
            <a:off x="548640" y="6309360"/>
            <a:ext cx="7315200" cy="320040"/>
          </a:xfrm>
          <a:prstGeom prst="rect">
            <a:avLst/>
          </a:prstGeom>
          <a:noFill/>
        </p:spPr>
        <p:txBody>
          <a:bodyPr wrap="square" lIns="0" tIns="0" rIns="0" bIns="0" rtlCol="0" anchor="ctr"/>
          <a:lstStyle/>
          <a:p>
            <a:pPr marL="0" indent="0">
              <a:buNone/>
            </a:pPr>
            <a:r>
              <a:rPr lang="en-US" sz="1100" dirty="0">
                <a:solidFill>
                  <a:srgbClr val="9C93C2"/>
                </a:solidFill>
                <a:latin typeface="Calibri" panose="020F0502020204030204" pitchFamily="34" charset="0"/>
                <a:ea typeface="Calibri" panose="020F0502020204030204" pitchFamily="34" charset="-122"/>
                <a:cs typeface="Calibri" panose="020F0502020204030204" pitchFamily="34" charset="-120"/>
              </a:rPr>
              <a:t>CÔNG TY CÔNG NGHỆ PHẦN MỀM LUTECH</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28788</Words>
  <Application>WPS Presentation</Application>
  <PresentationFormat>On-screen Show (16:9)</PresentationFormat>
  <Paragraphs>1938</Paragraphs>
  <Slides>50</Slides>
  <Notes>52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50</vt:i4>
      </vt:variant>
    </vt:vector>
  </HeadingPairs>
  <TitlesOfParts>
    <vt:vector size="62" baseType="lpstr">
      <vt:lpstr>Arial</vt:lpstr>
      <vt:lpstr>SimSun</vt:lpstr>
      <vt:lpstr>Wingdings</vt:lpstr>
      <vt:lpstr>Calibri</vt:lpstr>
      <vt:lpstr>Calibri</vt:lpstr>
      <vt:lpstr>Calibri</vt:lpstr>
      <vt:lpstr>Courier New</vt:lpstr>
      <vt:lpstr>Courier New</vt:lpstr>
      <vt:lpstr>Courier New</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CONG TY TNHH CONG NGHE PHAN MEM LUTECH</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Kotlin Fundamentals - Full</dc:title>
  <dc:creator>Lutech</dc:creator>
  <dc:subject>PptxGenJS Presentation</dc:subject>
  <cp:lastModifiedBy>Chien Ho Xuan</cp:lastModifiedBy>
  <cp:revision>7</cp:revision>
  <dcterms:created xsi:type="dcterms:W3CDTF">2026-08-24T04:31:00Z</dcterms:created>
  <dcterms:modified xsi:type="dcterms:W3CDTF">2026-09-04T06:48:16Z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AA4FD224EF6A41C5ADEA2B8279276F38_13</vt:lpwstr>
  </property>
</Properties>
</file>